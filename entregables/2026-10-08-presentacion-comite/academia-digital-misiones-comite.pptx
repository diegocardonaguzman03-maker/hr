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de la sesión: informar al comité que el piloto de capacitación por misiones arranca el 12 de octubre, explicar cómo se cuidó la seguridad y lo laboral, y pedir tres apoyos concretos. Duración sugerida: 15 minutos más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comité solo recuerda una lámina, es esta. Qué: misiones cortas en dos riesgos críticos. Cómo: validación con veto de Seguridad, y reglas laborales claras. Qué pedimos: expertos de planta, respaldo a las reglas de no uso que llevaremos a la CMCAP y su opinión sobre la siguiente misión.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dato que más pesa: una de las dos fatalidades fue una caída de altura. Ambas involucraron autorizaciones vencidas o inexistentes. La otra fatalidad fue de equipo móvil, candidato para una siguiente misión. Aclarar que la plataforma no autoriza ni certifica: la autorización la da la planta y la evaluación de competencia la define Seguridad de planta.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de fondo: el primer módulo (horno de arco eléctrico) era para explorar, con 15 equipos y fichas de 9 pestañas. Ahora la persona completa una misión con un solo objetivo. El motor es reutilizable: una misión nueva es contenido, no programación.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vivo si hay tiempo: la escena 3D marca en verde lo que la persona ya identificó. En LOTO, la verificación de energía cero exige 5 acciones en orden, incluida confirmar que nadie está expuesto. Los documentos se descargan, pero dicen claramente que son de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para el comité: el veto de Seguridad no fue un trámite; se usó y detuvo la liberación de las dos misiones hasta corregir. Operaciones pidió precisar la prueba de arranque, porque una banda puede no arrancar por un interbloqueo y dar un falso «energía cero». El Director decidió (D-011-4) que el piloto sea solo con personal de confianza hasta el acuerdo de la CMCAP; Relaciones Laborales precisó que el nuevo ingreso en un puesto sindicalizable cuenta como sindicalizado.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reglas están en la plataforma, en los documentos y en el guion del instructor. Las reglas 3 y 4 son las que más le importan al sindicato; por eso el Director decidió que el piloto sea solo con personal de confianza hasta el acuerdo de la CMCAP (D-011-4). La regla 6 enseña la conducta esperada (LFT arts. 134 y 135). La política de facultad de detener el trabajo y la protección de quien la ejerce está pendiente de Seguridad y Jurídico Laboral; el material no promete que detenerse nunca se sanciona.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piloto no evalúa a las personas; evalúa la herramienta. La prueba de 10 segundos mide si alguien sin experiencia sabe por dónde empezar. Las metas son supuestos de diseño y se ajustan con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R4 es el riesgo que más depende del comité: sin expertos de planta, el material no puede dejar de ser DEMO. R6 y R7: el link actual es público; no se difunde fuera del piloto y la versión de operación debe vivir en la intranet o el LMS. R1 es también el criterio de paro del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condiciones para escalar: datos de planta validados, acuerdo de la CMCAP y una plataforma interna. Las misiones siguientes ya están en el mapa como «próximamente».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estas cuatro peticiones. Si el comité solo puede dar una, la prioridad es la 1: sin expertos de planta el material no puede dejar de ser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de respaldo para preguntas. Todas las decisiones están en el registro de decisiones del Director.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24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51392" y="0"/>
            <a:ext cx="54864" cy="685800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3200400"/>
            <a:ext cx="310896" cy="283464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12680" y="1920240"/>
            <a:ext cx="310896" cy="4114800"/>
          </a:xfrm>
          <a:prstGeom prst="roundRect">
            <a:avLst>
              <a:gd name="adj" fmla="val 50000"/>
            </a:avLst>
          </a:prstGeom>
          <a:solidFill>
            <a:srgbClr val="2C4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61320" y="3931920"/>
            <a:ext cx="310896" cy="2103120"/>
          </a:xfrm>
          <a:prstGeom prst="roundRect">
            <a:avLst>
              <a:gd name="adj" fmla="val 50000"/>
            </a:avLst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09960" y="1097279"/>
            <a:ext cx="310896" cy="4937760"/>
          </a:xfrm>
          <a:prstGeom prst="roundRect">
            <a:avLst>
              <a:gd name="adj" fmla="val 50000"/>
            </a:avLst>
          </a:prstGeom>
          <a:solidFill>
            <a:srgbClr val="2C4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58600" y="2743200"/>
            <a:ext cx="310896" cy="3291840"/>
          </a:xfrm>
          <a:prstGeom prst="roundRect">
            <a:avLst>
              <a:gd name="adj" fmla="val 50000"/>
            </a:avLst>
          </a:prstGeom>
          <a:solidFill>
            <a:srgbClr val="8F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188720"/>
            <a:ext cx="457200" cy="50292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3502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AAD4"/>
                </a:solidFill>
                <a:latin typeface="Segoe UI Semibold"/>
              </a:rPr>
              <a:t>GRUPO ACERO SIERRA 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9C7DE"/>
                </a:solidFill>
                <a:latin typeface="Segoe UI"/>
              </a:rPr>
              <a:t>Capacitación y Desarrollo · Academia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8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Capacitación por misiones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55264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2993D"/>
                </a:solidFill>
                <a:latin typeface="Segoe UI Semibold"/>
              </a:rPr>
              <a:t>Piloto: </a:t>
            </a:r>
            <a:r>
              <a:rPr sz="1700" b="0" i="0">
                <a:solidFill>
                  <a:srgbClr val="C9D5E8"/>
                </a:solidFill>
                <a:latin typeface="Segoe UI"/>
              </a:rPr>
              <a:t>Trabajo en Alturas y Bloqueo y Etiquetado (LOTO)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261104"/>
            <a:ext cx="5120640" cy="18288"/>
          </a:xfrm>
          <a:prstGeom prst="rect">
            <a:avLst/>
          </a:prstGeom>
          <a:solidFill>
            <a:srgbClr val="3A5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55371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93D"/>
                </a:solidFill>
                <a:latin typeface="Segoe UI Semibold"/>
              </a:rPr>
              <a:t>PARA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535424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Comité de Dirección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560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93D"/>
                </a:solidFill>
                <a:latin typeface="Segoe UI Semibold"/>
              </a:rPr>
              <a:t>PRESENTA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93776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Director Corporativo de Capacitación y Desarrollo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58384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2993D"/>
                </a:solidFill>
                <a:latin typeface="Segoe UI Semibold"/>
              </a:rPr>
              <a:t>FECHA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5340096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Octubre de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605332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2C4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044184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AAD4"/>
                </a:solidFill>
                <a:latin typeface="Segoe UI Semibold"/>
              </a:rPr>
              <a:t>MATERIAL DE PRÁCTICA · MODO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MENSAJE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Lanzamos el piloto de capacitación por misiones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Práctica (DEMO) en dos riesgos críticos, revisada por Seguridad, Operaciones y Relaciones Laborales para personal de confianza.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75104"/>
            <a:ext cx="3411626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658368" y="1975104"/>
            <a:ext cx="3411626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04288"/>
            <a:ext cx="28629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QUÉ HICIMOS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88336"/>
            <a:ext cx="28629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Pasamos de «explorar información» a «completar una misión»: un objetivo, 8 pasos y unos 10 minutos.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4215384"/>
            <a:ext cx="2826410" cy="12801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370832"/>
            <a:ext cx="286298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1F386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Misiones: Trabajo en Alturas y LOTO.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1F386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6 documentos de práctica descargables.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1F3864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Funciona en el navegador, sin instalar 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034" y="1975104"/>
            <a:ext cx="3411626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390034" y="1975104"/>
            <a:ext cx="3411626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2642" y="2304288"/>
            <a:ext cx="28629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5B"/>
                </a:solidFill>
                <a:latin typeface="Segoe UI Semibold"/>
              </a:rPr>
              <a:t>CÓMO LO CUIDAMOS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2642" y="2688336"/>
            <a:ext cx="28629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Seguridad tiene veto y lo ejerció: el material se liberó solo después de corregir los hallazgos que condicionaban la liberación.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2642" y="4215384"/>
            <a:ext cx="2826410" cy="12801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2642" y="4370832"/>
            <a:ext cx="286298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Es práctica DEMO, no procedimiento.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No certifica competencia ni emite DC-3.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No se usa para evaluar desempeño, escalafón ni sanciones.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1975104"/>
            <a:ext cx="3411626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121700" y="1975104"/>
            <a:ext cx="3411626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4308" y="2304288"/>
            <a:ext cx="28629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2993D"/>
                </a:solidFill>
                <a:latin typeface="Segoe UI Semibold"/>
              </a:rPr>
              <a:t>QUÉ PEDIMOS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4308" y="2688336"/>
            <a:ext cx="286298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Tres apoyos del comité para pasar de piloto a operación, sin presupuesto adicional hoy.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4308" y="4215384"/>
            <a:ext cx="2826410" cy="12801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4308" y="4370832"/>
            <a:ext cx="286298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Expertos de planta para validar datos.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Respaldo a las reglas de no uso ante la CMCAP.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Opinión sobre el siguiente riesgo crítico.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01 · POR 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Alturas y LOTO primero: son riesgos críticos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Hoy la competencia en tareas críticas se registra como asistencia; no se verifica.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48256"/>
            <a:ext cx="2478709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658368" y="2048256"/>
            <a:ext cx="2478709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247870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C0392B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45536"/>
            <a:ext cx="211294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fatalidades en 3 años: un contratista cayó de altura en laminación y un empleado fue atropellado por equipo móvil en mina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7117" y="2048256"/>
            <a:ext cx="2478709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457117" y="2048256"/>
            <a:ext cx="2478709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7117" y="2377440"/>
            <a:ext cx="247870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08A1E"/>
                </a:solidFill>
                <a:latin typeface="Segoe UI Semibold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997" y="3145536"/>
            <a:ext cx="211294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LTIFR: lesiones con tiempo perdido por millón de horas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2048256"/>
            <a:ext cx="2478709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255867" y="2048256"/>
            <a:ext cx="2478709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2377440"/>
            <a:ext cx="247870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F3864"/>
                </a:solidFill>
                <a:latin typeface="Segoe UI Semibold"/>
              </a:rPr>
              <a:t>8,500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3145536"/>
            <a:ext cx="211294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empleados directos, más ≈ 4,000 de contratistas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4617" y="2048256"/>
            <a:ext cx="2478709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9054617" y="2048256"/>
            <a:ext cx="2478709" cy="1097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4617" y="2377440"/>
            <a:ext cx="247870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4472C4"/>
                </a:solidFill>
                <a:latin typeface="Segoe UI Semibold"/>
              </a:rPr>
              <a:t>4×4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7497" y="3145536"/>
            <a:ext cx="211294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turnos de 12 h: la capacitación debe ser corta y modular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35424"/>
            <a:ext cx="10874959" cy="14630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35424"/>
            <a:ext cx="100584" cy="146304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718304"/>
            <a:ext cx="10143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93D"/>
                </a:solidFill>
                <a:latin typeface="Segoe UI Semibold"/>
              </a:rPr>
              <a:t>CÓMO LEERLO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010912"/>
            <a:ext cx="101434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340"/>
                </a:solidFill>
                <a:latin typeface="Segoe UI"/>
              </a:rPr>
              <a:t>Según el perfil de GASM, las dos fatalidades involucraron </a:t>
            </a:r>
            <a:r>
              <a:rPr sz="1350" b="1" i="0">
                <a:solidFill>
                  <a:srgbClr val="C0392B"/>
                </a:solidFill>
                <a:latin typeface="Segoe UI"/>
              </a:rPr>
              <a:t>autorizaciones vencidas o inexistentes</a:t>
            </a:r>
            <a:r>
              <a:rPr sz="1350" b="0" i="0">
                <a:solidFill>
                  <a:srgbClr val="2B3340"/>
                </a:solidFill>
                <a:latin typeface="Segoe UI"/>
              </a:rPr>
              <a:t>. La Academia no sustituye la evaluación de competencia ni la autorización que otorga la planta: </a:t>
            </a:r>
            <a:r>
              <a:rPr sz="1350" b="1" i="0">
                <a:solidFill>
                  <a:srgbClr val="2E7D5B"/>
                </a:solidFill>
                <a:latin typeface="Segoe UI"/>
              </a:rPr>
              <a:t>prepara mejor a la persona antes de llegar a ellas</a:t>
            </a:r>
            <a:r>
              <a:rPr sz="1350" b="0" i="0">
                <a:solidFill>
                  <a:srgbClr val="2B3340"/>
                </a:solidFill>
                <a:latin typeface="Segoe UI"/>
              </a:rPr>
              <a:t>, con práctica corta que cabe en un turno.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163056"/>
            <a:ext cx="108749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A94A3"/>
                </a:solidFill>
                <a:latin typeface="Segoe UI"/>
              </a:rPr>
              <a:t>Fuente: perfil de GASM (01-company-profile), últimos 3 años. Datos de planeación; Seguridad y Jurídico Laboral los confirman antes de circular la presentación.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02 ·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De explorar información a completar una misión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658368" y="1719072"/>
            <a:ext cx="2870164" cy="841248"/>
          </a:xfrm>
          <a:prstGeom prst="homePlate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25907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Muéstrame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40864"/>
            <a:ext cx="26181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demostración en 3D</a:t>
            </a:r>
          </a:p>
        </p:txBody>
      </p:sp>
      <p:sp>
        <p:nvSpPr>
          <p:cNvPr id="9" name="Chevron 8"/>
          <p:cNvSpPr/>
          <p:nvPr/>
        </p:nvSpPr>
        <p:spPr>
          <a:xfrm>
            <a:off x="3377107" y="1719072"/>
            <a:ext cx="2870164" cy="841248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6548" y="1938528"/>
            <a:ext cx="24575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Explícame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6548" y="2340864"/>
            <a:ext cx="24850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el porqué de cada paso</a:t>
            </a:r>
          </a:p>
        </p:txBody>
      </p:sp>
      <p:sp>
        <p:nvSpPr>
          <p:cNvPr id="12" name="Chevron 11"/>
          <p:cNvSpPr/>
          <p:nvPr/>
        </p:nvSpPr>
        <p:spPr>
          <a:xfrm>
            <a:off x="6095847" y="1719072"/>
            <a:ext cx="2870164" cy="841248"/>
          </a:xfrm>
          <a:prstGeom prst="chevron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5288" y="1938528"/>
            <a:ext cx="24575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Déjame intentar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288" y="2340864"/>
            <a:ext cx="24850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la persona decide</a:t>
            </a:r>
          </a:p>
        </p:txBody>
      </p:sp>
      <p:sp>
        <p:nvSpPr>
          <p:cNvPr id="15" name="Chevron 14"/>
          <p:cNvSpPr/>
          <p:nvPr/>
        </p:nvSpPr>
        <p:spPr>
          <a:xfrm>
            <a:off x="8814587" y="1719072"/>
            <a:ext cx="2870164" cy="841248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4028" y="1938528"/>
            <a:ext cx="24575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Revísame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4028" y="2340864"/>
            <a:ext cx="24850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retroalimentación inmediata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5292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CÓMO FUNCIONA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00400"/>
            <a:ext cx="5074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2B3340"/>
                </a:solidFill>
                <a:latin typeface="Segoe UI"/>
              </a:rPr>
              <a:t>Un objetivo por misión: </a:t>
            </a:r>
            <a:r>
              <a:rPr sz="1250" b="0" i="0">
                <a:solidFill>
                  <a:srgbClr val="2B3340"/>
                </a:solidFill>
                <a:latin typeface="Segoe UI"/>
              </a:rPr>
              <a:t>8 pasos y unos 10 minutos.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2B3340"/>
                </a:solidFill>
                <a:latin typeface="Segoe UI"/>
              </a:rPr>
              <a:t>En pantalla solo lo necesario: </a:t>
            </a:r>
            <a:r>
              <a:rPr sz="1250" b="0" i="0">
                <a:solidFill>
                  <a:srgbClr val="2B3340"/>
                </a:solidFill>
                <a:latin typeface="Segoe UI"/>
              </a:rPr>
              <a:t>misión, paso, escena y avance.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2B3340"/>
                </a:solidFill>
                <a:latin typeface="Segoe UI"/>
              </a:rPr>
              <a:t>8 tipos de interacción: </a:t>
            </a:r>
            <a:r>
              <a:rPr sz="1250" b="0" i="0">
                <a:solidFill>
                  <a:srgbClr val="2B3340"/>
                </a:solidFill>
                <a:latin typeface="Segoe UI"/>
              </a:rPr>
              <a:t>observar, identificar, confirmar, inspeccionar, elegir, ordenar, decidir y demostrar.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2B3340"/>
                </a:solidFill>
                <a:latin typeface="Segoe UI"/>
              </a:rPr>
              <a:t>Errores críticos señalados: </a:t>
            </a:r>
            <a:r>
              <a:rPr sz="1250" b="0" i="0">
                <a:solidFill>
                  <a:srgbClr val="2B3340"/>
                </a:solidFill>
                <a:latin typeface="Segoe UI"/>
              </a:rPr>
              <a:t>«en la planta no hay segundo intento».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2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2B3340"/>
                </a:solidFill>
                <a:latin typeface="Segoe UI"/>
              </a:rPr>
              <a:t>Sin gamificación infantil: </a:t>
            </a:r>
            <a:r>
              <a:rPr sz="1250" b="0" i="0">
                <a:solidFill>
                  <a:srgbClr val="2B3340"/>
                </a:solidFill>
                <a:latin typeface="Segoe UI"/>
              </a:rPr>
              <a:t>sin puntos, medallas ni rankings.</a:t>
            </a:r>
          </a:p>
        </p:txBody>
      </p:sp>
      <p:pic>
        <p:nvPicPr>
          <p:cNvPr id="20" name="Picture 19" descr="a-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007" y="2871216"/>
            <a:ext cx="4846320" cy="302895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687007" y="5973317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35E6E"/>
                </a:solidFill>
                <a:latin typeface="Segoe UI"/>
              </a:rPr>
              <a:t>Pantalla de inicio de la misión: un objetivo y un botón.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02 ·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Dos misiones de riesgo crítico, con sus documentos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-al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7" y="1719072"/>
            <a:ext cx="4389120" cy="274320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68247" y="457200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Segoe UI Semibold"/>
              </a:rPr>
              <a:t>TRABAJO EN ALTURAS · 01 PREPARACIÓN DE LA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47" y="4828031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Identificar todos los peligros, confirmar que la energía de la luminaria está aislada y poner tu candado, confirmar el rescate, inspeccionar el arnés, elegir un anclaje designado y verificar el espacio libre de caída.</a:t>
            </a:r>
          </a:p>
        </p:txBody>
      </p:sp>
      <p:pic>
        <p:nvPicPr>
          <p:cNvPr id="9" name="Picture 8" descr="f-l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327" y="1719072"/>
            <a:ext cx="4389120" cy="2743200"/>
          </a:xfrm>
          <a:prstGeom prst="rect">
            <a:avLst/>
          </a:prstGeom>
          <a:ln w="9525">
            <a:solidFill>
              <a:srgbClr val="DDE3E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734327" y="457200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Segoe UI Semibold"/>
              </a:rPr>
              <a:t>LOTO · 01 AISLAR UN EQUIPO PARA MANTENIMIENTO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327" y="4828031"/>
            <a:ext cx="4389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Identificar las energías de una banda, entender por qué un paro no es un aislamiento, poner candado y etiqueta, verificar energía cero y retirar solo tu candado.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577840"/>
            <a:ext cx="10874959" cy="713232"/>
          </a:xfrm>
          <a:prstGeom prst="roundRect">
            <a:avLst>
              <a:gd name="adj" fmla="val 12000"/>
            </a:avLst>
          </a:prstGeom>
          <a:solidFill>
            <a:srgbClr val="F3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577840"/>
            <a:ext cx="91440" cy="713232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5696712"/>
            <a:ext cx="10326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Menú de Procedimientos: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6 PDF de práctica (instrucción de trabajo, manual operativo y checklist de cada misión). Marcados DEMO, con marca de agua; todo dato de planta aparece como «pendiente de validación».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03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Nada se libera sin tres vistos buenos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Seguridad (con veto), Operativo/Metalurgia y Relaciones Laborales. Cada hallazgo se corrige y se vuelve a verificar.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658368" y="1901952"/>
            <a:ext cx="1960626" cy="822960"/>
          </a:xfrm>
          <a:prstGeom prst="homePlate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21408"/>
            <a:ext cx="16844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23744"/>
            <a:ext cx="17119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contenido general</a:t>
            </a:r>
          </a:p>
        </p:txBody>
      </p:sp>
      <p:sp>
        <p:nvSpPr>
          <p:cNvPr id="10" name="Chevron 9"/>
          <p:cNvSpPr/>
          <p:nvPr/>
        </p:nvSpPr>
        <p:spPr>
          <a:xfrm>
            <a:off x="2470861" y="1901952"/>
            <a:ext cx="1960626" cy="822960"/>
          </a:xfrm>
          <a:prstGeom prst="chevron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7010" y="2121408"/>
            <a:ext cx="1554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7010" y="2523744"/>
            <a:ext cx="1582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con veto</a:t>
            </a:r>
          </a:p>
        </p:txBody>
      </p:sp>
      <p:sp>
        <p:nvSpPr>
          <p:cNvPr id="13" name="Chevron 12"/>
          <p:cNvSpPr/>
          <p:nvPr/>
        </p:nvSpPr>
        <p:spPr>
          <a:xfrm>
            <a:off x="4283354" y="1901952"/>
            <a:ext cx="1960626" cy="822960"/>
          </a:xfrm>
          <a:prstGeom prst="chevron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503" y="2121408"/>
            <a:ext cx="1554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Operativo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503" y="2523744"/>
            <a:ext cx="1582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visto bueno técnico</a:t>
            </a:r>
          </a:p>
        </p:txBody>
      </p:sp>
      <p:sp>
        <p:nvSpPr>
          <p:cNvPr id="16" name="Chevron 15"/>
          <p:cNvSpPr/>
          <p:nvPr/>
        </p:nvSpPr>
        <p:spPr>
          <a:xfrm>
            <a:off x="6095847" y="1901952"/>
            <a:ext cx="1960626" cy="822960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1996" y="2121408"/>
            <a:ext cx="1554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Laboral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1996" y="2523744"/>
            <a:ext cx="1582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textos y datos</a:t>
            </a:r>
          </a:p>
        </p:txBody>
      </p:sp>
      <p:sp>
        <p:nvSpPr>
          <p:cNvPr id="19" name="Chevron 18"/>
          <p:cNvSpPr/>
          <p:nvPr/>
        </p:nvSpPr>
        <p:spPr>
          <a:xfrm>
            <a:off x="7908340" y="1901952"/>
            <a:ext cx="1960626" cy="822960"/>
          </a:xfrm>
          <a:prstGeom prst="chevron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4489" y="2121408"/>
            <a:ext cx="1554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4489" y="2523744"/>
            <a:ext cx="1582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calidad</a:t>
            </a:r>
          </a:p>
        </p:txBody>
      </p:sp>
      <p:sp>
        <p:nvSpPr>
          <p:cNvPr id="22" name="Chevron 21"/>
          <p:cNvSpPr/>
          <p:nvPr/>
        </p:nvSpPr>
        <p:spPr>
          <a:xfrm>
            <a:off x="9720834" y="1901952"/>
            <a:ext cx="1960626" cy="822960"/>
          </a:xfrm>
          <a:prstGeom prst="chevron">
            <a:avLst>
              <a:gd name="adj" fmla="val 1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6982" y="2121408"/>
            <a:ext cx="1554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6982" y="2523744"/>
            <a:ext cx="15820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2852928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94A3"/>
                </a:solidFill>
                <a:latin typeface="Segoe UI Semibold"/>
              </a:rPr>
              <a:t>ÁREA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2852928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94A3"/>
                </a:solidFill>
                <a:latin typeface="Segoe UI Semibold"/>
              </a:rPr>
              <a:t>DICTAMEN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7" y="2852928"/>
            <a:ext cx="53885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94A3"/>
                </a:solidFill>
                <a:latin typeface="Segoe UI Semibold"/>
              </a:rPr>
              <a:t>QUÉ SE CORRIGIÓ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127248"/>
            <a:ext cx="10874959" cy="749808"/>
          </a:xfrm>
          <a:prstGeom prst="rect">
            <a:avLst/>
          </a:prstGeom>
          <a:solidFill>
            <a:srgbClr val="F4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127248"/>
            <a:ext cx="21488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Seguridad (veto)</a:t>
            </a:r>
          </a:p>
        </p:txBody>
      </p:sp>
      <p:sp>
        <p:nvSpPr>
          <p:cNvPr id="30" name="Oval 29"/>
          <p:cNvSpPr/>
          <p:nvPr/>
        </p:nvSpPr>
        <p:spPr>
          <a:xfrm>
            <a:off x="3172968" y="3438144"/>
            <a:ext cx="128016" cy="12801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92424" y="3127248"/>
            <a:ext cx="2560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340"/>
                </a:solidFill>
                <a:latin typeface="Segoe UI"/>
              </a:rPr>
              <a:t>Veto levantado en las dos misiones · nada abierto que condicione el piloto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7" y="3127248"/>
            <a:ext cx="52971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Vetó las dos misiones. Alturas: 19 hallazgos y 2 de seguimiento (queda 1 mejora menor). LOTO y documentos: 14 y 5, todos cerrados: energía cero completa, retiro del candado, checklist solo de práctica.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922776"/>
            <a:ext cx="1087495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3922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Operativo / Metalurgia</a:t>
            </a:r>
          </a:p>
        </p:txBody>
      </p:sp>
      <p:sp>
        <p:nvSpPr>
          <p:cNvPr id="35" name="Oval 34"/>
          <p:cNvSpPr/>
          <p:nvPr/>
        </p:nvSpPr>
        <p:spPr>
          <a:xfrm>
            <a:off x="3172968" y="4142231"/>
            <a:ext cx="128016" cy="12801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2424" y="3922776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340"/>
                </a:solidFill>
                <a:latin typeface="Segoe UI"/>
              </a:rPr>
              <a:t>Visto bueno firme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7" y="3922776"/>
            <a:ext cx="529711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11 cambios (3 altos): prueba de arranque válida, energías de una banda real y restablecer el contrapeso antes de retirar el candado.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535424"/>
            <a:ext cx="10874959" cy="786384"/>
          </a:xfrm>
          <a:prstGeom prst="rect">
            <a:avLst/>
          </a:prstGeom>
          <a:solidFill>
            <a:srgbClr val="F4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535424"/>
            <a:ext cx="214883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Relaciones Laborales</a:t>
            </a:r>
          </a:p>
        </p:txBody>
      </p:sp>
      <p:sp>
        <p:nvSpPr>
          <p:cNvPr id="40" name="Oval 39"/>
          <p:cNvSpPr/>
          <p:nvPr/>
        </p:nvSpPr>
        <p:spPr>
          <a:xfrm>
            <a:off x="3172968" y="4864607"/>
            <a:ext cx="128016" cy="128016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92424" y="4535424"/>
            <a:ext cx="2560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340"/>
                </a:solidFill>
                <a:latin typeface="Segoe UI"/>
              </a:rPr>
              <a:t>Validado con cambios para personal de confianza · sindicalizados: pendiente CMCAP y Jurídico Laboral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7" y="4535424"/>
            <a:ext cx="529711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14 cambios: aviso de no uso, firmas de práctica sin nombre real, canal alterno a Seguridad Industrial, borrado completo de datos y nuevo ingreso sindicalizable fuera del piloto.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367528"/>
            <a:ext cx="1087495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5367528"/>
            <a:ext cx="21488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Calidad</a:t>
            </a:r>
          </a:p>
        </p:txBody>
      </p:sp>
      <p:sp>
        <p:nvSpPr>
          <p:cNvPr id="45" name="Oval 44"/>
          <p:cNvSpPr/>
          <p:nvPr/>
        </p:nvSpPr>
        <p:spPr>
          <a:xfrm>
            <a:off x="3172968" y="5513832"/>
            <a:ext cx="128016" cy="12801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2424" y="5367528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3340"/>
                </a:solidFill>
                <a:latin typeface="Segoe UI"/>
              </a:rPr>
              <a:t>En verde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7" y="5367528"/>
            <a:ext cx="529711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35E6E"/>
                </a:solidFill>
                <a:latin typeface="Segoe UI"/>
              </a:rPr>
              <a:t>228 pruebas unitarias y 17 de 17 en navegador, sin errores de consola.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03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Seis reglas que el material nunca rompe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9144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029967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20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029967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No inventa datos de planta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24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Límites, parámetros, interbloqueos y secuencias del equipo quedan como «pendiente de validación de planta», con su responsable.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755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1755648"/>
            <a:ext cx="91440" cy="20116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7402" y="2029967"/>
            <a:ext cx="420624" cy="42062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7402" y="2020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474" y="2029967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Práctica, no procedimiento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402" y="2624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Todo es DEMO, con aviso permanente. No sustituye procedimientos, permisos, supervisión ni requisitos de seguridad.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1755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1755648"/>
            <a:ext cx="91440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83828" y="2029967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3828" y="2020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9900" y="2029967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No certifica ni habilita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2624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No es constancia DC-3 ni examen de suficiencia o de escalafón. La autorización y la evaluación de competencia las otorga la planta (Seguridad).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41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41648"/>
            <a:ext cx="91440" cy="20116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" y="4315968"/>
            <a:ext cx="420624" cy="420624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306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315968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No evalúa a la persona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910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Ni la práctica ni el avance se usan para escalafón, ascensos, cambios de puesto o de categoría, evaluación de desempeño, sanciones ni bonos.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4794" y="4041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4794" y="4041648"/>
            <a:ext cx="91440" cy="20116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7402" y="4315968"/>
            <a:ext cx="420624" cy="42062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7402" y="4306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3474" y="4315968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Privacidad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402" y="4910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Sin nombre ni número de ficha. En esta fase, los datos se quedan en el equipo, se analizan solo por grupo y se borran con un botón.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1220" y="4041648"/>
            <a:ext cx="344210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1220" y="4041648"/>
            <a:ext cx="91440" cy="201168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83828" y="4315968"/>
            <a:ext cx="420624" cy="420624"/>
          </a:xfrm>
          <a:prstGeom prst="ellipse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3828" y="4306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9900" y="4315968"/>
            <a:ext cx="239054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Segoe UI Semibold"/>
              </a:rPr>
              <a:t>Detente y avisa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3828" y="4910328"/>
            <a:ext cx="293918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35E6E"/>
                </a:solidFill>
                <a:latin typeface="Segoe UI"/>
              </a:rPr>
              <a:t>Si algo no se cumple: avisa al supervisor. Si no atiende o pide continuar: a Seguridad Industrial.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04 ·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Piloto: 5 personas, 40 minutos, sin instrucciones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Del 12 al 16 de octubre [Supuesto] · solo personal de confianza · informe al Director el 19 de octubre.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4800600" cy="3401568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>
            <a:outerShdw blurRad="90000" dist="34000" dir="5400000" rotWithShape="0">
              <a:srgbClr val="1F386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38528"/>
            <a:ext cx="109728" cy="3401568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5798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93D"/>
                </a:solidFill>
                <a:latin typeface="Segoe UI Semibold"/>
              </a:rPr>
              <a:t>CÓMO SE CORRE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05456"/>
            <a:ext cx="41605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Sesión individual: el instructor observa sin explicar; un observador de Seguridad está en la sala.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Alturas 01 → LOTO 01 → buscar el checklist de LOTO → entrevista.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Sin el supervisor del participante; resultados por código, sin nombres.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Participación voluntaria y dentro de la jornada; se evalúa la herramienta, no a la persona.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Los datos se borran frente a la persona al terminar.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4EAF4"/>
                </a:solidFill>
                <a:latin typeface="Segoe UI"/>
              </a:rPr>
              <a:t>Costo adicional: MXN 0 [Supuesto]; sala, equipos y horas internas.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1938528"/>
            <a:ext cx="5708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93D"/>
                </a:solidFill>
                <a:latin typeface="Segoe UI Semibold"/>
              </a:rPr>
              <a:t>QUÉ MEDIMOS · META [SUPUESTO]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4728" y="2286000"/>
            <a:ext cx="5708599" cy="402336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286000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Empieza en 10 s o menos sin ayuda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3167" y="2286000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5 de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4728" y="2688336"/>
            <a:ext cx="570859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688336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Sabe en qué paso va y qué 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2688336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≥ 4 de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8" y="3090672"/>
            <a:ext cx="5708599" cy="402336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090672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Se recupera de un error y entiende por qué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3167" y="3090672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≥ 4 de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8" y="3493008"/>
            <a:ext cx="570859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493008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Encuentra y descarga el checklist de LOTO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3167" y="3493008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≥ 4 de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4728" y="3895344"/>
            <a:ext cx="5708599" cy="402336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3895344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Distingue práctica de procedimiento de planta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3167" y="3895344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5 de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24728" y="4297680"/>
            <a:ext cx="5708599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297680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Utilidad percibida (escala 1 a 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3167" y="4297680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≥ 4.2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24728" y="4700016"/>
            <a:ext cx="5708599" cy="402336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4700016"/>
            <a:ext cx="42455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Hallazgos de seguridad sin aclarar al cierre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3167" y="4700016"/>
            <a:ext cx="1143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F3864"/>
                </a:solidFill>
                <a:latin typeface="Segoe UI Semibold"/>
              </a:rP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41264"/>
            <a:ext cx="10874959" cy="658368"/>
          </a:xfrm>
          <a:prstGeom prst="roundRect">
            <a:avLst>
              <a:gd name="adj" fmla="val 12000"/>
            </a:avLst>
          </a:prstGeom>
          <a:solidFill>
            <a:srgbClr val="F7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541264"/>
            <a:ext cx="9144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5669279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8E2A1F"/>
                </a:solidFill>
                <a:latin typeface="Segoe UI Semibold"/>
              </a:rPr>
              <a:t>Criterio para detener el piloto: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el mismo hallazgo de seguridad en 2 participantes, o alguien que crea que la misión lo autoriza a hacer la tarea. Se avisa al Director el mismo día.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05 ·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Riesgos del piloto y cómo los mitigamos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Matriz de probabilidad × impacto. La esquina superior derecha pide atención prioritaria.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09928" y="1975104"/>
            <a:ext cx="1432560" cy="1188720"/>
          </a:xfrm>
          <a:prstGeom prst="rect">
            <a:avLst/>
          </a:prstGeom>
          <a:solidFill>
            <a:srgbClr val="FBEE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42488" y="1975104"/>
            <a:ext cx="1432560" cy="1188720"/>
          </a:xfrm>
          <a:prstGeom prst="rect">
            <a:avLst/>
          </a:prstGeom>
          <a:solidFill>
            <a:srgbClr val="F7E2D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5048" y="1975104"/>
            <a:ext cx="1432560" cy="1188720"/>
          </a:xfrm>
          <a:prstGeom prst="rect">
            <a:avLst/>
          </a:prstGeom>
          <a:solidFill>
            <a:srgbClr val="F7E2D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9928" y="3163824"/>
            <a:ext cx="1432560" cy="1188720"/>
          </a:xfrm>
          <a:prstGeom prst="rect">
            <a:avLst/>
          </a:prstGeom>
          <a:solidFill>
            <a:srgbClr val="E1F0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2488" y="3163824"/>
            <a:ext cx="1432560" cy="1188720"/>
          </a:xfrm>
          <a:prstGeom prst="rect">
            <a:avLst/>
          </a:prstGeom>
          <a:solidFill>
            <a:srgbClr val="FBEE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5048" y="3163824"/>
            <a:ext cx="1432560" cy="1188720"/>
          </a:xfrm>
          <a:prstGeom prst="rect">
            <a:avLst/>
          </a:prstGeom>
          <a:solidFill>
            <a:srgbClr val="F7E2D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09928" y="4352544"/>
            <a:ext cx="1432560" cy="1188720"/>
          </a:xfrm>
          <a:prstGeom prst="rect">
            <a:avLst/>
          </a:prstGeom>
          <a:solidFill>
            <a:srgbClr val="E1F0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42488" y="4352544"/>
            <a:ext cx="1432560" cy="1188720"/>
          </a:xfrm>
          <a:prstGeom prst="rect">
            <a:avLst/>
          </a:prstGeom>
          <a:solidFill>
            <a:srgbClr val="E1F0E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5048" y="4352544"/>
            <a:ext cx="1432560" cy="1188720"/>
          </a:xfrm>
          <a:prstGeom prst="rect">
            <a:avLst/>
          </a:prstGeom>
          <a:solidFill>
            <a:srgbClr val="FBEE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749807" y="1975104"/>
            <a:ext cx="822960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Segoe UI Semibold"/>
              </a:rPr>
              <a:t>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1975104"/>
            <a:ext cx="640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3163824"/>
            <a:ext cx="640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4352544"/>
            <a:ext cx="640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Bajo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58155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F3864"/>
                </a:solidFill>
                <a:latin typeface="Segoe UI Semibold"/>
              </a:rPr>
              <a:t>PROBABILIDAD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5577840"/>
            <a:ext cx="1432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Baja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2488" y="5577840"/>
            <a:ext cx="1432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048" y="5577840"/>
            <a:ext cx="1432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Alta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237744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66744" y="23682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R1</a:t>
            </a:r>
          </a:p>
        </p:txBody>
      </p:sp>
      <p:sp>
        <p:nvSpPr>
          <p:cNvPr id="26" name="Oval 25"/>
          <p:cNvSpPr/>
          <p:nvPr/>
        </p:nvSpPr>
        <p:spPr>
          <a:xfrm>
            <a:off x="2005584" y="237744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5584" y="23682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R2</a:t>
            </a:r>
          </a:p>
        </p:txBody>
      </p:sp>
      <p:sp>
        <p:nvSpPr>
          <p:cNvPr id="28" name="Oval 27"/>
          <p:cNvSpPr/>
          <p:nvPr/>
        </p:nvSpPr>
        <p:spPr>
          <a:xfrm>
            <a:off x="2462784" y="237744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2784" y="23682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R7</a:t>
            </a:r>
          </a:p>
        </p:txBody>
      </p:sp>
      <p:sp>
        <p:nvSpPr>
          <p:cNvPr id="30" name="Oval 29"/>
          <p:cNvSpPr/>
          <p:nvPr/>
        </p:nvSpPr>
        <p:spPr>
          <a:xfrm>
            <a:off x="3438144" y="356616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3557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R3</a:t>
            </a:r>
          </a:p>
        </p:txBody>
      </p:sp>
      <p:sp>
        <p:nvSpPr>
          <p:cNvPr id="32" name="Oval 31"/>
          <p:cNvSpPr/>
          <p:nvPr/>
        </p:nvSpPr>
        <p:spPr>
          <a:xfrm>
            <a:off x="3895344" y="356616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95344" y="3557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R6</a:t>
            </a:r>
          </a:p>
        </p:txBody>
      </p:sp>
      <p:sp>
        <p:nvSpPr>
          <p:cNvPr id="34" name="Oval 33"/>
          <p:cNvSpPr/>
          <p:nvPr/>
        </p:nvSpPr>
        <p:spPr>
          <a:xfrm>
            <a:off x="5099304" y="356616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9304" y="3557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R4</a:t>
            </a:r>
          </a:p>
        </p:txBody>
      </p:sp>
      <p:sp>
        <p:nvSpPr>
          <p:cNvPr id="36" name="Oval 35"/>
          <p:cNvSpPr/>
          <p:nvPr/>
        </p:nvSpPr>
        <p:spPr>
          <a:xfrm>
            <a:off x="3666744" y="4754880"/>
            <a:ext cx="384048" cy="384048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66744" y="47457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R5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1883664"/>
            <a:ext cx="5114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93D"/>
                </a:solidFill>
                <a:latin typeface="Segoe UI Semibold"/>
              </a:rPr>
              <a:t>RIESGO → MITIGACIÓN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223113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231136"/>
            <a:ext cx="4702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Confundir la práctica con un procedimiento o con una autorización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2578608"/>
            <a:ext cx="470275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Aviso DEMO, guion del instructor y criterio de paro.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2843784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2843784"/>
            <a:ext cx="47027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Entra personal sindicalizable sin acuerdo de la CMCAP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026664"/>
            <a:ext cx="470275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Filtro por puesto con visto bueno de Relaciones Laborales.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3291839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3291839"/>
            <a:ext cx="47027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Se percibe como evaluación o vigilancia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3474720"/>
            <a:ext cx="470275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Sin supervisor, sin nombres y con borrado frente a la persona.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739896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3739896"/>
            <a:ext cx="47027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Faltan datos de planta para escalar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3922775"/>
            <a:ext cx="470275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Taller con expertos de planta (petición 1).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4187952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187952"/>
            <a:ext cx="47027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Falla técnica el día de la sesión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370831"/>
            <a:ext cx="470275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Equipo de respaldo y prueba previa.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636008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636008"/>
            <a:ext cx="47027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Link de prueba público, no apto para operar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4818888"/>
            <a:ext cx="4702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No difundir el link fuera del piloto; publicar en intranet o LMS antes de escalar.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5239512"/>
            <a:ext cx="411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Segoe UI Semibold"/>
              </a:rPr>
              <a:t>R7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239512"/>
            <a:ext cx="4702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3340"/>
                </a:solidFill>
                <a:latin typeface="Segoe UI"/>
              </a:rPr>
              <a:t>Los PDF de práctica circulan fuera del piloto y se usan en planta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5586984"/>
            <a:ext cx="4702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35E6E"/>
                </a:solidFill>
                <a:latin typeface="Segoe UI"/>
              </a:rPr>
              <a:t>→ Marca DEMO, sin copias impresas; Seguridad recuerda que solo vale el formato aprobado.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06 ·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Del piloto a la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35E6E"/>
                </a:solidFill>
                <a:latin typeface="Segoe UI"/>
              </a:rPr>
              <a:t>Fechas posteriores al informe: [Supuesto], se confirman con las áreas.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00784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658368" y="1920240"/>
            <a:ext cx="1963917" cy="841248"/>
          </a:xfrm>
          <a:prstGeom prst="homePlate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39696"/>
            <a:ext cx="16844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42032"/>
            <a:ext cx="17119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12–16 oct</a:t>
            </a:r>
          </a:p>
        </p:txBody>
      </p:sp>
      <p:sp>
        <p:nvSpPr>
          <p:cNvPr id="10" name="Chevron 9"/>
          <p:cNvSpPr/>
          <p:nvPr/>
        </p:nvSpPr>
        <p:spPr>
          <a:xfrm>
            <a:off x="2470861" y="1920240"/>
            <a:ext cx="1963917" cy="841248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0301" y="2139696"/>
            <a:ext cx="15513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Informe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0301" y="2542032"/>
            <a:ext cx="15787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19 oct</a:t>
            </a:r>
          </a:p>
        </p:txBody>
      </p:sp>
      <p:sp>
        <p:nvSpPr>
          <p:cNvPr id="13" name="Chevron 12"/>
          <p:cNvSpPr/>
          <p:nvPr/>
        </p:nvSpPr>
        <p:spPr>
          <a:xfrm>
            <a:off x="4283354" y="1920240"/>
            <a:ext cx="1963917" cy="841248"/>
          </a:xfrm>
          <a:prstGeom prst="chevron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795" y="2139696"/>
            <a:ext cx="15513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Datos de planta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795" y="2542032"/>
            <a:ext cx="15787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taller con expertos</a:t>
            </a:r>
          </a:p>
        </p:txBody>
      </p:sp>
      <p:sp>
        <p:nvSpPr>
          <p:cNvPr id="16" name="Chevron 15"/>
          <p:cNvSpPr/>
          <p:nvPr/>
        </p:nvSpPr>
        <p:spPr>
          <a:xfrm>
            <a:off x="6095847" y="1920240"/>
            <a:ext cx="1963917" cy="841248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5288" y="2139696"/>
            <a:ext cx="15513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CMCAP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288" y="2542032"/>
            <a:ext cx="15787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personal sindicalizado</a:t>
            </a:r>
          </a:p>
        </p:txBody>
      </p:sp>
      <p:sp>
        <p:nvSpPr>
          <p:cNvPr id="19" name="Chevron 18"/>
          <p:cNvSpPr/>
          <p:nvPr/>
        </p:nvSpPr>
        <p:spPr>
          <a:xfrm>
            <a:off x="7908340" y="1920240"/>
            <a:ext cx="1963917" cy="841248"/>
          </a:xfrm>
          <a:prstGeom prst="chevron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7781" y="2139696"/>
            <a:ext cx="15513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Nuevas misiones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7781" y="2542032"/>
            <a:ext cx="15787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riesgos críticos</a:t>
            </a:r>
          </a:p>
        </p:txBody>
      </p:sp>
      <p:sp>
        <p:nvSpPr>
          <p:cNvPr id="22" name="Chevron 21"/>
          <p:cNvSpPr/>
          <p:nvPr/>
        </p:nvSpPr>
        <p:spPr>
          <a:xfrm>
            <a:off x="9720834" y="1920240"/>
            <a:ext cx="1963917" cy="841248"/>
          </a:xfrm>
          <a:prstGeom prst="chevron">
            <a:avLst>
              <a:gd name="adj" fmla="val 18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274" y="2139696"/>
            <a:ext cx="15513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Escalar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274" y="2542032"/>
            <a:ext cx="15787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C9D5E8"/>
                </a:solidFill>
                <a:latin typeface="Segoe UI"/>
              </a:rPr>
              <a:t>intranet o LMS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054096"/>
            <a:ext cx="3442106" cy="2971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658368" y="3054096"/>
            <a:ext cx="3442106" cy="4572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054096"/>
            <a:ext cx="298490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VALIDACIÓN DE PLANTA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712463"/>
            <a:ext cx="2939186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0392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Seguridad, Mantenimiento e Ingeniería de Proceso completan los datos pendientes.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0392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EAF: 215 datos; además los de Alturas y LOTO.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0392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El estado DEMO solo se quita con procedimiento aprobado.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4794" y="3054096"/>
            <a:ext cx="3442106" cy="2971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4374794" y="3054096"/>
            <a:ext cx="3442106" cy="4572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9114" y="3054096"/>
            <a:ext cx="298490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PERSONAL SINDICALIZADO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9114" y="3712463"/>
            <a:ext cx="2939186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E08A1E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Propuesta a la CMCAP con Relaciones Laborales y Jurídico Laboral.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E08A1E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Mientras tanto: solo personal de confianza (D-015).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E08A1E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Fecha: según el calendario de sesiones de la CMCAP.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1220" y="3054096"/>
            <a:ext cx="3442106" cy="2971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8091220" y="3054096"/>
            <a:ext cx="3442106" cy="4572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5540" y="3054096"/>
            <a:ext cx="298490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SIGUIENTES MISIONES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5540" y="3712463"/>
            <a:ext cx="2939186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Ya diseñadas en el mapa: Alturas 02 a 04 y LOTO 02 a 03.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Riesgos nuevos posibles: espacios confinados y equipo móvil.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2E7D5B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2B3340"/>
                </a:solidFill>
                <a:latin typeface="Segoe UI"/>
              </a:rPr>
              <a:t>El motor es reutilizable: una misión nueva es contenido.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LO QUE PEDIMOS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Tres apoyos y un espacio en la próxima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7495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91440" cy="100584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01168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847088"/>
            <a:ext cx="6309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Segoe UI Semibold"/>
              </a:rPr>
              <a:t>Expertos de planta para validar los datos pendientes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157984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35E6E"/>
                </a:solidFill>
                <a:latin typeface="Segoe UI"/>
              </a:rPr>
              <a:t>Que Seguridad, Mantenimiento e Ingeniería de Proceso asignen especialistas al taller de validación.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0728" y="1901952"/>
            <a:ext cx="12801" cy="67665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37360"/>
            <a:ext cx="3056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B3340"/>
                </a:solidFill>
                <a:latin typeface="Segoe UI"/>
              </a:rPr>
              <a:t>Horas de expertos: ≈ MXN 60–80 mil para el EAF [Supuesto]; Alturas y LOTO por estimar.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25496"/>
            <a:ext cx="1087495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825496"/>
            <a:ext cx="91440" cy="100584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309981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90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2935224"/>
            <a:ext cx="6309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Segoe UI Semibold"/>
              </a:rPr>
              <a:t>Respaldo a las reglas de no uso como compromiso de la empresa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24612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35E6E"/>
                </a:solidFill>
                <a:latin typeface="Segoe UI"/>
              </a:rPr>
              <a:t>La propuesta irá a la CMCAP por decisión del Director (D-011-4). Pedimos que las direcciones respalden las reglas 3, 4 y 5 para que la representación de la empresa en la CMCAP pueda sostenerlas ante el sindicato.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0728" y="2990088"/>
            <a:ext cx="12801" cy="67665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2825496"/>
            <a:ext cx="3056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B3340"/>
                </a:solidFill>
                <a:latin typeface="Segoe UI"/>
              </a:rPr>
              <a:t>Sin costo adicional. Fecha: según el calendario de la CMCAP.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13632"/>
            <a:ext cx="1087495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13632"/>
            <a:ext cx="91440" cy="100584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418795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1788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4023360"/>
            <a:ext cx="6309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Segoe UI Semibold"/>
              </a:rPr>
              <a:t>Su opinión sobre el siguiente riesgo crítico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433425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35E6E"/>
                </a:solidFill>
                <a:latin typeface="Segoe UI"/>
              </a:rPr>
              <a:t>Continuar Alturas o LOTO, o abrir espacios confinados o equipo móvil. El Director decide con el informe del piloto.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4078224"/>
            <a:ext cx="12801" cy="67665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913632"/>
            <a:ext cx="3056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B3340"/>
                </a:solidFill>
                <a:latin typeface="Segoe UI"/>
              </a:rPr>
              <a:t>Sin costo hoy.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01768"/>
            <a:ext cx="1087495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blurRad="90000" dist="34000" dir="5400000" rotWithShape="0">
              <a:srgbClr val="1F3864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001768"/>
            <a:ext cx="91440" cy="1005840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2688" y="527608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266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111496"/>
            <a:ext cx="6309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Segoe UI Semibold"/>
              </a:rPr>
              <a:t>Espacio en la próxima sesión del comité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42239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35E6E"/>
                </a:solidFill>
                <a:latin typeface="Segoe UI"/>
              </a:rPr>
              <a:t>Para presentar los resultados del piloto y la recomendación de escalamiento.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0728" y="5166360"/>
            <a:ext cx="12801" cy="67665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5001768"/>
            <a:ext cx="3056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B3340"/>
                </a:solidFill>
                <a:latin typeface="Segoe UI"/>
              </a:rPr>
              <a:t>Informe listo el 19 de octubre [Supuesto].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08990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No pedimos presupuesto adicional hoy: </a:t>
            </a:r>
            <a:r>
              <a:rPr sz="1200" b="0" i="0">
                <a:solidFill>
                  <a:srgbClr val="2B3340"/>
                </a:solidFill>
                <a:latin typeface="Segoe UI"/>
              </a:rPr>
              <a:t>el piloto usa sala, equipos y horas internas de Capacitación y Desarrollo.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12064"/>
            <a:ext cx="146304" cy="310896"/>
          </a:xfrm>
          <a:prstGeom prst="rect">
            <a:avLst/>
          </a:prstGeom>
          <a:solidFill>
            <a:srgbClr val="C29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93776"/>
            <a:ext cx="10600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2993D"/>
                </a:solidFill>
                <a:latin typeface="Segoe UI Semibold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3864"/>
                </a:solidFill>
                <a:latin typeface="Segoe UI Semibold"/>
              </a:rPr>
              <a:t>Decisiones del Director y dónde consultar el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2011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10874959" cy="475488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D-011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719072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35E6E"/>
                </a:solidFill>
                <a:latin typeface="Segoe UI"/>
              </a:rPr>
              <a:t>5 oct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1719072"/>
            <a:ext cx="86803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Piloto controlado del módulo EAF; asistente de IA oculto; sindicalizados solo con acuerdo de la CMCAP y validación de Jurídico Laboral.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94560"/>
            <a:ext cx="1087495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D-012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194560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35E6E"/>
                </a:solidFill>
                <a:latin typeface="Segoe UI"/>
              </a:rPr>
              <a:t>5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194560"/>
            <a:ext cx="86803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Rediseño a experiencia de misiones; Misión 01 Trabajo en Alturas.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70048"/>
            <a:ext cx="10874959" cy="475488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670048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D-013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2670048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35E6E"/>
                </a:solidFill>
                <a:latin typeface="Segoe UI"/>
              </a:rPr>
              <a:t>6 oct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670048"/>
            <a:ext cx="86803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Versión 2: más fluida, Misión LOTO y menú de Procedimientos, como DEMO y con condiciones.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145536"/>
            <a:ext cx="10874959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145536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D-014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45536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35E6E"/>
                </a:solidFill>
                <a:latin typeface="Segoe UI"/>
              </a:rPr>
              <a:t>6 oct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3145536"/>
            <a:ext cx="86803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Aplicar los cambios de Operaciones y Relaciones Laborales; verificación de Seguridad cerrada.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621024"/>
            <a:ext cx="10874959" cy="475488"/>
          </a:xfrm>
          <a:prstGeom prst="rect">
            <a:avLst/>
          </a:prstGeom>
          <a:solidFill>
            <a:srgbClr val="F4F7FC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621024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Segoe UI Semibold"/>
              </a:rPr>
              <a:t>D-015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" y="3621024"/>
            <a:ext cx="822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35E6E"/>
                </a:solidFill>
                <a:latin typeface="Segoe UI"/>
              </a:rPr>
              <a:t>7 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621024"/>
            <a:ext cx="86803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B3340"/>
                </a:solidFill>
                <a:latin typeface="Segoe UI"/>
              </a:rPr>
              <a:t>Lanzar el piloto de misiones con 5 personas de confianza.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708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93D"/>
                </a:solidFill>
                <a:latin typeface="Segoe UI Semibold"/>
              </a:rPr>
              <a:t>DÓNDE CONSULTAR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700016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B3340"/>
                </a:solidFill>
                <a:latin typeface="Segoe UI"/>
              </a:rPr>
              <a:t>Demo (versión 2.1): </a:t>
            </a:r>
            <a:r>
              <a:rPr sz="1050" b="0" i="0">
                <a:solidFill>
                  <a:srgbClr val="2B3340"/>
                </a:solidFill>
                <a:latin typeface="Segoe UI"/>
              </a:rPr>
              <a:t>link de prueba; se comparte a solicitud con Capacitación y Desarrollo.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B3340"/>
                </a:solidFill>
                <a:latin typeface="Segoe UI"/>
              </a:rPr>
              <a:t>Kit del piloto: </a:t>
            </a:r>
            <a:r>
              <a:rPr sz="1050" b="0" i="0">
                <a:solidFill>
                  <a:srgbClr val="2B3340"/>
                </a:solidFill>
                <a:latin typeface="Segoe UI"/>
              </a:rPr>
              <a:t>guía del instructor, hoja de observación y metas, con Capacitación y Desarrollo.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C2993D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2B3340"/>
                </a:solidFill>
                <a:latin typeface="Segoe UI"/>
              </a:rPr>
              <a:t>Dictámenes de Seguridad, Operativo y Relaciones Laborales: </a:t>
            </a:r>
            <a:r>
              <a:rPr sz="1050" b="0" i="0">
                <a:solidFill>
                  <a:srgbClr val="2B3340"/>
                </a:solidFill>
                <a:latin typeface="Segoe UI"/>
              </a:rPr>
              <a:t>a solicitud con Capacitación y Desarrollo.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8749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535E6E"/>
                </a:solidFill>
                <a:latin typeface="Segoe UI"/>
              </a:rPr>
              <a:t>Este entorno de capacitación apoya el aprendizaje y no sustituye procedimientos operativos aprobados, instrucciones de trabajo, permisos, supervisión ni requisitos de seguridad.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419088"/>
            <a:ext cx="10874959" cy="1463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49224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4A3"/>
                </a:solidFill>
                <a:latin typeface="Segoe UI"/>
              </a:rPr>
              <a:t>GASM · Capacitación y Desarrollo   ·   Academia Digital — Comité de Dirección · octubre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7327" y="649224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8A94A3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