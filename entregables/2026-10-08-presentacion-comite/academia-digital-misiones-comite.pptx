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de la sesión: informar al comité que el piloto de capacitación por misiones arranca el 12 de octubre, explicar cómo se cuidó la seguridad y lo laboral, y pedir tres apoyos concretos. Duración sugerida: 15 minutos más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el comité solo recuerda una lámina, es esta. Qué: misiones cortas en dos riesgos críticos. Cómo: validación con veto de Seguridad, y reglas laborales claras. Qué pedimos: expertos de planta, mandato para la CMCAP y su opinión sobre la siguiente misión.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dato que más pesa: una de las dos fatalidades fue una caída de altura. Ambas involucraron autorizaciones vencidas o inexistentes. Aclarar que la plataforma no autoriza ni certifica: la autorización la da la planta y la competencia la evalúa un evaluador en piso.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cambio de fondo: el primer módulo (horno de arco eléctrico) era para explorar, con 15 equipos y fichas de 9 pestañas. Ahora la persona completa una misión con un solo objetivo. El motor es reutilizable: una misión nueva es contenido, no programación.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en vivo si hay tiempo: la escena 3D marca en verde lo que la persona ya identificó. En LOTO, la verificación de energía cero exige 5 acciones en orden, incluida confirmar que nadie está expuesto. Los documentos se descargan, pero dicen claramente que son de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Mensaje para el comité: el veto de Seguridad no fue un trámite; se usó y detuvo la liberación de LOTO hasta corregir. Operaciones pidió precisar la prueba de arranque, porque una banda puede no arrancar por un interbloqueo y dar un falso «energía cero». Relaciones Laborales limitó el piloto a personal de confianza.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Estas reglas están en la plataforma, en los documentos y en el guion del instructor. Las reglas 3 y 4 son las que más le importan al sindicato; por eso el piloto es solo con personal de confianza hasta tener el acuerdo de la CMCAP.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piloto no evalúa a las personas; evalúa la herramienta. La prueba de 10 segundos mide si alguien sin experiencia sabe por dónde empezar. Las metas son supuestos de diseño y se ajustan con los resultados.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R4 es el riesgo que más depende del comité: sin expertos de planta, el material no puede dejar de ser DEMO. R6: el link actual sirve para el piloto, pero la versión de operación debe vivir en la intranet o el LMS.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Tres condiciones para escalar: datos de planta validados, acuerdo con la CMCAP y una plataforma interna. Las misiones siguientes ya están en el mapa como «próximamente».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Cerrar con estas cuatro peticiones. Si el comité solo puede dar una, la prioridad es la 1: sin expertos de planta el material no puede dejar de ser práctica.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Lámina de respaldo para preguntas. Todas las decisiones están en el registro de decisiones del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8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2440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851392" y="0"/>
            <a:ext cx="54864" cy="685800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464040" y="3200400"/>
            <a:ext cx="310896" cy="2834640"/>
          </a:xfrm>
          <a:prstGeom prst="roundRect">
            <a:avLst>
              <a:gd name="adj" fmla="val 5000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012680" y="1920240"/>
            <a:ext cx="310896" cy="4114800"/>
          </a:xfrm>
          <a:prstGeom prst="roundRect">
            <a:avLst>
              <a:gd name="adj" fmla="val 50000"/>
            </a:avLst>
          </a:prstGeom>
          <a:solidFill>
            <a:srgbClr val="2C4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561320" y="3931920"/>
            <a:ext cx="310896" cy="2103120"/>
          </a:xfrm>
          <a:prstGeom prst="roundRect">
            <a:avLst>
              <a:gd name="adj" fmla="val 50000"/>
            </a:avLst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09960" y="1097279"/>
            <a:ext cx="310896" cy="4937760"/>
          </a:xfrm>
          <a:prstGeom prst="roundRect">
            <a:avLst>
              <a:gd name="adj" fmla="val 50000"/>
            </a:avLst>
          </a:prstGeom>
          <a:solidFill>
            <a:srgbClr val="2C4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658600" y="2743200"/>
            <a:ext cx="310896" cy="3291840"/>
          </a:xfrm>
          <a:prstGeom prst="roundRect">
            <a:avLst>
              <a:gd name="adj" fmla="val 50000"/>
            </a:avLst>
          </a:prstGeom>
          <a:solidFill>
            <a:srgbClr val="8FA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1188720"/>
            <a:ext cx="457200" cy="50292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335024"/>
            <a:ext cx="7863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8FAAD4"/>
                </a:solidFill>
                <a:latin typeface="Segoe UI Semibold"/>
              </a:rPr>
              <a:t>GRUPO ACERO SIERRA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627632"/>
            <a:ext cx="7863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B9C7DE"/>
                </a:solidFill>
                <a:latin typeface="Segoe UI"/>
              </a:rPr>
              <a:t>Capacitación y Desarrollo · Academia Digital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395728"/>
            <a:ext cx="7955279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FFFFFF"/>
                </a:solidFill>
                <a:latin typeface="Segoe UI Semibold"/>
              </a:rPr>
              <a:t>Capacitación por misiones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3255264"/>
            <a:ext cx="795527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 i="0">
                <a:solidFill>
                  <a:srgbClr val="C2993D"/>
                </a:solidFill>
                <a:latin typeface="Segoe UI Semibold"/>
              </a:rPr>
              <a:t>Piloto: </a:t>
            </a:r>
            <a:r>
              <a:rPr sz="1700" b="0" i="0">
                <a:solidFill>
                  <a:srgbClr val="C9D5E8"/>
                </a:solidFill>
                <a:latin typeface="Segoe UI"/>
              </a:rPr>
              <a:t>Trabajo en Alturas y Bloqueo y Etiquetado (LOTO)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261104"/>
            <a:ext cx="5120640" cy="18288"/>
          </a:xfrm>
          <a:prstGeom prst="rect">
            <a:avLst/>
          </a:prstGeom>
          <a:solidFill>
            <a:srgbClr val="3A57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45537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2993D"/>
                </a:solidFill>
                <a:latin typeface="Segoe UI Semibold"/>
              </a:rPr>
              <a:t>PARA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87168" y="4535424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Comité de Dirección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9560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2993D"/>
                </a:solidFill>
                <a:latin typeface="Segoe UI Semibold"/>
              </a:rPr>
              <a:t>PRESENTA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87168" y="493776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Director Corporativo de Capacitación y Desarrollo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35838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C2993D"/>
                </a:solidFill>
                <a:latin typeface="Segoe UI Semibold"/>
              </a:rPr>
              <a:t>FECHA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87168" y="5340096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FFFFFF"/>
                </a:solidFill>
                <a:latin typeface="Segoe UI"/>
              </a:rPr>
              <a:t>Octubre de 2026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6053328"/>
            <a:ext cx="2926080" cy="329184"/>
          </a:xfrm>
          <a:prstGeom prst="roundRect">
            <a:avLst>
              <a:gd name="adj" fmla="val 50000"/>
            </a:avLst>
          </a:prstGeom>
          <a:solidFill>
            <a:srgbClr val="2C4C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6044184"/>
            <a:ext cx="29260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1" i="0">
                <a:solidFill>
                  <a:srgbClr val="8FAAD4"/>
                </a:solidFill>
                <a:latin typeface="Segoe UI Semibold"/>
              </a:rPr>
              <a:t>MATERIAL DE PRÁCTICA · MODO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MENSAJE CLAVE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Lanzamos el piloto de capacitación por misiones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Dos riesgos críticos, validados por Seguridad, Operaciones y Relaciones Laborales, sin datos de planta inventados.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75104"/>
            <a:ext cx="3411626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658368" y="1975104"/>
            <a:ext cx="3411626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304288"/>
            <a:ext cx="28629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QUÉ HICIMOS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688336"/>
            <a:ext cx="28629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Pasamos de «explorar información» a «completar una misión»: un objetivo, 8 pasos y unos 10 minutos.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0976" y="4215384"/>
            <a:ext cx="2826410" cy="12801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4370832"/>
            <a:ext cx="286298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1F386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Misiones: Trabajo en Alturas y LOTO.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1F386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6 documentos de práctica descargables.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1F3864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Funciona en el navegador, sin instalar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90034" y="1975104"/>
            <a:ext cx="3411626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 Same Side Corner Rectangle 13"/>
          <p:cNvSpPr/>
          <p:nvPr/>
        </p:nvSpPr>
        <p:spPr>
          <a:xfrm>
            <a:off x="4390034" y="1975104"/>
            <a:ext cx="3411626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82642" y="2304288"/>
            <a:ext cx="28629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E7D5B"/>
                </a:solidFill>
                <a:latin typeface="Segoe UI Semibold"/>
              </a:rPr>
              <a:t>CÓMO LO CUIDAMOS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2642" y="2688336"/>
            <a:ext cx="28629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Seguridad tiene veto y lo ejerció: el material se liberó solo después de corregir todos sus hallazgos.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82642" y="4215384"/>
            <a:ext cx="2826410" cy="12801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2642" y="4370832"/>
            <a:ext cx="286298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Es práctica DEMO, no procedimiento.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No certifica competencia ni emite DC-3.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No se usa para evaluar a nadie.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1700" y="1975104"/>
            <a:ext cx="3411626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1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8121700" y="1975104"/>
            <a:ext cx="3411626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4308" y="2304288"/>
            <a:ext cx="286298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C2993D"/>
                </a:solidFill>
                <a:latin typeface="Segoe UI Semibold"/>
              </a:rPr>
              <a:t>QUÉ PEDIMOS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4308" y="2688336"/>
            <a:ext cx="2862986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Tres apoyos del comité para pasar de piloto a operación, sin presupuesto adicional hoy.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414308" y="4215384"/>
            <a:ext cx="2826410" cy="12801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4308" y="4370832"/>
            <a:ext cx="2862986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Expertos de planta para validar datos.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Mandato para ir a la CMCAP.</a:t>
            </a:r>
          </a:p>
          <a:p>
            <a:pPr>
              <a:lnSpc>
                <a:spcPct val="106000"/>
              </a:lnSpc>
              <a:spcAft>
                <a:spcPts val="7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Opinión sobre el siguiente riesgo crítico.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01 · POR QUÉ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Alturas y LOTO primero: son riesgos críticos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Hoy la competencia en tareas críticas se registra como asistencia; no se verifica.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2048256"/>
            <a:ext cx="247870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 Same Side Corner Rectangle 7"/>
          <p:cNvSpPr/>
          <p:nvPr/>
        </p:nvSpPr>
        <p:spPr>
          <a:xfrm>
            <a:off x="658368" y="2048256"/>
            <a:ext cx="2478709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377440"/>
            <a:ext cx="247870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C0392B"/>
                </a:solidFill>
                <a:latin typeface="Segoe UI Semibold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3182112"/>
            <a:ext cx="207637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fatalidades en 3 años; una por caída de altura en laminación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7117" y="2048256"/>
            <a:ext cx="247870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3457117" y="2048256"/>
            <a:ext cx="2478709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57117" y="2377440"/>
            <a:ext cx="247870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E08A1E"/>
                </a:solidFill>
                <a:latin typeface="Segoe UI Semibold"/>
              </a:rPr>
              <a:t>3.2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8285" y="3182112"/>
            <a:ext cx="207637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LTIFR: lesiones con tiempo perdido por millón de horas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55867" y="2048256"/>
            <a:ext cx="247870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6255867" y="2048256"/>
            <a:ext cx="2478709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55867" y="2377440"/>
            <a:ext cx="247870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1F3864"/>
                </a:solidFill>
                <a:latin typeface="Segoe UI Semibold"/>
              </a:rPr>
              <a:t>8,500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7035" y="3182112"/>
            <a:ext cx="207637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empleados directos, más ≈ 4,000 de contratistas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4617" y="2048256"/>
            <a:ext cx="2478709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13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9054617" y="2048256"/>
            <a:ext cx="2478709" cy="109728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54617" y="2377440"/>
            <a:ext cx="247870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4400" b="1" i="0">
                <a:solidFill>
                  <a:srgbClr val="4472C4"/>
                </a:solidFill>
                <a:latin typeface="Segoe UI Semibold"/>
              </a:rPr>
              <a:t>4×4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55785" y="3182112"/>
            <a:ext cx="2076373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turnos de 12 h: la capacitación debe ser corta y modular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8368" y="4288536"/>
            <a:ext cx="10874959" cy="155448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58368" y="4288536"/>
            <a:ext cx="100584" cy="155448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" y="4489704"/>
            <a:ext cx="101434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93D"/>
                </a:solidFill>
                <a:latin typeface="Segoe UI Semibold"/>
              </a:rPr>
              <a:t>CÓMO LEERLO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" y="4800600"/>
            <a:ext cx="10143439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 i="0">
                <a:solidFill>
                  <a:srgbClr val="2B3340"/>
                </a:solidFill>
                <a:latin typeface="Segoe UI"/>
              </a:rPr>
              <a:t>Las dos fatalidades involucraron </a:t>
            </a:r>
            <a:r>
              <a:rPr sz="1350" b="1" i="0">
                <a:solidFill>
                  <a:srgbClr val="C0392B"/>
                </a:solidFill>
                <a:latin typeface="Segoe UI"/>
              </a:rPr>
              <a:t>autorizaciones vencidas o inexistentes</a:t>
            </a:r>
            <a:r>
              <a:rPr sz="1350" b="0" i="0">
                <a:solidFill>
                  <a:srgbClr val="2B3340"/>
                </a:solidFill>
                <a:latin typeface="Segoe UI"/>
              </a:rPr>
              <a:t>. La Academia no sustituye la certificación en piso ni la autorización de la planta: </a:t>
            </a:r>
            <a:r>
              <a:rPr sz="1350" b="1" i="0">
                <a:solidFill>
                  <a:srgbClr val="2E7D5B"/>
                </a:solidFill>
                <a:latin typeface="Segoe UI"/>
              </a:rPr>
              <a:t>prepara mejor a la persona antes de llegar a ellas</a:t>
            </a:r>
            <a:r>
              <a:rPr sz="1350" b="0" i="0">
                <a:solidFill>
                  <a:srgbClr val="2B3340"/>
                </a:solidFill>
                <a:latin typeface="Segoe UI"/>
              </a:rPr>
              <a:t>, con práctica corta que cabe en un turno.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6163056"/>
            <a:ext cx="1087495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8A94A3"/>
                </a:solidFill>
                <a:latin typeface="Segoe UI"/>
              </a:rPr>
              <a:t>Fuente: perfil de GASM (01-company-profile), últimos 3 años. Datos de planeación; Seguridad los confirma con sus registros.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02 ·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De explorar información a completar una misión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Pentagon 5"/>
          <p:cNvSpPr/>
          <p:nvPr/>
        </p:nvSpPr>
        <p:spPr>
          <a:xfrm>
            <a:off x="658368" y="1719072"/>
            <a:ext cx="2870164" cy="841248"/>
          </a:xfrm>
          <a:prstGeom prst="homePlate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25907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Muéstrame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340864"/>
            <a:ext cx="2618155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demostración en 3D</a:t>
            </a:r>
          </a:p>
        </p:txBody>
      </p:sp>
      <p:sp>
        <p:nvSpPr>
          <p:cNvPr id="9" name="Chevron 8"/>
          <p:cNvSpPr/>
          <p:nvPr/>
        </p:nvSpPr>
        <p:spPr>
          <a:xfrm>
            <a:off x="3377107" y="1719072"/>
            <a:ext cx="2870164" cy="841248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6548" y="1938528"/>
            <a:ext cx="24575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Explícame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6548" y="2340864"/>
            <a:ext cx="24850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el porqué de cada paso</a:t>
            </a:r>
          </a:p>
        </p:txBody>
      </p:sp>
      <p:sp>
        <p:nvSpPr>
          <p:cNvPr id="12" name="Chevron 11"/>
          <p:cNvSpPr/>
          <p:nvPr/>
        </p:nvSpPr>
        <p:spPr>
          <a:xfrm>
            <a:off x="6095847" y="1719072"/>
            <a:ext cx="2870164" cy="841248"/>
          </a:xfrm>
          <a:prstGeom prst="chevron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75288" y="1938528"/>
            <a:ext cx="24575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Déjame intentar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75288" y="2340864"/>
            <a:ext cx="24850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la persona decide</a:t>
            </a:r>
          </a:p>
        </p:txBody>
      </p:sp>
      <p:sp>
        <p:nvSpPr>
          <p:cNvPr id="15" name="Chevron 14"/>
          <p:cNvSpPr/>
          <p:nvPr/>
        </p:nvSpPr>
        <p:spPr>
          <a:xfrm>
            <a:off x="8814587" y="1719072"/>
            <a:ext cx="2870164" cy="841248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4028" y="1938528"/>
            <a:ext cx="24575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1" i="0">
                <a:solidFill>
                  <a:srgbClr val="FFFFFF"/>
                </a:solidFill>
                <a:latin typeface="Segoe UI Semibold"/>
              </a:rPr>
              <a:t>Revísame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4028" y="2340864"/>
            <a:ext cx="248501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retroalimentación inmediata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2852928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CÓMO FUNCIONA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3200400"/>
            <a:ext cx="50749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2B3340"/>
                </a:solidFill>
                <a:latin typeface="Segoe UI"/>
              </a:rPr>
              <a:t>Un objetivo por misión: </a:t>
            </a:r>
            <a:r>
              <a:rPr sz="1250" b="0" i="0">
                <a:solidFill>
                  <a:srgbClr val="2B3340"/>
                </a:solidFill>
                <a:latin typeface="Segoe UI"/>
              </a:rPr>
              <a:t>8 pasos y unos 10 minutos.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2B3340"/>
                </a:solidFill>
                <a:latin typeface="Segoe UI"/>
              </a:rPr>
              <a:t>En pantalla solo lo necesario: </a:t>
            </a:r>
            <a:r>
              <a:rPr sz="1250" b="0" i="0">
                <a:solidFill>
                  <a:srgbClr val="2B3340"/>
                </a:solidFill>
                <a:latin typeface="Segoe UI"/>
              </a:rPr>
              <a:t>misión, paso, escena y avance.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2B3340"/>
                </a:solidFill>
                <a:latin typeface="Segoe UI"/>
              </a:rPr>
              <a:t>8 tipos de interacción: </a:t>
            </a:r>
            <a:r>
              <a:rPr sz="1250" b="0" i="0">
                <a:solidFill>
                  <a:srgbClr val="2B3340"/>
                </a:solidFill>
                <a:latin typeface="Segoe UI"/>
              </a:rPr>
              <a:t>observar, identificar, confirmar, inspeccionar, elegir, ordenar, decidir y demostrar.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2B3340"/>
                </a:solidFill>
                <a:latin typeface="Segoe UI"/>
              </a:rPr>
              <a:t>Errores críticos señalados: </a:t>
            </a:r>
            <a:r>
              <a:rPr sz="1250" b="0" i="0">
                <a:solidFill>
                  <a:srgbClr val="2B3340"/>
                </a:solidFill>
                <a:latin typeface="Segoe UI"/>
              </a:rPr>
              <a:t>«en la planta no hay segundo intento».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2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250" b="1" i="0">
                <a:solidFill>
                  <a:srgbClr val="2B3340"/>
                </a:solidFill>
                <a:latin typeface="Segoe UI"/>
              </a:rPr>
              <a:t>Sin gamificación infantil: </a:t>
            </a:r>
            <a:r>
              <a:rPr sz="1250" b="0" i="0">
                <a:solidFill>
                  <a:srgbClr val="2B3340"/>
                </a:solidFill>
                <a:latin typeface="Segoe UI"/>
              </a:rPr>
              <a:t>sin puntos, medallas ni rankings.</a:t>
            </a:r>
          </a:p>
        </p:txBody>
      </p:sp>
      <p:pic>
        <p:nvPicPr>
          <p:cNvPr id="20" name="Picture 19" descr="a-ini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007" y="2871216"/>
            <a:ext cx="4846320" cy="302895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6687007" y="5973317"/>
            <a:ext cx="48463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35E6E"/>
                </a:solidFill>
                <a:latin typeface="Segoe UI"/>
              </a:rPr>
              <a:t>Pantalla de inicio de la misión: un objetivo y un botón.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02 · 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Dos misiones de riesgo crítico, con sus documentos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-altu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247" y="1719072"/>
            <a:ext cx="4389120" cy="27432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1068247" y="457200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TRABAJO EN ALTURAS · 01 PREPARACIÓN DE LA TAREA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8247" y="4828031"/>
            <a:ext cx="4389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Identificar todos los peligros, aislar la energía de la luminaria, confirmar el rescate, inspeccionar el arnés, elegir un anclaje designado y verificar el espacio libre de caída.</a:t>
            </a:r>
          </a:p>
        </p:txBody>
      </p:sp>
      <p:pic>
        <p:nvPicPr>
          <p:cNvPr id="9" name="Picture 8" descr="f-lot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327" y="1719072"/>
            <a:ext cx="4389120" cy="2743200"/>
          </a:xfrm>
          <a:prstGeom prst="rect">
            <a:avLst/>
          </a:prstGeom>
          <a:ln w="9525">
            <a:solidFill>
              <a:srgbClr val="DDE3EC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734327" y="4572000"/>
            <a:ext cx="4389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LOTO · 01 AISLAR UN EQUIPO PARA MANTENIMIENTO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34327" y="4828031"/>
            <a:ext cx="438912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Identificar las energías de una banda, entender por qué un paro no es un aislamiento, poner candado y etiqueta, verificar energía cero y retirar solo tu candado.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577840"/>
            <a:ext cx="10874959" cy="713232"/>
          </a:xfrm>
          <a:prstGeom prst="roundRect">
            <a:avLst>
              <a:gd name="adj" fmla="val 12000"/>
            </a:avLst>
          </a:prstGeom>
          <a:solidFill>
            <a:srgbClr val="F3EA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577840"/>
            <a:ext cx="91440" cy="713232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7" y="5696712"/>
            <a:ext cx="1032631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Menú de Procedimientos: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6 PDF de práctica (instrucción de trabajo, manual operativo y checklist de cada misión). Marcados DEMO, con marca de agua; todo dato de planta aparece como «pendiente de validación».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Nada se libera sin tres vistos buenos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Seguridad (con veto), Operativo/Metalurgia y Relaciones Laborales. Cada hallazgo se corrige y se vuelve a verificar.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658368" y="1920240"/>
            <a:ext cx="1954042" cy="786384"/>
          </a:xfrm>
          <a:prstGeom prst="homePlate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16844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Diseño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2032"/>
            <a:ext cx="17119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contenido general</a:t>
            </a:r>
          </a:p>
        </p:txBody>
      </p:sp>
      <p:sp>
        <p:nvSpPr>
          <p:cNvPr id="10" name="Chevron 9"/>
          <p:cNvSpPr/>
          <p:nvPr/>
        </p:nvSpPr>
        <p:spPr>
          <a:xfrm>
            <a:off x="2470861" y="1920240"/>
            <a:ext cx="1954042" cy="786384"/>
          </a:xfrm>
          <a:prstGeom prst="chevron">
            <a:avLst>
              <a:gd name="adj" fmla="val 18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0426" y="2139696"/>
            <a:ext cx="156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Seguridad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0426" y="2542032"/>
            <a:ext cx="15886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con veto</a:t>
            </a:r>
          </a:p>
        </p:txBody>
      </p:sp>
      <p:sp>
        <p:nvSpPr>
          <p:cNvPr id="13" name="Chevron 12"/>
          <p:cNvSpPr/>
          <p:nvPr/>
        </p:nvSpPr>
        <p:spPr>
          <a:xfrm>
            <a:off x="4283354" y="1920240"/>
            <a:ext cx="1954042" cy="786384"/>
          </a:xfrm>
          <a:prstGeom prst="chevron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2919" y="2139696"/>
            <a:ext cx="156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Operativo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2919" y="2542032"/>
            <a:ext cx="15886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visto bueno técnico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5847" y="1920240"/>
            <a:ext cx="1954042" cy="786384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65412" y="2139696"/>
            <a:ext cx="156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Laboral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5412" y="2542032"/>
            <a:ext cx="15886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textos y datos</a:t>
            </a:r>
          </a:p>
        </p:txBody>
      </p:sp>
      <p:sp>
        <p:nvSpPr>
          <p:cNvPr id="19" name="Chevron 18"/>
          <p:cNvSpPr/>
          <p:nvPr/>
        </p:nvSpPr>
        <p:spPr>
          <a:xfrm>
            <a:off x="7908340" y="1920240"/>
            <a:ext cx="1954042" cy="786384"/>
          </a:xfrm>
          <a:prstGeom prst="chevron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7905" y="2139696"/>
            <a:ext cx="156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Pruebas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7905" y="2542032"/>
            <a:ext cx="15886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calidad</a:t>
            </a:r>
          </a:p>
        </p:txBody>
      </p:sp>
      <p:sp>
        <p:nvSpPr>
          <p:cNvPr id="22" name="Chevron 21"/>
          <p:cNvSpPr/>
          <p:nvPr/>
        </p:nvSpPr>
        <p:spPr>
          <a:xfrm>
            <a:off x="9720834" y="1920240"/>
            <a:ext cx="1954042" cy="786384"/>
          </a:xfrm>
          <a:prstGeom prst="chevron">
            <a:avLst>
              <a:gd name="adj" fmla="val 1800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0399" y="2139696"/>
            <a:ext cx="156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Director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0399" y="2542032"/>
            <a:ext cx="158864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decide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7" y="2825496"/>
            <a:ext cx="2331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94A3"/>
                </a:solidFill>
                <a:latin typeface="Segoe UI Semibold"/>
              </a:rPr>
              <a:t>ÁREA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2968" y="2825496"/>
            <a:ext cx="28803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94A3"/>
                </a:solidFill>
                <a:latin typeface="Segoe UI Semibold"/>
              </a:rPr>
              <a:t>DICTAMEN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3327" y="2825496"/>
            <a:ext cx="538855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8A94A3"/>
                </a:solidFill>
                <a:latin typeface="Segoe UI Semibold"/>
              </a:rPr>
              <a:t>QUÉ SE CORRIGIÓ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3118103"/>
            <a:ext cx="10874959" cy="676656"/>
          </a:xfrm>
          <a:prstGeom prst="rect">
            <a:avLst/>
          </a:prstGeom>
          <a:solidFill>
            <a:srgbClr val="F4F7FC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" y="3118103"/>
            <a:ext cx="21488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Seguridad (veto)</a:t>
            </a:r>
          </a:p>
        </p:txBody>
      </p:sp>
      <p:sp>
        <p:nvSpPr>
          <p:cNvPr id="30" name="Oval 29"/>
          <p:cNvSpPr/>
          <p:nvPr/>
        </p:nvSpPr>
        <p:spPr>
          <a:xfrm>
            <a:off x="3172968" y="3392424"/>
            <a:ext cx="128016" cy="128016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92424" y="3118103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3340"/>
                </a:solidFill>
                <a:latin typeface="Segoe UI"/>
              </a:rPr>
              <a:t>Veto levantado · sin hallazgos abiertos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53327" y="3118103"/>
            <a:ext cx="529711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Vetó la misión LOTO y sus documentos. Se corrigieron 14 hallazgos y 5 de seguimiento: verificación de energía cero completa, retiro del candado, checklist solo de práctica.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8368" y="3849624"/>
            <a:ext cx="1087495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7" y="3849624"/>
            <a:ext cx="21488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Operativo / Metalurgia</a:t>
            </a:r>
          </a:p>
        </p:txBody>
      </p:sp>
      <p:sp>
        <p:nvSpPr>
          <p:cNvPr id="35" name="Oval 34"/>
          <p:cNvSpPr/>
          <p:nvPr/>
        </p:nvSpPr>
        <p:spPr>
          <a:xfrm>
            <a:off x="3172968" y="4123944"/>
            <a:ext cx="128016" cy="128016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392424" y="3849624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3340"/>
                </a:solidFill>
                <a:latin typeface="Segoe UI"/>
              </a:rPr>
              <a:t>Visto bueno firme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7" y="3849624"/>
            <a:ext cx="529711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11 cambios (3 altos): prueba de arranque válida, energías de una banda real y restablecer el contrapeso antes de retirar el candado.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8368" y="4581144"/>
            <a:ext cx="10874959" cy="676656"/>
          </a:xfrm>
          <a:prstGeom prst="rect">
            <a:avLst/>
          </a:prstGeom>
          <a:solidFill>
            <a:srgbClr val="F4F7FC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7" y="4581144"/>
            <a:ext cx="21488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Relaciones Laborales</a:t>
            </a:r>
          </a:p>
        </p:txBody>
      </p:sp>
      <p:sp>
        <p:nvSpPr>
          <p:cNvPr id="40" name="Oval 39"/>
          <p:cNvSpPr/>
          <p:nvPr/>
        </p:nvSpPr>
        <p:spPr>
          <a:xfrm>
            <a:off x="3172968" y="4855464"/>
            <a:ext cx="128016" cy="128016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92424" y="4581144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3340"/>
                </a:solidFill>
                <a:latin typeface="Segoe UI"/>
              </a:rPr>
              <a:t>Validado · solo personal de confianza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53327" y="4581144"/>
            <a:ext cx="529711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14 cambios: aviso de no uso, firmas de práctica sin nombre real, canal alterno a Seguridad Industrial y borrado completo de datos.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8368" y="5312664"/>
            <a:ext cx="10874959" cy="676656"/>
          </a:xfrm>
          <a:prstGeom prst="rect">
            <a:avLst/>
          </a:prstGeom>
          <a:solidFill>
            <a:srgbClr val="FFFFFF"/>
          </a:solidFill>
          <a:ln w="9525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7" y="5312664"/>
            <a:ext cx="214883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Calidad</a:t>
            </a:r>
          </a:p>
        </p:txBody>
      </p:sp>
      <p:sp>
        <p:nvSpPr>
          <p:cNvPr id="45" name="Oval 44"/>
          <p:cNvSpPr/>
          <p:nvPr/>
        </p:nvSpPr>
        <p:spPr>
          <a:xfrm>
            <a:off x="3172968" y="5586984"/>
            <a:ext cx="128016" cy="128016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392424" y="5312664"/>
            <a:ext cx="2560320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B3340"/>
                </a:solidFill>
                <a:latin typeface="Segoe UI"/>
              </a:rPr>
              <a:t>En verde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53327" y="5312664"/>
            <a:ext cx="5297119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228 pruebas unitarias y 17 de 17 en navegador, sin errores de consola.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03 · VALIDACIÓN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Seis reglas que el material nunca rompe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55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55648"/>
            <a:ext cx="91440" cy="20116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50976" y="2029967"/>
            <a:ext cx="420624" cy="420624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0976" y="2020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7048" y="2029967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No inventa datos de planta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624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Límites, parámetros, interbloqueos y secuencias del equipo quedan como «pendiente de validación de planta», con su responsable.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4794" y="1755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1755648"/>
            <a:ext cx="91440" cy="2011680"/>
          </a:xfrm>
          <a:prstGeom prst="rect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67402" y="2029967"/>
            <a:ext cx="420624" cy="420624"/>
          </a:xfrm>
          <a:prstGeom prst="ellipse">
            <a:avLst/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7402" y="2020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3474" y="2029967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Práctica, no procedimiento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7402" y="2624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Todo es DEMO, con aviso permanente. No sustituye procedimientos, permisos, supervisión ni requisitos de seguridad.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1220" y="1755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1220" y="1755648"/>
            <a:ext cx="91440" cy="201168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383828" y="2029967"/>
            <a:ext cx="420624" cy="420624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3828" y="2020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59900" y="2029967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No certifica ni habilita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3828" y="2624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No es constancia DC-3 ni examen de suficiencia. La competencia la evalúa un evaluador autorizado en piso.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58368" y="4041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041648"/>
            <a:ext cx="91440" cy="2011680"/>
          </a:xfrm>
          <a:prstGeom prst="rect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50976" y="4315968"/>
            <a:ext cx="420624" cy="420624"/>
          </a:xfrm>
          <a:prstGeom prst="ellipse">
            <a:avLst/>
          </a:prstGeom>
          <a:solidFill>
            <a:srgbClr val="4472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7048" y="4315968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No evalúa a la persona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" y="4910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No se usa para escalafón, ascensos, cambios de puesto o de categoría, desempeño, sanciones ni bonos.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4794" y="4041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74794" y="4041648"/>
            <a:ext cx="91440" cy="201168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667402" y="4315968"/>
            <a:ext cx="420624" cy="420624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7402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43474" y="4315968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Privacidad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7402" y="4910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Sin nombre ni número de ficha. Los datos se quedan en el equipo y se borran con un botón.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91220" y="4041648"/>
            <a:ext cx="3442106" cy="2011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91220" y="4041648"/>
            <a:ext cx="91440" cy="201168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83828" y="4315968"/>
            <a:ext cx="420624" cy="420624"/>
          </a:xfrm>
          <a:prstGeom prst="ellipse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83828" y="4306824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959900" y="4315968"/>
            <a:ext cx="239054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 i="0">
                <a:solidFill>
                  <a:srgbClr val="1F3864"/>
                </a:solidFill>
                <a:latin typeface="Segoe UI Semibold"/>
              </a:rPr>
              <a:t>Detente y avisa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83828" y="4910328"/>
            <a:ext cx="2939186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535E6E"/>
                </a:solidFill>
                <a:latin typeface="Segoe UI"/>
              </a:rPr>
              <a:t>Si algo no se cumple: avisa al supervisor. Si no atiende o pide continuar: a Seguridad Industrial.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04 · PILOTO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Piloto: 5 personas, 40 minutos, sin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Del 12 al 16 de octubre [Supuesto] · solo personal de confianza · informe al Director el 19 de octubre.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8368" y="1938528"/>
            <a:ext cx="4800600" cy="3401568"/>
          </a:xfrm>
          <a:prstGeom prst="roundRect">
            <a:avLst>
              <a:gd name="adj" fmla="val 4000"/>
            </a:avLst>
          </a:prstGeom>
          <a:solidFill>
            <a:srgbClr val="1F3864"/>
          </a:solidFill>
          <a:ln>
            <a:noFill/>
          </a:ln>
          <a:effectLst>
            <a:outerShdw blurRad="90000" dist="34000" dir="5400000" rotWithShape="0">
              <a:srgbClr val="1F3864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8368" y="1938528"/>
            <a:ext cx="109728" cy="3401568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157984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93D"/>
                </a:solidFill>
                <a:latin typeface="Segoe UI Semibold"/>
              </a:rPr>
              <a:t>CÓMO SE CORRE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505456"/>
            <a:ext cx="4160520" cy="2670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E4EAF4"/>
                </a:solidFill>
                <a:latin typeface="Segoe UI"/>
              </a:rPr>
              <a:t>Sesión individual: el instructor observa sin explicar; un observador de Seguridad está en la sala.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E4EAF4"/>
                </a:solidFill>
                <a:latin typeface="Segoe UI"/>
              </a:rPr>
              <a:t>Alturas 01 → LOTO 01 → buscar el checklist de LOTO → entrevista.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E4EAF4"/>
                </a:solidFill>
                <a:latin typeface="Segoe UI"/>
              </a:rPr>
              <a:t>Sin el supervisor del participante; resultados por código, sin nombres.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E4EAF4"/>
                </a:solidFill>
                <a:latin typeface="Segoe UI"/>
              </a:rPr>
              <a:t>Los datos se borran frente a la persona al terminar.</a:t>
            </a:r>
          </a:p>
          <a:p>
            <a:pPr>
              <a:lnSpc>
                <a:spcPct val="108000"/>
              </a:lnSpc>
              <a:spcAft>
                <a:spcPts val="800"/>
              </a:spcAft>
            </a:pPr>
            <a:r>
              <a:rPr sz="11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E4EAF4"/>
                </a:solidFill>
                <a:latin typeface="Segoe UI"/>
              </a:rPr>
              <a:t>Costo adicional: MXN 0 [Supuesto]; sala, equipos y horas internas.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24728" y="1938528"/>
            <a:ext cx="57085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93D"/>
                </a:solidFill>
                <a:latin typeface="Segoe UI Semibold"/>
              </a:rPr>
              <a:t>QUÉ MEDIMOS · META [SUPUESTO]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24728" y="2286000"/>
            <a:ext cx="5708599" cy="402336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2286000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Empieza en 10 s o menos sin ayuda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53167" y="2286000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5 de 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824728" y="2688336"/>
            <a:ext cx="570859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89320" y="2688336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Sabe en qué paso va y qué hacer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53167" y="2688336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≥ 4 de 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24728" y="3090672"/>
            <a:ext cx="5708599" cy="402336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89320" y="3090672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Se recupera de un error y entiende por qué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53167" y="3090672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≥ 4 de 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24728" y="3493008"/>
            <a:ext cx="570859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3493008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Encuentra y descarga el checklist de LOTO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53167" y="3493008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≥ 4 de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24728" y="3895344"/>
            <a:ext cx="5708599" cy="402336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3895344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Distingue práctica de procedimiento de planta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53167" y="3895344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5 de 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24728" y="4297680"/>
            <a:ext cx="5708599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89320" y="4297680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Utilidad percibida (escala 1 a 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53167" y="4297680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≥ 4.2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24728" y="4700016"/>
            <a:ext cx="5708599" cy="402336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89320" y="4700016"/>
            <a:ext cx="4245559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Hallazgos de seguridad sin aclarar al cierre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53167" y="4700016"/>
            <a:ext cx="114300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50" b="1" i="0">
                <a:solidFill>
                  <a:srgbClr val="1F3864"/>
                </a:solidFill>
                <a:latin typeface="Segoe UI Semibold"/>
              </a:rPr>
              <a:t>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541264"/>
            <a:ext cx="10874959" cy="658368"/>
          </a:xfrm>
          <a:prstGeom prst="roundRect">
            <a:avLst>
              <a:gd name="adj" fmla="val 12000"/>
            </a:avLst>
          </a:prstGeom>
          <a:solidFill>
            <a:srgbClr val="F7E2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8368" y="5541264"/>
            <a:ext cx="91440" cy="6583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8407" y="5669279"/>
            <a:ext cx="1032631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8E2A1F"/>
                </a:solidFill>
                <a:latin typeface="Segoe UI Semibold"/>
              </a:rPr>
              <a:t>Criterio para detener el piloto: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el mismo hallazgo de seguridad en 2 participantes, o alguien que crea que la misión lo autoriza a hacer la tarea. Se avisa al Director el mismo día.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05 · RIESGOS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Riesgos del piloto y cómo los mitigamos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Matriz de probabilidad × impacto. La esquina superior derecha pide atención prioritaria.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709928" y="1975104"/>
            <a:ext cx="1706879" cy="1219200"/>
          </a:xfrm>
          <a:prstGeom prst="rect">
            <a:avLst/>
          </a:prstGeom>
          <a:solidFill>
            <a:srgbClr val="FBEE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16807" y="1975104"/>
            <a:ext cx="1706879" cy="1219200"/>
          </a:xfrm>
          <a:prstGeom prst="rect">
            <a:avLst/>
          </a:prstGeom>
          <a:solidFill>
            <a:srgbClr val="F7E2D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3687" y="1975104"/>
            <a:ext cx="1706879" cy="1219200"/>
          </a:xfrm>
          <a:prstGeom prst="rect">
            <a:avLst/>
          </a:prstGeom>
          <a:solidFill>
            <a:srgbClr val="F7E2D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09928" y="3194304"/>
            <a:ext cx="1706879" cy="1219200"/>
          </a:xfrm>
          <a:prstGeom prst="rect">
            <a:avLst/>
          </a:prstGeom>
          <a:solidFill>
            <a:srgbClr val="E1F0E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6807" y="3194304"/>
            <a:ext cx="1706879" cy="1219200"/>
          </a:xfrm>
          <a:prstGeom prst="rect">
            <a:avLst/>
          </a:prstGeom>
          <a:solidFill>
            <a:srgbClr val="FBEE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3687" y="3194304"/>
            <a:ext cx="1706879" cy="1219200"/>
          </a:xfrm>
          <a:prstGeom prst="rect">
            <a:avLst/>
          </a:prstGeom>
          <a:solidFill>
            <a:srgbClr val="F7E2D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709928" y="4413504"/>
            <a:ext cx="1706879" cy="1219200"/>
          </a:xfrm>
          <a:prstGeom prst="rect">
            <a:avLst/>
          </a:prstGeom>
          <a:solidFill>
            <a:srgbClr val="E1F0E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16807" y="4413504"/>
            <a:ext cx="1706879" cy="1219200"/>
          </a:xfrm>
          <a:prstGeom prst="rect">
            <a:avLst/>
          </a:prstGeom>
          <a:solidFill>
            <a:srgbClr val="E1F0E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3687" y="4413504"/>
            <a:ext cx="1706879" cy="1219200"/>
          </a:xfrm>
          <a:prstGeom prst="rect">
            <a:avLst/>
          </a:prstGeom>
          <a:solidFill>
            <a:srgbClr val="FBEED9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 rot="16200000">
            <a:off x="749807" y="1975104"/>
            <a:ext cx="822960" cy="3657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IMPACTO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7" y="1975104"/>
            <a:ext cx="640080" cy="1219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Alto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7" y="3194304"/>
            <a:ext cx="640080" cy="1219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Medio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7" y="4413504"/>
            <a:ext cx="640080" cy="1219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Bajo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5907024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PROBABILIDAD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5669280"/>
            <a:ext cx="17068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Baja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16807" y="5669280"/>
            <a:ext cx="17068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Media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23687" y="5669280"/>
            <a:ext cx="1706879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535E6E"/>
                </a:solidFill>
                <a:latin typeface="Segoe UI"/>
              </a:rPr>
              <a:t>Alta</a:t>
            </a:r>
          </a:p>
        </p:txBody>
      </p:sp>
      <p:sp>
        <p:nvSpPr>
          <p:cNvPr id="24" name="Oval 23"/>
          <p:cNvSpPr/>
          <p:nvPr/>
        </p:nvSpPr>
        <p:spPr>
          <a:xfrm>
            <a:off x="4059935" y="2374392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59935" y="2365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R1</a:t>
            </a:r>
          </a:p>
        </p:txBody>
      </p:sp>
      <p:sp>
        <p:nvSpPr>
          <p:cNvPr id="26" name="Oval 25"/>
          <p:cNvSpPr/>
          <p:nvPr/>
        </p:nvSpPr>
        <p:spPr>
          <a:xfrm>
            <a:off x="2353056" y="2374392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353056" y="23652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R2</a:t>
            </a:r>
          </a:p>
        </p:txBody>
      </p:sp>
      <p:sp>
        <p:nvSpPr>
          <p:cNvPr id="28" name="Oval 27"/>
          <p:cNvSpPr/>
          <p:nvPr/>
        </p:nvSpPr>
        <p:spPr>
          <a:xfrm>
            <a:off x="3813048" y="3593592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35844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R3</a:t>
            </a:r>
          </a:p>
        </p:txBody>
      </p:sp>
      <p:sp>
        <p:nvSpPr>
          <p:cNvPr id="30" name="Oval 29"/>
          <p:cNvSpPr/>
          <p:nvPr/>
        </p:nvSpPr>
        <p:spPr>
          <a:xfrm>
            <a:off x="4306823" y="3593592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06823" y="35844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R6</a:t>
            </a:r>
          </a:p>
        </p:txBody>
      </p:sp>
      <p:sp>
        <p:nvSpPr>
          <p:cNvPr id="32" name="Oval 31"/>
          <p:cNvSpPr/>
          <p:nvPr/>
        </p:nvSpPr>
        <p:spPr>
          <a:xfrm>
            <a:off x="5766815" y="3593592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6815" y="35844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R4</a:t>
            </a:r>
          </a:p>
        </p:txBody>
      </p:sp>
      <p:sp>
        <p:nvSpPr>
          <p:cNvPr id="34" name="Oval 33"/>
          <p:cNvSpPr/>
          <p:nvPr/>
        </p:nvSpPr>
        <p:spPr>
          <a:xfrm>
            <a:off x="4059935" y="4812791"/>
            <a:ext cx="420624" cy="420624"/>
          </a:xfrm>
          <a:prstGeom prst="ellipse">
            <a:avLst/>
          </a:prstGeom>
          <a:solidFill>
            <a:srgbClr val="1F386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059935" y="4803648"/>
            <a:ext cx="420624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1" i="0">
                <a:solidFill>
                  <a:srgbClr val="FFFFFF"/>
                </a:solidFill>
                <a:latin typeface="Segoe UI Semibold"/>
              </a:rPr>
              <a:t>R5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87768" y="1938528"/>
            <a:ext cx="4245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93D"/>
                </a:solidFill>
                <a:latin typeface="Segoe UI Semibold"/>
              </a:rPr>
              <a:t>RIESGO → MITIGACIÓN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87768" y="22860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4967" y="2286000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Confundir la práctica con un procedimiento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44967" y="2569464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Aviso DEMO, guion y criterio de paro.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87768" y="2944368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44967" y="2944368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Entra personal sindicalizable sin la CMCAP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44967" y="3227832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Filtro por puesto con Relaciones Laborales.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87768" y="3602735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44967" y="3602735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Se percibe como evaluación o vigilancia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44967" y="3886199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Sin supervisor, sin nombres y con borrado.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87768" y="4261103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44967" y="4261103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Faltan datos de planta para escalar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44967" y="4544567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Taller con expertos de planta (petición 1).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87768" y="4919471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44967" y="4919471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Falla técnica el día de la sesión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44967" y="5202935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Equipo de respaldo y prueba previa.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287768" y="5577839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F3864"/>
                </a:solidFill>
                <a:latin typeface="Segoe UI Semibold"/>
              </a:rPr>
              <a:t>R6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44967" y="5577839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2B3340"/>
                </a:solidFill>
                <a:latin typeface="Segoe UI"/>
              </a:rPr>
              <a:t>Link de prueba público, no apto para operar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44967" y="5861303"/>
            <a:ext cx="3788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35E6E"/>
                </a:solidFill>
                <a:latin typeface="Segoe UI"/>
              </a:rPr>
              <a:t>→ Publicar en intranet o LMS antes de escalar.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06 · RUTA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Del piloto a la operación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16736"/>
            <a:ext cx="108749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35E6E"/>
                </a:solidFill>
                <a:latin typeface="Segoe UI"/>
              </a:rPr>
              <a:t>Fechas posteriores al informe: [Supuesto], se confirman con las áreas.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700784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Pentagon 6"/>
          <p:cNvSpPr/>
          <p:nvPr/>
        </p:nvSpPr>
        <p:spPr>
          <a:xfrm>
            <a:off x="658368" y="1920240"/>
            <a:ext cx="1963917" cy="841248"/>
          </a:xfrm>
          <a:prstGeom prst="homePlate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2139696"/>
            <a:ext cx="16844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Piloto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542032"/>
            <a:ext cx="171190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12–16 oct</a:t>
            </a:r>
          </a:p>
        </p:txBody>
      </p:sp>
      <p:sp>
        <p:nvSpPr>
          <p:cNvPr id="10" name="Chevron 9"/>
          <p:cNvSpPr/>
          <p:nvPr/>
        </p:nvSpPr>
        <p:spPr>
          <a:xfrm>
            <a:off x="2470861" y="1920240"/>
            <a:ext cx="1963917" cy="841248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50301" y="2139696"/>
            <a:ext cx="15513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Informe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0301" y="2542032"/>
            <a:ext cx="15787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19 oct</a:t>
            </a:r>
          </a:p>
        </p:txBody>
      </p:sp>
      <p:sp>
        <p:nvSpPr>
          <p:cNvPr id="13" name="Chevron 12"/>
          <p:cNvSpPr/>
          <p:nvPr/>
        </p:nvSpPr>
        <p:spPr>
          <a:xfrm>
            <a:off x="4283354" y="1920240"/>
            <a:ext cx="1963917" cy="841248"/>
          </a:xfrm>
          <a:prstGeom prst="chevron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62795" y="2139696"/>
            <a:ext cx="15513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Datos de planta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2795" y="2542032"/>
            <a:ext cx="15787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taller con expertos</a:t>
            </a:r>
          </a:p>
        </p:txBody>
      </p:sp>
      <p:sp>
        <p:nvSpPr>
          <p:cNvPr id="16" name="Chevron 15"/>
          <p:cNvSpPr/>
          <p:nvPr/>
        </p:nvSpPr>
        <p:spPr>
          <a:xfrm>
            <a:off x="6095847" y="1920240"/>
            <a:ext cx="1963917" cy="841248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75288" y="2139696"/>
            <a:ext cx="15513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CMCAP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75288" y="2542032"/>
            <a:ext cx="15787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personal sindicalizado</a:t>
            </a:r>
          </a:p>
        </p:txBody>
      </p:sp>
      <p:sp>
        <p:nvSpPr>
          <p:cNvPr id="19" name="Chevron 18"/>
          <p:cNvSpPr/>
          <p:nvPr/>
        </p:nvSpPr>
        <p:spPr>
          <a:xfrm>
            <a:off x="7908340" y="1920240"/>
            <a:ext cx="1963917" cy="841248"/>
          </a:xfrm>
          <a:prstGeom prst="chevron">
            <a:avLst>
              <a:gd name="adj" fmla="val 1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87781" y="2139696"/>
            <a:ext cx="15513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Nuevas misiones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7781" y="2542032"/>
            <a:ext cx="15787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riesgos críticos</a:t>
            </a:r>
          </a:p>
        </p:txBody>
      </p:sp>
      <p:sp>
        <p:nvSpPr>
          <p:cNvPr id="22" name="Chevron 21"/>
          <p:cNvSpPr/>
          <p:nvPr/>
        </p:nvSpPr>
        <p:spPr>
          <a:xfrm>
            <a:off x="9720834" y="1920240"/>
            <a:ext cx="1963917" cy="841248"/>
          </a:xfrm>
          <a:prstGeom prst="chevron">
            <a:avLst>
              <a:gd name="adj" fmla="val 18000"/>
            </a:avLst>
          </a:prstGeom>
          <a:solidFill>
            <a:srgbClr val="2F55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00274" y="2139696"/>
            <a:ext cx="15513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 i="0">
                <a:solidFill>
                  <a:srgbClr val="FFFFFF"/>
                </a:solidFill>
                <a:latin typeface="Segoe UI Semibold"/>
              </a:rPr>
              <a:t>Escalar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00274" y="2542032"/>
            <a:ext cx="15787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C9D5E8"/>
                </a:solidFill>
                <a:latin typeface="Segoe UI"/>
              </a:rPr>
              <a:t>intranet o LMS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3054096"/>
            <a:ext cx="3442106" cy="2971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 Same Side Corner Rectangle 25"/>
          <p:cNvSpPr/>
          <p:nvPr/>
        </p:nvSpPr>
        <p:spPr>
          <a:xfrm>
            <a:off x="658368" y="3054096"/>
            <a:ext cx="3442106" cy="457200"/>
          </a:xfrm>
          <a:prstGeom prst="round2SameRect">
            <a:avLst>
              <a:gd name="adj1" fmla="val 15000"/>
              <a:gd name="adj2" fmla="val 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054096"/>
            <a:ext cx="298490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VALIDACIÓN DE PLANTA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3712463"/>
            <a:ext cx="293918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C0392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Seguridad, Mantenimiento e Ingeniería de Proceso completan los datos pendientes.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C0392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EAF: 215 datos; además los de Alturas y LOTO.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C0392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El estado DEMO solo se quita con procedimiento aprobado.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4794" y="3054096"/>
            <a:ext cx="3442106" cy="2971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 Same Side Corner Rectangle 29"/>
          <p:cNvSpPr/>
          <p:nvPr/>
        </p:nvSpPr>
        <p:spPr>
          <a:xfrm>
            <a:off x="4374794" y="3054096"/>
            <a:ext cx="3442106" cy="457200"/>
          </a:xfrm>
          <a:prstGeom prst="round2SameRect">
            <a:avLst>
              <a:gd name="adj1" fmla="val 15000"/>
              <a:gd name="adj2" fmla="val 0"/>
            </a:avLst>
          </a:prstGeom>
          <a:solidFill>
            <a:srgbClr val="E08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49114" y="3054096"/>
            <a:ext cx="298490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PERSONAL SINDICALIZADO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49114" y="3712463"/>
            <a:ext cx="293918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E08A1E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Propuesta a la CMCAP con Relaciones Laborales y Jurídico Laboral.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E08A1E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Mientras tanto: solo personal de confianza e instructores.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E08A1E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Fecha: por definir con Relaciones Laborales.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091220" y="3054096"/>
            <a:ext cx="3442106" cy="2971800"/>
          </a:xfrm>
          <a:prstGeom prst="roundRect">
            <a:avLst>
              <a:gd name="adj" fmla="val 5000"/>
            </a:avLst>
          </a:prstGeom>
          <a:solidFill>
            <a:srgbClr val="F4F7FC"/>
          </a:solidFill>
          <a:ln w="1270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 Same Side Corner Rectangle 33"/>
          <p:cNvSpPr/>
          <p:nvPr/>
        </p:nvSpPr>
        <p:spPr>
          <a:xfrm>
            <a:off x="8091220" y="3054096"/>
            <a:ext cx="3442106" cy="457200"/>
          </a:xfrm>
          <a:prstGeom prst="round2SameRect">
            <a:avLst>
              <a:gd name="adj1" fmla="val 15000"/>
              <a:gd name="adj2" fmla="val 0"/>
            </a:avLst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65540" y="3054096"/>
            <a:ext cx="298490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Segoe UI Semibold"/>
              </a:rPr>
              <a:t>SIGUIENTES MISIONES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5540" y="3712463"/>
            <a:ext cx="2939186" cy="2148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Ya diseñadas en el mapa: Alturas 02 a 04 y LOTO 02 a 03.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Riesgos nuevos posibles: espacios confinados y equipo móvil.</a:t>
            </a:r>
          </a:p>
          <a:p>
            <a:pPr>
              <a:lnSpc>
                <a:spcPct val="110000"/>
              </a:lnSpc>
              <a:spcAft>
                <a:spcPts val="900"/>
              </a:spcAft>
            </a:pPr>
            <a:r>
              <a:rPr sz="1150" b="1" i="0">
                <a:solidFill>
                  <a:srgbClr val="2E7D5B"/>
                </a:solidFill>
                <a:latin typeface="Segoe UI"/>
              </a:rPr>
              <a:t>▪  </a:t>
            </a:r>
            <a:r>
              <a:rPr sz="1150" b="0" i="0">
                <a:solidFill>
                  <a:srgbClr val="2B3340"/>
                </a:solidFill>
                <a:latin typeface="Segoe UI"/>
              </a:rPr>
              <a:t>El motor es reutilizable: una misión nueva es contenido.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LO QUE PEDIMOS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Tres apoyos y un espacio en la próxima sesión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58368" y="1737360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1737360"/>
            <a:ext cx="91440" cy="91440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32688" y="1965960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95681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8488" y="1865376"/>
            <a:ext cx="6309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864"/>
                </a:solidFill>
                <a:latin typeface="Segoe UI Semibold"/>
              </a:rPr>
              <a:t>Expertos de planta para validar los datos pendientes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2194560"/>
            <a:ext cx="6309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Que Seguridad, Mantenimiento e Ingeniería de Proceso asignen especialistas al taller de validación.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0728" y="1901952"/>
            <a:ext cx="12801" cy="5852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93608" y="1737360"/>
            <a:ext cx="3056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B3340"/>
                </a:solidFill>
                <a:latin typeface="Segoe UI"/>
              </a:rPr>
              <a:t>Horas de expertos: ≈ MXN 60–80 mil para el EAF [Supuesto]; Alturas y LOTO por estimar.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770632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770632"/>
            <a:ext cx="91440" cy="91440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932688" y="2999232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8" y="29900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18488" y="2898648"/>
            <a:ext cx="6309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864"/>
                </a:solidFill>
                <a:latin typeface="Segoe UI Semibold"/>
              </a:rPr>
              <a:t>Mandato para llevar la propuesta a la CMCAP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18488" y="3227832"/>
            <a:ext cx="6309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Con Relaciones Laborales y Jurídico Laboral, para incluir al personal sindicalizado.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10728" y="2935224"/>
            <a:ext cx="12801" cy="5852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93608" y="2770632"/>
            <a:ext cx="3056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B3340"/>
                </a:solidFill>
                <a:latin typeface="Segoe UI"/>
              </a:rPr>
              <a:t>Sin costo adicional. Fecha por definir con Relaciones Laborales.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3803904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3803904"/>
            <a:ext cx="91440" cy="91440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32688" y="4032504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02336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3931920"/>
            <a:ext cx="6309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864"/>
                </a:solidFill>
                <a:latin typeface="Segoe UI Semibold"/>
              </a:rPr>
              <a:t>Su opinión sobre el siguiente riesgo crítico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4261104"/>
            <a:ext cx="6309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Continuar Alturas o LOTO, o abrir espacios confinados o equipo móvil. El Director decide con el informe del piloto.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10728" y="3968496"/>
            <a:ext cx="12801" cy="5852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93608" y="3803904"/>
            <a:ext cx="3056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B3340"/>
                </a:solidFill>
                <a:latin typeface="Segoe UI"/>
              </a:rPr>
              <a:t>Sin costo hoy.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" y="4837176"/>
            <a:ext cx="10874959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DDE3EC"/>
            </a:solidFill>
          </a:ln>
          <a:effectLst>
            <a:outerShdw blurRad="90000" dist="34000" dir="5400000" rotWithShape="0">
              <a:srgbClr val="1F3864">
                <a:alpha val="9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" y="4837176"/>
            <a:ext cx="91440" cy="914400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32688" y="5065776"/>
            <a:ext cx="457200" cy="457200"/>
          </a:xfrm>
          <a:prstGeom prst="ellipse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2688" y="505663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18488" y="4965192"/>
            <a:ext cx="6309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F3864"/>
                </a:solidFill>
                <a:latin typeface="Segoe UI Semibold"/>
              </a:rPr>
              <a:t>Espacio en la próxima sesión del comité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18488" y="5294376"/>
            <a:ext cx="63093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535E6E"/>
                </a:solidFill>
                <a:latin typeface="Segoe UI"/>
              </a:rPr>
              <a:t>Para presentar los resultados del piloto y la recomendación de escalamiento.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10728" y="5001768"/>
            <a:ext cx="12801" cy="5852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93608" y="4837176"/>
            <a:ext cx="305683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B3340"/>
                </a:solidFill>
                <a:latin typeface="Segoe UI"/>
              </a:rPr>
              <a:t>Informe listo el 19 de octubre [Supuesto].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8368" y="5888736"/>
            <a:ext cx="1087495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No pedimos presupuesto adicional hoy: </a:t>
            </a:r>
            <a:r>
              <a:rPr sz="1200" b="0" i="0">
                <a:solidFill>
                  <a:srgbClr val="2B3340"/>
                </a:solidFill>
                <a:latin typeface="Segoe UI"/>
              </a:rPr>
              <a:t>el piloto usa sala, equipos y horas internas de Capacitación y Desarrollo.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12064"/>
            <a:ext cx="146304" cy="310896"/>
          </a:xfrm>
          <a:prstGeom prst="rect">
            <a:avLst/>
          </a:prstGeom>
          <a:solidFill>
            <a:srgbClr val="C299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93776"/>
            <a:ext cx="10600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C2993D"/>
                </a:solidFill>
                <a:latin typeface="Segoe UI Semibold"/>
              </a:rPr>
              <a:t>ANEXO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6384"/>
            <a:ext cx="1087495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1F3864"/>
                </a:solidFill>
                <a:latin typeface="Segoe UI Semibold"/>
              </a:rPr>
              <a:t>Decisiones del Director y dónde consultar el material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481328"/>
            <a:ext cx="10874959" cy="20116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719072"/>
            <a:ext cx="10874959" cy="475488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1719072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D-011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01368" y="1719072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35E6E"/>
                </a:solidFill>
                <a:latin typeface="Segoe UI"/>
              </a:rPr>
              <a:t>5 oct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70048" y="1719072"/>
            <a:ext cx="868039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Lanzar el piloto controlado del módulo EAF; asistente de IA oculto; sindicalizados solo con acuerdo de la CMCAP.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194560"/>
            <a:ext cx="10874959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2194560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D-012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2194560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35E6E"/>
                </a:solidFill>
                <a:latin typeface="Segoe UI"/>
              </a:rPr>
              <a:t>5 oct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70048" y="2194560"/>
            <a:ext cx="868039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Rediseño a experiencia de misiones; Misión 01 Trabajo en Alturas.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2670048"/>
            <a:ext cx="10874959" cy="475488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7" y="2670048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D-013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01368" y="2670048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35E6E"/>
                </a:solidFill>
                <a:latin typeface="Segoe UI"/>
              </a:rPr>
              <a:t>6 oct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670048"/>
            <a:ext cx="868039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Versión 2: más fluida, Misión LOTO y menú de Procedimientos, como DEMO y con condiciones.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8368" y="3145536"/>
            <a:ext cx="10874959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7" y="3145536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D-014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01368" y="3145536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35E6E"/>
                </a:solidFill>
                <a:latin typeface="Segoe UI"/>
              </a:rPr>
              <a:t>6 oct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3145536"/>
            <a:ext cx="868039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Aplicar los cambios de Operaciones y Relaciones Laborales; verificación de Seguridad cerrada.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3621024"/>
            <a:ext cx="10874959" cy="475488"/>
          </a:xfrm>
          <a:prstGeom prst="rect">
            <a:avLst/>
          </a:prstGeom>
          <a:solidFill>
            <a:srgbClr val="F4F7FC"/>
          </a:solidFill>
          <a:ln w="6350">
            <a:solidFill>
              <a:srgbClr val="DDE3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7" y="3621024"/>
            <a:ext cx="9144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1F3864"/>
                </a:solidFill>
                <a:latin typeface="Segoe UI Semibold"/>
              </a:rPr>
              <a:t>D-015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01368" y="3621024"/>
            <a:ext cx="82296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35E6E"/>
                </a:solidFill>
                <a:latin typeface="Segoe UI"/>
              </a:rPr>
              <a:t>7 oct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621024"/>
            <a:ext cx="8680399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2B3340"/>
                </a:solidFill>
                <a:latin typeface="Segoe UI"/>
              </a:rPr>
              <a:t>Lanzar el piloto de misiones con 5 personas de confianza.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4370832"/>
            <a:ext cx="108749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93D"/>
                </a:solidFill>
                <a:latin typeface="Segoe UI Semibold"/>
              </a:rPr>
              <a:t>DÓNDE CONSULTAR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4700016"/>
            <a:ext cx="1087495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B3340"/>
                </a:solidFill>
                <a:latin typeface="Segoe UI"/>
              </a:rPr>
              <a:t>Demo (versión 2.1): </a:t>
            </a:r>
            <a:r>
              <a:rPr sz="1050" b="0" i="0">
                <a:solidFill>
                  <a:srgbClr val="2B3340"/>
                </a:solidFill>
                <a:latin typeface="Segoe UI"/>
              </a:rPr>
              <a:t>rawcdn.githack.com/diegocardonaguzman03-maker/HR/fa25ff0f34fb2eee70bc7d8df4b7645c63c0f7a1/apps/academy/web/index.html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B3340"/>
                </a:solidFill>
                <a:latin typeface="Segoe UI"/>
              </a:rPr>
              <a:t>Kit del piloto: </a:t>
            </a:r>
            <a:r>
              <a:rPr sz="1050" b="0" i="0">
                <a:solidFill>
                  <a:srgbClr val="2B3340"/>
                </a:solidFill>
                <a:latin typeface="Segoe UI"/>
              </a:rPr>
              <a:t>entregables/2026-10-07-lanzamiento-piloto-misiones/</a:t>
            </a:r>
          </a:p>
          <a:p>
            <a:pPr>
              <a:lnSpc>
                <a:spcPct val="106000"/>
              </a:lnSpc>
              <a:spcAft>
                <a:spcPts val="600"/>
              </a:spcAft>
            </a:pPr>
            <a:r>
              <a:rPr sz="1050" b="1" i="0">
                <a:solidFill>
                  <a:srgbClr val="C2993D"/>
                </a:solidFill>
                <a:latin typeface="Segoe UI"/>
              </a:rPr>
              <a:t>▪  </a:t>
            </a:r>
            <a:r>
              <a:rPr sz="1050" b="1" i="0">
                <a:solidFill>
                  <a:srgbClr val="2B3340"/>
                </a:solidFill>
                <a:latin typeface="Segoe UI"/>
              </a:rPr>
              <a:t>Dictámenes: </a:t>
            </a:r>
            <a:r>
              <a:rPr sz="1050" b="0" i="0">
                <a:solidFill>
                  <a:srgbClr val="2B3340"/>
                </a:solidFill>
                <a:latin typeface="Segoe UI"/>
              </a:rPr>
              <a:t>apps/academy/docs/reviews/ (Seguridad, Operativo y Relaciones Laborales)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" y="5943600"/>
            <a:ext cx="10874959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535E6E"/>
                </a:solidFill>
                <a:latin typeface="Segoe UI"/>
              </a:rPr>
              <a:t>Este entorno de capacitación apoya el aprendizaje y no sustituye procedimientos operativos aprobados, instrucciones de trabajo, permisos, supervisión ni requisitos de seguridad.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6419088"/>
            <a:ext cx="10874959" cy="14630"/>
          </a:xfrm>
          <a:prstGeom prst="rect">
            <a:avLst/>
          </a:prstGeom>
          <a:solidFill>
            <a:srgbClr val="DDE3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" y="6492240"/>
            <a:ext cx="7315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4A3"/>
                </a:solidFill>
                <a:latin typeface="Segoe UI"/>
              </a:rPr>
              <a:t>GASM · Capacitación y Desarrollo   ·   Academia Digital — Comité de Dirección · octubre 2026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47327" y="649224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850" b="1" i="0">
                <a:solidFill>
                  <a:srgbClr val="8A94A3"/>
                </a:solidFill>
                <a:latin typeface="Segoe UI Semibold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