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arriba, qué cambia y las cifras clave. Al centro, el ciclo de cada paso: los cuatro primeros en la plataforma, los dos últimos en piso. Abajo, las dos misiones, cómo se validaron, las reglas y la ruta con las cuatro propuestas.
POR QUÉ IMPORTA LA VALIDACIÓN: Seguridad tiene veto y lo ejerció; nada se presenta como procedimiento aprobado ni como certificación.
PUNTOS A CERRAR: (1) especialistas de Seguridad, Mantenimiento e Ingeniería de Proceso para el taller de datos de planta; (2) respaldo de las direcciones a las reglas de no uso ante la CMCAP; (3) fecha de la próxima sesión para los resultados.
[POR CONFIRMAR] Fechas del piloto (12–16 oct) e informe (19 oct): tentativas. Alineación con ILUO: propuesta por validar con Seguridad y RH. Hallazgos: 33 = 19 de Alturas + 14 de LOTO y documentos, sin contar 7 de seguimiento: 6 cerrados y 1 mejora menor de Alturas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9875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DESARROLLO · ACADEMIA DIGITAL · PILOTO OCTUBRE 2026</a:t>
            </a:r>
            <a:endParaRPr lang="en-US" sz="6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Digital: capacitación por misiones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78638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misiones de riesgo crítico · 8 pasos en unos 10 min · 6 documentos de práctica · 5 personas en el piloto</a:t>
            </a:r>
            <a:endParaRPr lang="en-US" sz="1300" dirty="0"/>
          </a:p>
        </p:txBody>
      </p:sp>
      <p:pic>
        <p:nvPicPr>
          <p:cNvPr id="5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168"/>
            <a:ext cx="960120" cy="396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1115568"/>
            <a:ext cx="11365992" cy="713232"/>
          </a:xfrm>
          <a:prstGeom prst="rect">
            <a:avLst/>
          </a:prstGeom>
          <a:solidFill>
            <a:srgbClr val="F5F5F8"/>
          </a:solidFill>
          <a:ln/>
        </p:spPr>
      </p:sp>
      <p:sp>
        <p:nvSpPr>
          <p:cNvPr id="7" name="Shape 4"/>
          <p:cNvSpPr/>
          <p:nvPr/>
        </p:nvSpPr>
        <p:spPr>
          <a:xfrm>
            <a:off x="512064" y="1207008"/>
            <a:ext cx="45720" cy="530352"/>
          </a:xfrm>
          <a:prstGeom prst="rect">
            <a:avLst/>
          </a:prstGeom>
          <a:solidFill>
            <a:srgbClr val="78787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04088" y="11704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Pasamos de «explorar información» a «completar una misión»: la persona practica las decisiones de una tarea crítica antes de llegar a piso.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704088" y="15179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apoya el nivel I de ILUO sin acreditarlo ni asignar niveles (alineación por validar); la competencia se demuestra en piso, con evaluador, y se registra en IMaS y DC-3/SIRCE.</a:t>
            </a:r>
            <a:endParaRPr lang="en-US" sz="770" dirty="0"/>
          </a:p>
        </p:txBody>
      </p:sp>
      <p:sp>
        <p:nvSpPr>
          <p:cNvPr id="10" name="Text 7"/>
          <p:cNvSpPr txBox="1"/>
          <p:nvPr/>
        </p:nvSpPr>
        <p:spPr>
          <a:xfrm>
            <a:off x="8741664" y="120700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741664" y="1463040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misiones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9729216" y="120700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729216" y="1463040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vistos buenos</a:t>
            </a:r>
            <a:endParaRPr lang="en-US" sz="650" dirty="0"/>
          </a:p>
        </p:txBody>
      </p:sp>
      <p:sp>
        <p:nvSpPr>
          <p:cNvPr id="14" name="Text 11"/>
          <p:cNvSpPr txBox="1"/>
          <p:nvPr/>
        </p:nvSpPr>
        <p:spPr>
          <a:xfrm>
            <a:off x="10716768" y="120700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D2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716768" y="1463040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adicional</a:t>
            </a:r>
            <a:endParaRPr lang="en-US" sz="650" dirty="0"/>
          </a:p>
        </p:txBody>
      </p:sp>
      <p:sp>
        <p:nvSpPr>
          <p:cNvPr id="16" name="Text 13"/>
          <p:cNvSpPr txBox="1"/>
          <p:nvPr/>
        </p:nvSpPr>
        <p:spPr>
          <a:xfrm>
            <a:off x="8467344" y="1645920"/>
            <a:ext cx="32369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spc="100" kern="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AL 8 DE OCTUBRE DE 2026</a:t>
            </a:r>
            <a:endParaRPr lang="en-US" sz="620" dirty="0"/>
          </a:p>
        </p:txBody>
      </p:sp>
      <p:sp>
        <p:nvSpPr>
          <p:cNvPr id="17" name="Text 14"/>
          <p:cNvSpPr txBox="1"/>
          <p:nvPr/>
        </p:nvSpPr>
        <p:spPr>
          <a:xfrm>
            <a:off x="411480" y="192024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100" kern="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CADA PASO DE UNA MISIÓN</a:t>
            </a:r>
            <a:endParaRPr lang="en-US" sz="780" dirty="0"/>
          </a:p>
        </p:txBody>
      </p:sp>
      <p:sp>
        <p:nvSpPr>
          <p:cNvPr id="18" name="Text 15"/>
          <p:cNvSpPr txBox="1"/>
          <p:nvPr/>
        </p:nvSpPr>
        <p:spPr>
          <a:xfrm>
            <a:off x="5532120" y="1920240"/>
            <a:ext cx="6245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primeros ocurren en la plataforma; los dos últimos, en piso con evaluador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358646" y="2286000"/>
            <a:ext cx="9471660" cy="0"/>
          </a:xfrm>
          <a:prstGeom prst="line">
            <a:avLst/>
          </a:prstGeom>
          <a:noFill/>
          <a:ln w="12700">
            <a:solidFill>
              <a:srgbClr val="E4E4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94054" y="2121408"/>
            <a:ext cx="329184" cy="329184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194054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48056" y="2505456"/>
            <a:ext cx="18211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MUÉSTRAME</a:t>
            </a:r>
            <a:endParaRPr lang="en-US" sz="840" dirty="0"/>
          </a:p>
        </p:txBody>
      </p:sp>
      <p:sp>
        <p:nvSpPr>
          <p:cNvPr id="23" name="Text 20"/>
          <p:cNvSpPr txBox="1"/>
          <p:nvPr/>
        </p:nvSpPr>
        <p:spPr>
          <a:xfrm>
            <a:off x="466344" y="2670048"/>
            <a:ext cx="17846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3D de la tarea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3088386" y="2121408"/>
            <a:ext cx="329184" cy="329184"/>
          </a:xfrm>
          <a:prstGeom prst="ellipse">
            <a:avLst/>
          </a:prstGeom>
          <a:solidFill>
            <a:srgbClr val="EF6A2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088386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342388" y="2505456"/>
            <a:ext cx="18211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EXPLÍCAME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2360676" y="2670048"/>
            <a:ext cx="17846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porqué de cada paso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4982718" y="2121408"/>
            <a:ext cx="329184" cy="329184"/>
          </a:xfrm>
          <a:prstGeom prst="ellipse">
            <a:avLst/>
          </a:prstGeom>
          <a:solidFill>
            <a:srgbClr val="E74C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982718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236720" y="2505456"/>
            <a:ext cx="18211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DÉJAME INTENTAR</a:t>
            </a:r>
            <a:endParaRPr lang="en-US" sz="840" dirty="0"/>
          </a:p>
        </p:txBody>
      </p:sp>
      <p:sp>
        <p:nvSpPr>
          <p:cNvPr id="31" name="Text 28"/>
          <p:cNvSpPr txBox="1"/>
          <p:nvPr/>
        </p:nvSpPr>
        <p:spPr>
          <a:xfrm>
            <a:off x="4255008" y="2670048"/>
            <a:ext cx="17846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decide en el escenario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6877050" y="2121408"/>
            <a:ext cx="329184" cy="329184"/>
          </a:xfrm>
          <a:prstGeom prst="ellipse">
            <a:avLst/>
          </a:prstGeom>
          <a:solidFill>
            <a:srgbClr val="DC1F6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7705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131052" y="2505456"/>
            <a:ext cx="18211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REVÍSAME</a:t>
            </a:r>
            <a:endParaRPr lang="en-US" sz="840" dirty="0"/>
          </a:p>
        </p:txBody>
      </p:sp>
      <p:sp>
        <p:nvSpPr>
          <p:cNvPr id="35" name="Text 32"/>
          <p:cNvSpPr txBox="1"/>
          <p:nvPr/>
        </p:nvSpPr>
        <p:spPr>
          <a:xfrm>
            <a:off x="6149340" y="2670048"/>
            <a:ext cx="17846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Retroalimentación inmediata; errores críticos señalados</a:t>
            </a:r>
            <a:endParaRPr lang="en-US" sz="700" dirty="0"/>
          </a:p>
        </p:txBody>
      </p:sp>
      <p:sp>
        <p:nvSpPr>
          <p:cNvPr id="36" name="Shape 33"/>
          <p:cNvSpPr/>
          <p:nvPr/>
        </p:nvSpPr>
        <p:spPr>
          <a:xfrm>
            <a:off x="8771382" y="2121408"/>
            <a:ext cx="329184" cy="329184"/>
          </a:xfrm>
          <a:prstGeom prst="ellipse">
            <a:avLst/>
          </a:prstGeom>
          <a:solidFill>
            <a:srgbClr val="BE168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771382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025384" y="2505456"/>
            <a:ext cx="18211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EN PISO</a:t>
            </a:r>
            <a:endParaRPr lang="en-US" sz="840" dirty="0"/>
          </a:p>
        </p:txBody>
      </p:sp>
      <p:sp>
        <p:nvSpPr>
          <p:cNvPr id="39" name="Text 36"/>
          <p:cNvSpPr txBox="1"/>
          <p:nvPr/>
        </p:nvSpPr>
        <p:spPr>
          <a:xfrm>
            <a:off x="8043672" y="2670048"/>
            <a:ext cx="17846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Supervisada, con instructor (nivel L)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10665714" y="2121408"/>
            <a:ext cx="329184" cy="329184"/>
          </a:xfrm>
          <a:prstGeom prst="ellipse">
            <a:avLst/>
          </a:prstGeom>
          <a:solidFill>
            <a:srgbClr val="7D2E90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0665714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9919716" y="2505456"/>
            <a:ext cx="18211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</a:t>
            </a:r>
            <a:endParaRPr lang="en-US" sz="840" dirty="0"/>
          </a:p>
        </p:txBody>
      </p:sp>
      <p:sp>
        <p:nvSpPr>
          <p:cNvPr id="43" name="Text 40"/>
          <p:cNvSpPr txBox="1"/>
          <p:nvPr/>
        </p:nvSpPr>
        <p:spPr>
          <a:xfrm>
            <a:off x="9938004" y="2670048"/>
            <a:ext cx="17846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Demostrada ante evaluador; registro en IMaS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411480" y="3145536"/>
            <a:ext cx="219456" cy="18288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11480" y="3145536"/>
            <a:ext cx="219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22376" y="3145536"/>
            <a:ext cx="625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PRACTICA Y CÓMO SE CUIDA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5526176" y="3145536"/>
            <a:ext cx="625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práctica (DEMO): no sustituye procedimientos, permisos ni supervisión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11480" y="3383280"/>
            <a:ext cx="2745486" cy="1984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57784" y="3511296"/>
            <a:ext cx="1239926" cy="201168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" y="3511296"/>
            <a:ext cx="12399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 · ALTURAS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557784" y="3785616"/>
            <a:ext cx="245287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en Alturas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557784" y="3986784"/>
            <a:ext cx="245287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la tarea · 8 pasos</a:t>
            </a:r>
            <a:endParaRPr lang="en-US" sz="780" dirty="0"/>
          </a:p>
        </p:txBody>
      </p:sp>
      <p:sp>
        <p:nvSpPr>
          <p:cNvPr id="53" name="Shape 50"/>
          <p:cNvSpPr/>
          <p:nvPr/>
        </p:nvSpPr>
        <p:spPr>
          <a:xfrm>
            <a:off x="557784" y="4187952"/>
            <a:ext cx="2452878" cy="420624"/>
          </a:xfrm>
          <a:prstGeom prst="rect">
            <a:avLst/>
          </a:prstGeom>
          <a:solidFill>
            <a:srgbClr val="FDF0E4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49224" y="4187952"/>
            <a:ext cx="310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8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960120" y="4224528"/>
            <a:ext cx="19591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8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peligros por identificar</a:t>
            </a:r>
            <a:endParaRPr lang="en-US" sz="780" dirty="0"/>
          </a:p>
        </p:txBody>
      </p:sp>
      <p:sp>
        <p:nvSpPr>
          <p:cNvPr id="56" name="Text 53"/>
          <p:cNvSpPr txBox="1"/>
          <p:nvPr/>
        </p:nvSpPr>
        <p:spPr>
          <a:xfrm>
            <a:off x="960120" y="4407408"/>
            <a:ext cx="195910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energía de la luminaria</a:t>
            </a:r>
            <a:endParaRPr lang="en-US" sz="700" dirty="0"/>
          </a:p>
        </p:txBody>
      </p:sp>
      <p:sp>
        <p:nvSpPr>
          <p:cNvPr id="57" name="Shape 54"/>
          <p:cNvSpPr/>
          <p:nvPr/>
        </p:nvSpPr>
        <p:spPr>
          <a:xfrm>
            <a:off x="557784" y="4663440"/>
            <a:ext cx="2452878" cy="420624"/>
          </a:xfrm>
          <a:prstGeom prst="rect">
            <a:avLst/>
          </a:prstGeom>
          <a:solidFill>
            <a:srgbClr val="FDF0E4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49224" y="4663440"/>
            <a:ext cx="310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8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Text 56"/>
          <p:cNvSpPr txBox="1"/>
          <p:nvPr/>
        </p:nvSpPr>
        <p:spPr>
          <a:xfrm>
            <a:off x="960120" y="4700016"/>
            <a:ext cx="19591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8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inicio</a:t>
            </a:r>
            <a:endParaRPr lang="en-US" sz="780" dirty="0"/>
          </a:p>
        </p:txBody>
      </p:sp>
      <p:sp>
        <p:nvSpPr>
          <p:cNvPr id="60" name="Text 57"/>
          <p:cNvSpPr txBox="1"/>
          <p:nvPr/>
        </p:nvSpPr>
        <p:spPr>
          <a:xfrm>
            <a:off x="960120" y="4882896"/>
            <a:ext cx="195910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rescate disponible, no se inicia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557784" y="5138928"/>
            <a:ext cx="24711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F58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planta no hay segundo intento.</a:t>
            </a:r>
            <a:endParaRPr lang="en-US" sz="750" dirty="0"/>
          </a:p>
        </p:txBody>
      </p:sp>
      <p:sp>
        <p:nvSpPr>
          <p:cNvPr id="62" name="Shape 59"/>
          <p:cNvSpPr/>
          <p:nvPr/>
        </p:nvSpPr>
        <p:spPr>
          <a:xfrm>
            <a:off x="3284982" y="3383280"/>
            <a:ext cx="2745486" cy="1984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A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3431286" y="3511296"/>
            <a:ext cx="1058875" cy="201168"/>
          </a:xfrm>
          <a:prstGeom prst="roundRect">
            <a:avLst>
              <a:gd name="adj" fmla="val 50000"/>
            </a:avLst>
          </a:prstGeom>
          <a:solidFill>
            <a:srgbClr val="E74C3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3431286" y="3511296"/>
            <a:ext cx="10588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 · LOTO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3431286" y="3785616"/>
            <a:ext cx="245287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y Etiquetado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3431286" y="3986784"/>
            <a:ext cx="245287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Aislar una banda para mantenimiento · 8 pasos</a:t>
            </a:r>
            <a:endParaRPr lang="en-US" sz="780" dirty="0"/>
          </a:p>
        </p:txBody>
      </p:sp>
      <p:sp>
        <p:nvSpPr>
          <p:cNvPr id="67" name="Shape 64"/>
          <p:cNvSpPr/>
          <p:nvPr/>
        </p:nvSpPr>
        <p:spPr>
          <a:xfrm>
            <a:off x="3431286" y="4187952"/>
            <a:ext cx="2452878" cy="420624"/>
          </a:xfrm>
          <a:prstGeom prst="rect">
            <a:avLst/>
          </a:prstGeom>
          <a:solidFill>
            <a:srgbClr val="FCEAE6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522726" y="4187952"/>
            <a:ext cx="310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74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69" name="Text 66"/>
          <p:cNvSpPr txBox="1"/>
          <p:nvPr/>
        </p:nvSpPr>
        <p:spPr>
          <a:xfrm>
            <a:off x="3833622" y="4224528"/>
            <a:ext cx="19591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8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energías del escenario</a:t>
            </a:r>
            <a:endParaRPr lang="en-US" sz="780" dirty="0"/>
          </a:p>
        </p:txBody>
      </p:sp>
      <p:sp>
        <p:nvSpPr>
          <p:cNvPr id="70" name="Text 67"/>
          <p:cNvSpPr txBox="1"/>
          <p:nvPr/>
        </p:nvSpPr>
        <p:spPr>
          <a:xfrm>
            <a:off x="3833622" y="4407408"/>
            <a:ext cx="195910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banda real puede tener más</a:t>
            </a:r>
            <a:endParaRPr lang="en-US" sz="700" dirty="0"/>
          </a:p>
        </p:txBody>
      </p:sp>
      <p:sp>
        <p:nvSpPr>
          <p:cNvPr id="71" name="Shape 68"/>
          <p:cNvSpPr/>
          <p:nvPr/>
        </p:nvSpPr>
        <p:spPr>
          <a:xfrm>
            <a:off x="3431286" y="4663440"/>
            <a:ext cx="2452878" cy="420624"/>
          </a:xfrm>
          <a:prstGeom prst="rect">
            <a:avLst/>
          </a:prstGeom>
          <a:solidFill>
            <a:srgbClr val="FCEAE6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3522726" y="4663440"/>
            <a:ext cx="310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74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73" name="Text 70"/>
          <p:cNvSpPr txBox="1"/>
          <p:nvPr/>
        </p:nvSpPr>
        <p:spPr>
          <a:xfrm>
            <a:off x="3833622" y="4700016"/>
            <a:ext cx="19591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8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 energía cero</a:t>
            </a:r>
            <a:endParaRPr lang="en-US" sz="780" dirty="0"/>
          </a:p>
        </p:txBody>
      </p:sp>
      <p:sp>
        <p:nvSpPr>
          <p:cNvPr id="74" name="Text 71"/>
          <p:cNvSpPr txBox="1"/>
          <p:nvPr/>
        </p:nvSpPr>
        <p:spPr>
          <a:xfrm>
            <a:off x="3833622" y="4882896"/>
            <a:ext cx="195910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confirmar que nadie está expuesto</a:t>
            </a:r>
            <a:endParaRPr lang="en-US" sz="700" dirty="0"/>
          </a:p>
        </p:txBody>
      </p:sp>
      <p:sp>
        <p:nvSpPr>
          <p:cNvPr id="75" name="Text 72"/>
          <p:cNvSpPr txBox="1"/>
          <p:nvPr/>
        </p:nvSpPr>
        <p:spPr>
          <a:xfrm>
            <a:off x="3431286" y="5138928"/>
            <a:ext cx="24711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74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quien retira solo su candado.</a:t>
            </a:r>
            <a:endParaRPr lang="en-US" sz="750" dirty="0"/>
          </a:p>
        </p:txBody>
      </p:sp>
      <p:sp>
        <p:nvSpPr>
          <p:cNvPr id="76" name="Shape 73"/>
          <p:cNvSpPr/>
          <p:nvPr/>
        </p:nvSpPr>
        <p:spPr>
          <a:xfrm>
            <a:off x="6158484" y="3383280"/>
            <a:ext cx="2745486" cy="1984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A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6304788" y="3511296"/>
            <a:ext cx="877824" cy="201168"/>
          </a:xfrm>
          <a:prstGeom prst="roundRect">
            <a:avLst>
              <a:gd name="adj" fmla="val 50000"/>
            </a:avLst>
          </a:prstGeom>
          <a:solidFill>
            <a:srgbClr val="DC1F62"/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6304788" y="3511296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6304788" y="3785616"/>
            <a:ext cx="245287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vistos buenos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6304788" y="3986784"/>
            <a:ext cx="245287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· Operaciones · Laboral (confianza)</a:t>
            </a:r>
            <a:endParaRPr lang="en-US" sz="780" dirty="0"/>
          </a:p>
        </p:txBody>
      </p:sp>
      <p:sp>
        <p:nvSpPr>
          <p:cNvPr id="81" name="Shape 78"/>
          <p:cNvSpPr/>
          <p:nvPr/>
        </p:nvSpPr>
        <p:spPr>
          <a:xfrm>
            <a:off x="6304788" y="4187952"/>
            <a:ext cx="2452878" cy="420624"/>
          </a:xfrm>
          <a:prstGeom prst="rect">
            <a:avLst/>
          </a:prstGeom>
          <a:solidFill>
            <a:srgbClr val="FCE7EF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6396228" y="418795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1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500" dirty="0"/>
          </a:p>
        </p:txBody>
      </p:sp>
      <p:sp>
        <p:nvSpPr>
          <p:cNvPr id="83" name="Text 80"/>
          <p:cNvSpPr txBox="1"/>
          <p:nvPr/>
        </p:nvSpPr>
        <p:spPr>
          <a:xfrm>
            <a:off x="6835140" y="4224528"/>
            <a:ext cx="183108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8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Seguridad</a:t>
            </a:r>
            <a:endParaRPr lang="en-US" sz="780" dirty="0"/>
          </a:p>
        </p:txBody>
      </p:sp>
      <p:sp>
        <p:nvSpPr>
          <p:cNvPr id="84" name="Text 81"/>
          <p:cNvSpPr txBox="1"/>
          <p:nvPr/>
        </p:nvSpPr>
        <p:spPr>
          <a:xfrm>
            <a:off x="6835140" y="4407408"/>
            <a:ext cx="183108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Corregidos; veto levantado</a:t>
            </a:r>
            <a:endParaRPr lang="en-US" sz="700" dirty="0"/>
          </a:p>
        </p:txBody>
      </p:sp>
      <p:sp>
        <p:nvSpPr>
          <p:cNvPr id="85" name="Shape 82"/>
          <p:cNvSpPr/>
          <p:nvPr/>
        </p:nvSpPr>
        <p:spPr>
          <a:xfrm>
            <a:off x="6304788" y="4663440"/>
            <a:ext cx="2452878" cy="420624"/>
          </a:xfrm>
          <a:prstGeom prst="rect">
            <a:avLst/>
          </a:prstGeom>
          <a:solidFill>
            <a:srgbClr val="FCE7EF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6396228" y="4663440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1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500" dirty="0"/>
          </a:p>
        </p:txBody>
      </p:sp>
      <p:sp>
        <p:nvSpPr>
          <p:cNvPr id="87" name="Text 84"/>
          <p:cNvSpPr txBox="1"/>
          <p:nvPr/>
        </p:nvSpPr>
        <p:spPr>
          <a:xfrm>
            <a:off x="6835140" y="4700016"/>
            <a:ext cx="183108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8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técnicos y laborales</a:t>
            </a:r>
            <a:endParaRPr lang="en-US" sz="780" dirty="0"/>
          </a:p>
        </p:txBody>
      </p:sp>
      <p:sp>
        <p:nvSpPr>
          <p:cNvPr id="88" name="Text 85"/>
          <p:cNvSpPr txBox="1"/>
          <p:nvPr/>
        </p:nvSpPr>
        <p:spPr>
          <a:xfrm>
            <a:off x="6835140" y="4882896"/>
            <a:ext cx="183108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de Operaciones · 14 laborales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304788" y="5138928"/>
            <a:ext cx="24711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C1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veto se usó: detuvo las dos misiones.</a:t>
            </a:r>
            <a:endParaRPr lang="en-US" sz="750" dirty="0"/>
          </a:p>
        </p:txBody>
      </p:sp>
      <p:sp>
        <p:nvSpPr>
          <p:cNvPr id="90" name="Shape 87"/>
          <p:cNvSpPr/>
          <p:nvPr/>
        </p:nvSpPr>
        <p:spPr>
          <a:xfrm>
            <a:off x="9031986" y="3383280"/>
            <a:ext cx="2745486" cy="1984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A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9178290" y="3511296"/>
            <a:ext cx="636422" cy="201168"/>
          </a:xfrm>
          <a:prstGeom prst="roundRect">
            <a:avLst>
              <a:gd name="adj" fmla="val 50000"/>
            </a:avLst>
          </a:prstGeom>
          <a:solidFill>
            <a:srgbClr val="7D2E90"/>
          </a:solidFill>
          <a:ln/>
        </p:spPr>
      </p:sp>
      <p:sp>
        <p:nvSpPr>
          <p:cNvPr id="92" name="Text 89"/>
          <p:cNvSpPr txBox="1"/>
          <p:nvPr/>
        </p:nvSpPr>
        <p:spPr>
          <a:xfrm>
            <a:off x="9178290" y="3511296"/>
            <a:ext cx="6364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178290" y="3785616"/>
            <a:ext cx="245287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plataforma nunca hace</a:t>
            </a:r>
            <a:endParaRPr lang="en-US" sz="1050" dirty="0"/>
          </a:p>
        </p:txBody>
      </p:sp>
      <p:sp>
        <p:nvSpPr>
          <p:cNvPr id="94" name="Text 91"/>
          <p:cNvSpPr txBox="1"/>
          <p:nvPr/>
        </p:nvSpPr>
        <p:spPr>
          <a:xfrm>
            <a:off x="9178290" y="4005072"/>
            <a:ext cx="247116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2682" indent="-122682">
              <a:spcAft>
                <a:spcPts val="414"/>
              </a:spcAft>
              <a:buSzPct val="100000"/>
              <a:buChar char="•"/>
            </a:pPr>
            <a:r>
              <a:rPr lang="en-US" sz="69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certifica, no habilita, no emite DC-3 ni es examen de suficiencia o de escalafón.</a:t>
            </a:r>
            <a:endParaRPr lang="en-US" sz="690" dirty="0"/>
          </a:p>
          <a:p>
            <a:pPr marL="122682" indent="-122682">
              <a:spcAft>
                <a:spcPts val="414"/>
              </a:spcAft>
              <a:buSzPct val="100000"/>
              <a:buChar char="•"/>
            </a:pPr>
            <a:r>
              <a:rPr lang="en-US" sz="69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la práctica ni el avance se usan para escalafón, ascensos, cambios de puesto o de categoría, evaluación de desempeño, sanciones ni bonos.</a:t>
            </a:r>
            <a:endParaRPr lang="en-US" sz="690" dirty="0"/>
          </a:p>
          <a:p>
            <a:pPr marL="122682" indent="-122682">
              <a:spcAft>
                <a:spcPts val="414"/>
              </a:spcAft>
              <a:buSzPct val="100000"/>
              <a:buChar char="•"/>
            </a:pPr>
            <a:r>
              <a:rPr lang="en-US" sz="69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inventa datos de planta: quedan pendientes de validación.</a:t>
            </a:r>
            <a:endParaRPr lang="en-US" sz="690" dirty="0"/>
          </a:p>
          <a:p>
            <a:pPr marL="122682" indent="-122682">
              <a:spcAft>
                <a:spcPts val="414"/>
              </a:spcAft>
              <a:buSzPct val="100000"/>
              <a:buChar char="•"/>
            </a:pPr>
            <a:r>
              <a:rPr lang="en-US" sz="69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nombre ni ficha; en esta fase, los datos no salen del equipo, se analizan solo por grupo y se borran con un botón.</a:t>
            </a:r>
            <a:endParaRPr lang="en-US" sz="690" dirty="0"/>
          </a:p>
        </p:txBody>
      </p:sp>
      <p:sp>
        <p:nvSpPr>
          <p:cNvPr id="95" name="Shape 92"/>
          <p:cNvSpPr/>
          <p:nvPr/>
        </p:nvSpPr>
        <p:spPr>
          <a:xfrm>
            <a:off x="411480" y="5440680"/>
            <a:ext cx="219456" cy="182880"/>
          </a:xfrm>
          <a:prstGeom prst="rect">
            <a:avLst/>
          </a:prstGeom>
          <a:solidFill>
            <a:srgbClr val="E74C3F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411480" y="5440680"/>
            <a:ext cx="219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7" name="Text 94"/>
          <p:cNvSpPr txBox="1"/>
          <p:nvPr/>
        </p:nvSpPr>
        <p:spPr>
          <a:xfrm>
            <a:off x="722376" y="5440680"/>
            <a:ext cx="625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Y PROPUESTAS</a:t>
            </a:r>
            <a:endParaRPr lang="en-US" sz="1150" dirty="0"/>
          </a:p>
        </p:txBody>
      </p:sp>
      <p:sp>
        <p:nvSpPr>
          <p:cNvPr id="98" name="Text 95"/>
          <p:cNvSpPr txBox="1"/>
          <p:nvPr/>
        </p:nvSpPr>
        <p:spPr>
          <a:xfrm>
            <a:off x="5526176" y="5440680"/>
            <a:ext cx="625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personal de confianza hasta el acuerdo de la CMCAP y la validación de Jurídico Laboral</a:t>
            </a:r>
            <a:endParaRPr lang="en-US" sz="850" dirty="0"/>
          </a:p>
        </p:txBody>
      </p:sp>
      <p:sp>
        <p:nvSpPr>
          <p:cNvPr id="99" name="Shape 96"/>
          <p:cNvSpPr/>
          <p:nvPr/>
        </p:nvSpPr>
        <p:spPr>
          <a:xfrm>
            <a:off x="411480" y="5678424"/>
            <a:ext cx="1335024" cy="585216"/>
          </a:xfrm>
          <a:prstGeom prst="rect">
            <a:avLst/>
          </a:prstGeom>
          <a:solidFill>
            <a:srgbClr val="FAFAF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11480" y="5678424"/>
            <a:ext cx="1335024" cy="182880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521208" y="5678424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12–16 OCT</a:t>
            </a:r>
            <a:endParaRPr lang="en-US" sz="750" dirty="0"/>
          </a:p>
        </p:txBody>
      </p:sp>
      <p:sp>
        <p:nvSpPr>
          <p:cNvPr id="102" name="Text 99"/>
          <p:cNvSpPr txBox="1"/>
          <p:nvPr/>
        </p:nvSpPr>
        <p:spPr>
          <a:xfrm>
            <a:off x="521208" y="5907024"/>
            <a:ext cx="11155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100" dirty="0"/>
          </a:p>
        </p:txBody>
      </p:sp>
      <p:sp>
        <p:nvSpPr>
          <p:cNvPr id="103" name="Text 100"/>
          <p:cNvSpPr txBox="1"/>
          <p:nvPr/>
        </p:nvSpPr>
        <p:spPr>
          <a:xfrm>
            <a:off x="521208" y="6089904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personas, 40 min</a:t>
            </a:r>
            <a:endParaRPr lang="en-US" sz="800" dirty="0"/>
          </a:p>
        </p:txBody>
      </p:sp>
      <p:sp>
        <p:nvSpPr>
          <p:cNvPr id="104" name="Shape 101"/>
          <p:cNvSpPr/>
          <p:nvPr/>
        </p:nvSpPr>
        <p:spPr>
          <a:xfrm>
            <a:off x="1837944" y="5678424"/>
            <a:ext cx="1335024" cy="585216"/>
          </a:xfrm>
          <a:prstGeom prst="rect">
            <a:avLst/>
          </a:prstGeom>
          <a:solidFill>
            <a:srgbClr val="FAFAF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37944" y="5678424"/>
            <a:ext cx="1335024" cy="182880"/>
          </a:xfrm>
          <a:prstGeom prst="rect">
            <a:avLst/>
          </a:prstGeom>
          <a:solidFill>
            <a:srgbClr val="E74C3F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1947672" y="5678424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1947672" y="5907024"/>
            <a:ext cx="11155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</a:t>
            </a:r>
            <a:endParaRPr lang="en-US" sz="1100" dirty="0"/>
          </a:p>
        </p:txBody>
      </p:sp>
      <p:sp>
        <p:nvSpPr>
          <p:cNvPr id="108" name="Text 105"/>
          <p:cNvSpPr txBox="1"/>
          <p:nvPr/>
        </p:nvSpPr>
        <p:spPr>
          <a:xfrm>
            <a:off x="1947672" y="6089904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vs metas</a:t>
            </a:r>
            <a:endParaRPr lang="en-US" sz="800" dirty="0"/>
          </a:p>
        </p:txBody>
      </p:sp>
      <p:sp>
        <p:nvSpPr>
          <p:cNvPr id="109" name="Shape 106"/>
          <p:cNvSpPr/>
          <p:nvPr/>
        </p:nvSpPr>
        <p:spPr>
          <a:xfrm>
            <a:off x="3264408" y="5678424"/>
            <a:ext cx="1335024" cy="585216"/>
          </a:xfrm>
          <a:prstGeom prst="rect">
            <a:avLst/>
          </a:prstGeom>
          <a:solidFill>
            <a:srgbClr val="FAFAF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264408" y="5678424"/>
            <a:ext cx="1335024" cy="182880"/>
          </a:xfrm>
          <a:prstGeom prst="rect">
            <a:avLst/>
          </a:prstGeom>
          <a:solidFill>
            <a:srgbClr val="DC1F62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3374136" y="5678424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CONFIRMAR</a:t>
            </a:r>
            <a:endParaRPr lang="en-US" sz="750" dirty="0"/>
          </a:p>
        </p:txBody>
      </p:sp>
      <p:sp>
        <p:nvSpPr>
          <p:cNvPr id="112" name="Text 109"/>
          <p:cNvSpPr txBox="1"/>
          <p:nvPr/>
        </p:nvSpPr>
        <p:spPr>
          <a:xfrm>
            <a:off x="3374136" y="5907024"/>
            <a:ext cx="11155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100" dirty="0"/>
          </a:p>
        </p:txBody>
      </p:sp>
      <p:sp>
        <p:nvSpPr>
          <p:cNvPr id="113" name="Text 110"/>
          <p:cNvSpPr txBox="1"/>
          <p:nvPr/>
        </p:nvSpPr>
        <p:spPr>
          <a:xfrm>
            <a:off x="3374136" y="6089904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planta</a:t>
            </a:r>
            <a:endParaRPr lang="en-US" sz="800" dirty="0"/>
          </a:p>
        </p:txBody>
      </p:sp>
      <p:sp>
        <p:nvSpPr>
          <p:cNvPr id="114" name="Shape 111"/>
          <p:cNvSpPr/>
          <p:nvPr/>
        </p:nvSpPr>
        <p:spPr>
          <a:xfrm>
            <a:off x="4690872" y="5678424"/>
            <a:ext cx="1335024" cy="585216"/>
          </a:xfrm>
          <a:prstGeom prst="rect">
            <a:avLst/>
          </a:prstGeom>
          <a:solidFill>
            <a:srgbClr val="FAFAF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4690872" y="5678424"/>
            <a:ext cx="1335024" cy="182880"/>
          </a:xfrm>
          <a:prstGeom prst="rect">
            <a:avLst/>
          </a:prstGeom>
          <a:solidFill>
            <a:srgbClr val="BE1682"/>
          </a:solidFill>
          <a:ln/>
        </p:spPr>
      </p:sp>
      <p:sp>
        <p:nvSpPr>
          <p:cNvPr id="116" name="Text 113"/>
          <p:cNvSpPr txBox="1"/>
          <p:nvPr/>
        </p:nvSpPr>
        <p:spPr>
          <a:xfrm>
            <a:off x="4800600" y="5678424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CMCAP</a:t>
            </a:r>
            <a:endParaRPr lang="en-US" sz="750" dirty="0"/>
          </a:p>
        </p:txBody>
      </p:sp>
      <p:sp>
        <p:nvSpPr>
          <p:cNvPr id="117" name="Text 114"/>
          <p:cNvSpPr txBox="1"/>
          <p:nvPr/>
        </p:nvSpPr>
        <p:spPr>
          <a:xfrm>
            <a:off x="4800600" y="5907024"/>
            <a:ext cx="11155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CMCAP</a:t>
            </a:r>
            <a:endParaRPr lang="en-US" sz="1100" dirty="0"/>
          </a:p>
        </p:txBody>
      </p:sp>
      <p:sp>
        <p:nvSpPr>
          <p:cNvPr id="118" name="Text 115"/>
          <p:cNvSpPr txBox="1"/>
          <p:nvPr/>
        </p:nvSpPr>
        <p:spPr>
          <a:xfrm>
            <a:off x="4800600" y="6089904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Sindicalizados</a:t>
            </a:r>
            <a:endParaRPr lang="en-US" sz="800" dirty="0"/>
          </a:p>
        </p:txBody>
      </p:sp>
      <p:sp>
        <p:nvSpPr>
          <p:cNvPr id="119" name="Shape 116"/>
          <p:cNvSpPr/>
          <p:nvPr/>
        </p:nvSpPr>
        <p:spPr>
          <a:xfrm>
            <a:off x="6117336" y="5678424"/>
            <a:ext cx="1335024" cy="585216"/>
          </a:xfrm>
          <a:prstGeom prst="rect">
            <a:avLst/>
          </a:prstGeom>
          <a:solidFill>
            <a:srgbClr val="FAFAF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6117336" y="5678424"/>
            <a:ext cx="1335024" cy="182880"/>
          </a:xfrm>
          <a:prstGeom prst="rect">
            <a:avLst/>
          </a:prstGeom>
          <a:solidFill>
            <a:srgbClr val="7D2E90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6227064" y="5678424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CONFIRMAR</a:t>
            </a:r>
            <a:endParaRPr lang="en-US" sz="750" dirty="0"/>
          </a:p>
        </p:txBody>
      </p:sp>
      <p:sp>
        <p:nvSpPr>
          <p:cNvPr id="122" name="Text 119"/>
          <p:cNvSpPr txBox="1"/>
          <p:nvPr/>
        </p:nvSpPr>
        <p:spPr>
          <a:xfrm>
            <a:off x="6227064" y="5907024"/>
            <a:ext cx="11155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misiones</a:t>
            </a:r>
            <a:endParaRPr lang="en-US" sz="1100" dirty="0"/>
          </a:p>
        </p:txBody>
      </p:sp>
      <p:sp>
        <p:nvSpPr>
          <p:cNvPr id="123" name="Text 120"/>
          <p:cNvSpPr txBox="1"/>
          <p:nvPr/>
        </p:nvSpPr>
        <p:spPr>
          <a:xfrm>
            <a:off x="6227064" y="6089904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críticos</a:t>
            </a:r>
            <a:endParaRPr lang="en-US" sz="800" dirty="0"/>
          </a:p>
        </p:txBody>
      </p:sp>
      <p:sp>
        <p:nvSpPr>
          <p:cNvPr id="124" name="Shape 121"/>
          <p:cNvSpPr/>
          <p:nvPr/>
        </p:nvSpPr>
        <p:spPr>
          <a:xfrm>
            <a:off x="7580376" y="5678424"/>
            <a:ext cx="4197096" cy="585216"/>
          </a:xfrm>
          <a:prstGeom prst="rect">
            <a:avLst/>
          </a:prstGeom>
          <a:solidFill>
            <a:srgbClr val="FAFAFC"/>
          </a:solidFill>
          <a:ln w="9525">
            <a:solidFill>
              <a:srgbClr val="E4E4EA"/>
            </a:solidFill>
            <a:prstDash val="solid"/>
          </a:ln>
        </p:spPr>
      </p:sp>
      <p:sp>
        <p:nvSpPr>
          <p:cNvPr id="125" name="Text 122"/>
          <p:cNvSpPr txBox="1"/>
          <p:nvPr/>
        </p:nvSpPr>
        <p:spPr>
          <a:xfrm>
            <a:off x="7690104" y="5715000"/>
            <a:ext cx="4023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787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PROPUESTAS PARA APROBACIÓN</a:t>
            </a:r>
            <a:endParaRPr lang="en-US" sz="650" dirty="0"/>
          </a:p>
        </p:txBody>
      </p:sp>
      <p:sp>
        <p:nvSpPr>
          <p:cNvPr id="126" name="Text 123"/>
          <p:cNvSpPr txBox="1"/>
          <p:nvPr/>
        </p:nvSpPr>
        <p:spPr>
          <a:xfrm>
            <a:off x="7690104" y="584301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80" b="1" dirty="0">
                <a:solidFill>
                  <a:srgbClr val="F58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lnSpc>
                <a:spcPct val="95000"/>
              </a:lnSpc>
              <a:buNone/>
            </a:pPr>
            <a:r>
              <a:rPr lang="en-US" sz="68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Especialistas de planta para validar datos</a:t>
            </a:r>
            <a:endParaRPr lang="en-US" sz="68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80" b="1" dirty="0">
                <a:solidFill>
                  <a:srgbClr val="E74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lnSpc>
                <a:spcPct val="95000"/>
              </a:lnSpc>
              <a:buNone/>
            </a:pPr>
            <a:r>
              <a:rPr lang="en-US" sz="68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a las reglas de no uso ante la CMCAP</a:t>
            </a:r>
            <a:endParaRPr lang="en-US" sz="68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80" b="1" dirty="0">
                <a:solidFill>
                  <a:srgbClr val="DC1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lnSpc>
                <a:spcPct val="95000"/>
              </a:lnSpc>
              <a:buNone/>
            </a:pPr>
            <a:r>
              <a:rPr lang="en-US" sz="68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Opinión sobre el siguiente riesgo crítico</a:t>
            </a:r>
            <a:endParaRPr lang="en-US" sz="68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80" b="1" dirty="0">
                <a:solidFill>
                  <a:srgbClr val="7D2E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lnSpc>
                <a:spcPct val="95000"/>
              </a:lnSpc>
              <a:buNone/>
            </a:pPr>
            <a:r>
              <a:rPr lang="en-US" sz="680" dirty="0">
                <a:solidFill>
                  <a:srgbClr val="33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en la próxima sesión para resultados</a:t>
            </a:r>
            <a:endParaRPr lang="en-US" sz="680" dirty="0"/>
          </a:p>
        </p:txBody>
      </p:sp>
      <p:pic>
        <p:nvPicPr>
          <p:cNvPr id="127" name="Image 1" descr="/tmp/claude-0/-home-user-HR/2e49314e-011f-5c3a-b225-07e067b46c12/scratchpad/ammx/assets/gradient_ban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6355080"/>
            <a:ext cx="12191695" cy="502920"/>
          </a:xfrm>
          <a:prstGeom prst="rect">
            <a:avLst/>
          </a:prstGeom>
        </p:spPr>
      </p:pic>
      <p:sp>
        <p:nvSpPr>
          <p:cNvPr id="128" name="Text 124"/>
          <p:cNvSpPr txBox="1"/>
          <p:nvPr/>
        </p:nvSpPr>
        <p:spPr>
          <a:xfrm>
            <a:off x="411480" y="63733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prepara a la persona antes del riesgo; la competencia se demuestra en piso y se registra en IMaS. El piloto arranca con 5 personas y sin costo adicional.</a:t>
            </a:r>
            <a:endParaRPr lang="en-US" sz="900" dirty="0"/>
          </a:p>
        </p:txBody>
      </p:sp>
      <p:sp>
        <p:nvSpPr>
          <p:cNvPr id="129" name="Text 125"/>
          <p:cNvSpPr txBox="1"/>
          <p:nvPr/>
        </p:nvSpPr>
        <p:spPr>
          <a:xfrm>
            <a:off x="9052560" y="6373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Propuestas para aprobación · sin compromiso presupuestal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Digital — Capacitación por misiones — One Pager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2026-10-08T15:41:02Z</dcterms:created>
  <dcterms:modified xsi:type="dcterms:W3CDTF">2026-10-08T15:41:02Z</dcterms:modified>
</cp:coreProperties>
</file>