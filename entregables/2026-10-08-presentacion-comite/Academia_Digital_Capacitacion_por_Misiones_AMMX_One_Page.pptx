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arriba, qué cambia y las cifras clave. Al centro, el ciclo de cada paso: los cuatro primeros en la plataforma, los dos últimos en piso. Abajo, las dos misiones, cómo se validaron, las reglas y la ruta con las cuatro propuestas.
POR QUÉ IMPORTA LA VALIDACIÓN: Seguridad tiene veto y lo ejerció; nada se presenta como procedimiento aprobado ni como certificación.
PUNTOS A CERRAR: (1) especialistas de Seguridad, Mantenimiento e Ingeniería de Proceso para el taller de datos de planta; (2) respaldo de las direcciones a las reglas de no uso ante la CMCAP; (3) fecha de la próxima sesión para los resultados.
[POR CONFIRMAR] Fechas del piloto (12–16 oct) e informe (19 oct): tentativas. Alineación con ILUO: propuesta por validar con Seguridad y RH. Hallazgos: 33 = 19 de Alturas + 14 de LOTO y documentos, sin contar 7 de seguimiento ya cerrados.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DESARROLLO · ACADEMIA DIGITAL · PILOTO OCTUBRE 2026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206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Digital: capacitación por misiones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8638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misiones de riesgo crítico · 8 pasos en unos 10 min · 6 documentos de práctica · 5 personas en el piloto</a:t>
            </a:r>
            <a:endParaRPr lang="en-US" sz="1300" dirty="0"/>
          </a:p>
        </p:txBody>
      </p:sp>
      <p:pic>
        <p:nvPicPr>
          <p:cNvPr id="5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"/>
            <a:ext cx="960120" cy="396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115568"/>
            <a:ext cx="11365992" cy="713232"/>
          </a:xfrm>
          <a:prstGeom prst="rect">
            <a:avLst/>
          </a:prstGeom>
          <a:solidFill>
            <a:srgbClr val="F5F5F8"/>
          </a:solidFill>
          <a:ln/>
        </p:spPr>
      </p:sp>
      <p:sp>
        <p:nvSpPr>
          <p:cNvPr id="7" name="Shape 4"/>
          <p:cNvSpPr/>
          <p:nvPr/>
        </p:nvSpPr>
        <p:spPr>
          <a:xfrm>
            <a:off x="512064" y="1207008"/>
            <a:ext cx="45720" cy="530352"/>
          </a:xfrm>
          <a:prstGeom prst="rect">
            <a:avLst/>
          </a:prstGeom>
          <a:solidFill>
            <a:srgbClr val="78787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04088" y="11704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Pasamos de «explorar información» a «completar una misión»: la persona practica las decisiones de una tarea crítica antes de llegar a piso.</a:t>
            </a:r>
            <a:endParaRPr lang="en-US" sz="98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151790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7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prepara (nivel I de ILUO); la competencia se demuestra en piso, con evaluador, y se registra en IMaS y DC-3/SIRCE.</a:t>
            </a:r>
            <a:endParaRPr lang="en-US" sz="770" dirty="0"/>
          </a:p>
        </p:txBody>
      </p:sp>
      <p:sp>
        <p:nvSpPr>
          <p:cNvPr id="10" name="Text 7"/>
          <p:cNvSpPr txBox="1"/>
          <p:nvPr/>
        </p:nvSpPr>
        <p:spPr>
          <a:xfrm>
            <a:off x="8741664" y="120700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741664" y="14630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misiones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9729216" y="120700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729216" y="14630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vistos buenos</a:t>
            </a:r>
            <a:endParaRPr lang="en-US" sz="650" dirty="0"/>
          </a:p>
        </p:txBody>
      </p:sp>
      <p:sp>
        <p:nvSpPr>
          <p:cNvPr id="14" name="Text 11"/>
          <p:cNvSpPr txBox="1"/>
          <p:nvPr/>
        </p:nvSpPr>
        <p:spPr>
          <a:xfrm>
            <a:off x="10716768" y="120700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2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716768" y="14630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adicional</a:t>
            </a:r>
            <a:endParaRPr lang="en-US" sz="650" dirty="0"/>
          </a:p>
        </p:txBody>
      </p:sp>
      <p:sp>
        <p:nvSpPr>
          <p:cNvPr id="16" name="Text 13"/>
          <p:cNvSpPr txBox="1"/>
          <p:nvPr/>
        </p:nvSpPr>
        <p:spPr>
          <a:xfrm>
            <a:off x="8467344" y="1645920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spc="100" kern="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AL 8 DE OCTUBRE DE 2026</a:t>
            </a:r>
            <a:endParaRPr lang="en-US" sz="620" dirty="0"/>
          </a:p>
        </p:txBody>
      </p:sp>
      <p:sp>
        <p:nvSpPr>
          <p:cNvPr id="17" name="Text 14"/>
          <p:cNvSpPr txBox="1"/>
          <p:nvPr/>
        </p:nvSpPr>
        <p:spPr>
          <a:xfrm>
            <a:off x="411480" y="192024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100" kern="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CADA PASO DE UNA MISIÓN</a:t>
            </a:r>
            <a:endParaRPr lang="en-US" sz="780" dirty="0"/>
          </a:p>
        </p:txBody>
      </p:sp>
      <p:sp>
        <p:nvSpPr>
          <p:cNvPr id="18" name="Text 15"/>
          <p:cNvSpPr txBox="1"/>
          <p:nvPr/>
        </p:nvSpPr>
        <p:spPr>
          <a:xfrm>
            <a:off x="5532120" y="1920240"/>
            <a:ext cx="6245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primeros ocurren en la plataforma; los dos últimos, en piso con evaluador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358646" y="2286000"/>
            <a:ext cx="9471660" cy="0"/>
          </a:xfrm>
          <a:prstGeom prst="line">
            <a:avLst/>
          </a:prstGeom>
          <a:noFill/>
          <a:ln w="12700">
            <a:solidFill>
              <a:srgbClr val="E4E4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94054" y="2121408"/>
            <a:ext cx="329184" cy="329184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94054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48056" y="2505456"/>
            <a:ext cx="18211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MUÉSTRAME</a:t>
            </a:r>
            <a:endParaRPr lang="en-US" sz="840" dirty="0"/>
          </a:p>
        </p:txBody>
      </p:sp>
      <p:sp>
        <p:nvSpPr>
          <p:cNvPr id="23" name="Text 20"/>
          <p:cNvSpPr txBox="1"/>
          <p:nvPr/>
        </p:nvSpPr>
        <p:spPr>
          <a:xfrm>
            <a:off x="466344" y="2670048"/>
            <a:ext cx="17846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3D de la tarea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3088386" y="2121408"/>
            <a:ext cx="329184" cy="329184"/>
          </a:xfrm>
          <a:prstGeom prst="ellipse">
            <a:avLst/>
          </a:prstGeom>
          <a:solidFill>
            <a:srgbClr val="EF6A2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088386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342388" y="2505456"/>
            <a:ext cx="18211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EXPLÍCAME</a:t>
            </a:r>
            <a:endParaRPr lang="en-US" sz="840" dirty="0"/>
          </a:p>
        </p:txBody>
      </p:sp>
      <p:sp>
        <p:nvSpPr>
          <p:cNvPr id="27" name="Text 24"/>
          <p:cNvSpPr txBox="1"/>
          <p:nvPr/>
        </p:nvSpPr>
        <p:spPr>
          <a:xfrm>
            <a:off x="2360676" y="2670048"/>
            <a:ext cx="17846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porqué de cada paso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982718" y="2121408"/>
            <a:ext cx="329184" cy="329184"/>
          </a:xfrm>
          <a:prstGeom prst="ellipse">
            <a:avLst/>
          </a:prstGeom>
          <a:solidFill>
            <a:srgbClr val="E74C3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982718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4236720" y="2505456"/>
            <a:ext cx="18211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DÉJAME INTENTAR</a:t>
            </a:r>
            <a:endParaRPr lang="en-US" sz="840" dirty="0"/>
          </a:p>
        </p:txBody>
      </p:sp>
      <p:sp>
        <p:nvSpPr>
          <p:cNvPr id="31" name="Text 28"/>
          <p:cNvSpPr txBox="1"/>
          <p:nvPr/>
        </p:nvSpPr>
        <p:spPr>
          <a:xfrm>
            <a:off x="4255008" y="2670048"/>
            <a:ext cx="17846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decide en el escenario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6877050" y="2121408"/>
            <a:ext cx="329184" cy="329184"/>
          </a:xfrm>
          <a:prstGeom prst="ellipse">
            <a:avLst/>
          </a:prstGeom>
          <a:solidFill>
            <a:srgbClr val="DC1F6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87705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131052" y="2505456"/>
            <a:ext cx="18211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REVÍSAME</a:t>
            </a:r>
            <a:endParaRPr lang="en-US" sz="840" dirty="0"/>
          </a:p>
        </p:txBody>
      </p:sp>
      <p:sp>
        <p:nvSpPr>
          <p:cNvPr id="35" name="Text 32"/>
          <p:cNvSpPr txBox="1"/>
          <p:nvPr/>
        </p:nvSpPr>
        <p:spPr>
          <a:xfrm>
            <a:off x="6149340" y="2670048"/>
            <a:ext cx="17846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inmediata; errores críticos señalados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8771382" y="2121408"/>
            <a:ext cx="329184" cy="329184"/>
          </a:xfrm>
          <a:prstGeom prst="ellipse">
            <a:avLst/>
          </a:prstGeom>
          <a:solidFill>
            <a:srgbClr val="BE168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771382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025384" y="2505456"/>
            <a:ext cx="18211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PISO</a:t>
            </a:r>
            <a:endParaRPr lang="en-US" sz="840" dirty="0"/>
          </a:p>
        </p:txBody>
      </p:sp>
      <p:sp>
        <p:nvSpPr>
          <p:cNvPr id="39" name="Text 36"/>
          <p:cNvSpPr txBox="1"/>
          <p:nvPr/>
        </p:nvSpPr>
        <p:spPr>
          <a:xfrm>
            <a:off x="8043672" y="2670048"/>
            <a:ext cx="17846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Supervisada, con instructor (nivel L)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10665714" y="2121408"/>
            <a:ext cx="329184" cy="329184"/>
          </a:xfrm>
          <a:prstGeom prst="ellipse">
            <a:avLst/>
          </a:prstGeom>
          <a:solidFill>
            <a:srgbClr val="7D2E90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10665714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9919716" y="2505456"/>
            <a:ext cx="18211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endParaRPr lang="en-US" sz="840" dirty="0"/>
          </a:p>
        </p:txBody>
      </p:sp>
      <p:sp>
        <p:nvSpPr>
          <p:cNvPr id="43" name="Text 40"/>
          <p:cNvSpPr txBox="1"/>
          <p:nvPr/>
        </p:nvSpPr>
        <p:spPr>
          <a:xfrm>
            <a:off x="9938004" y="2670048"/>
            <a:ext cx="17846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Demostrada ante evaluador; registro en IMaS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411480" y="3145536"/>
            <a:ext cx="219456" cy="18288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11480" y="31455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722376" y="3145536"/>
            <a:ext cx="625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PRACTICA Y CÓMO SE CUIDA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5526176" y="3145536"/>
            <a:ext cx="625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práctica (DEMO): no sustituye procedimientos, permisos ni supervisión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11480" y="3383280"/>
            <a:ext cx="2745486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57784" y="3511296"/>
            <a:ext cx="1239926" cy="201168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57784" y="3511296"/>
            <a:ext cx="1239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· ALTURAS</a:t>
            </a:r>
            <a:endParaRPr lang="en-US" sz="750" dirty="0"/>
          </a:p>
        </p:txBody>
      </p:sp>
      <p:sp>
        <p:nvSpPr>
          <p:cNvPr id="51" name="Text 48"/>
          <p:cNvSpPr txBox="1"/>
          <p:nvPr/>
        </p:nvSpPr>
        <p:spPr>
          <a:xfrm>
            <a:off x="557784" y="3785616"/>
            <a:ext cx="245287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Alturas</a:t>
            </a:r>
            <a:endParaRPr lang="en-US" sz="1050" dirty="0"/>
          </a:p>
        </p:txBody>
      </p:sp>
      <p:sp>
        <p:nvSpPr>
          <p:cNvPr id="52" name="Text 49"/>
          <p:cNvSpPr txBox="1"/>
          <p:nvPr/>
        </p:nvSpPr>
        <p:spPr>
          <a:xfrm>
            <a:off x="557784" y="3986784"/>
            <a:ext cx="245287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la tarea · 8 pasos</a:t>
            </a:r>
            <a:endParaRPr lang="en-US" sz="780" dirty="0"/>
          </a:p>
        </p:txBody>
      </p:sp>
      <p:sp>
        <p:nvSpPr>
          <p:cNvPr id="53" name="Shape 50"/>
          <p:cNvSpPr/>
          <p:nvPr/>
        </p:nvSpPr>
        <p:spPr>
          <a:xfrm>
            <a:off x="557784" y="4187952"/>
            <a:ext cx="2452878" cy="420624"/>
          </a:xfrm>
          <a:prstGeom prst="rect">
            <a:avLst/>
          </a:prstGeom>
          <a:solidFill>
            <a:srgbClr val="FDF0E4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649224" y="4187952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960120" y="4224528"/>
            <a:ext cx="1959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8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peligros por identificar</a:t>
            </a:r>
            <a:endParaRPr lang="en-US" sz="780" dirty="0"/>
          </a:p>
        </p:txBody>
      </p:sp>
      <p:sp>
        <p:nvSpPr>
          <p:cNvPr id="56" name="Text 53"/>
          <p:cNvSpPr txBox="1"/>
          <p:nvPr/>
        </p:nvSpPr>
        <p:spPr>
          <a:xfrm>
            <a:off x="960120" y="4407408"/>
            <a:ext cx="195910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la energía de la luminaria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557784" y="4663440"/>
            <a:ext cx="2452878" cy="420624"/>
          </a:xfrm>
          <a:prstGeom prst="rect">
            <a:avLst/>
          </a:prstGeom>
          <a:solidFill>
            <a:srgbClr val="FDF0E4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649224" y="4663440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9" name="Text 56"/>
          <p:cNvSpPr txBox="1"/>
          <p:nvPr/>
        </p:nvSpPr>
        <p:spPr>
          <a:xfrm>
            <a:off x="960120" y="4700016"/>
            <a:ext cx="1959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8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inicio</a:t>
            </a:r>
            <a:endParaRPr lang="en-US" sz="780" dirty="0"/>
          </a:p>
        </p:txBody>
      </p:sp>
      <p:sp>
        <p:nvSpPr>
          <p:cNvPr id="60" name="Text 57"/>
          <p:cNvSpPr txBox="1"/>
          <p:nvPr/>
        </p:nvSpPr>
        <p:spPr>
          <a:xfrm>
            <a:off x="960120" y="4882896"/>
            <a:ext cx="195910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rescate disponible, no se inicia</a:t>
            </a:r>
            <a:endParaRPr lang="en-US" sz="700" dirty="0"/>
          </a:p>
        </p:txBody>
      </p:sp>
      <p:sp>
        <p:nvSpPr>
          <p:cNvPr id="61" name="Text 58"/>
          <p:cNvSpPr txBox="1"/>
          <p:nvPr/>
        </p:nvSpPr>
        <p:spPr>
          <a:xfrm>
            <a:off x="557784" y="5138928"/>
            <a:ext cx="24711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planta no hay segundo intento.</a:t>
            </a:r>
            <a:endParaRPr lang="en-US" sz="750" dirty="0"/>
          </a:p>
        </p:txBody>
      </p:sp>
      <p:sp>
        <p:nvSpPr>
          <p:cNvPr id="62" name="Shape 59"/>
          <p:cNvSpPr/>
          <p:nvPr/>
        </p:nvSpPr>
        <p:spPr>
          <a:xfrm>
            <a:off x="3284982" y="3383280"/>
            <a:ext cx="2745486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A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431286" y="3511296"/>
            <a:ext cx="1058875" cy="201168"/>
          </a:xfrm>
          <a:prstGeom prst="roundRect">
            <a:avLst>
              <a:gd name="adj" fmla="val 50000"/>
            </a:avLst>
          </a:prstGeom>
          <a:solidFill>
            <a:srgbClr val="E74C3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431286" y="3511296"/>
            <a:ext cx="10588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· LOTO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3431286" y="3785616"/>
            <a:ext cx="245287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y Etiquetado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3431286" y="3986784"/>
            <a:ext cx="245287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Aislar una banda para mantenimiento · 8 pasos</a:t>
            </a:r>
            <a:endParaRPr lang="en-US" sz="780" dirty="0"/>
          </a:p>
        </p:txBody>
      </p:sp>
      <p:sp>
        <p:nvSpPr>
          <p:cNvPr id="67" name="Shape 64"/>
          <p:cNvSpPr/>
          <p:nvPr/>
        </p:nvSpPr>
        <p:spPr>
          <a:xfrm>
            <a:off x="3431286" y="4187952"/>
            <a:ext cx="2452878" cy="420624"/>
          </a:xfrm>
          <a:prstGeom prst="rect">
            <a:avLst/>
          </a:prstGeom>
          <a:solidFill>
            <a:srgbClr val="FCEAE6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522726" y="4187952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69" name="Text 66"/>
          <p:cNvSpPr txBox="1"/>
          <p:nvPr/>
        </p:nvSpPr>
        <p:spPr>
          <a:xfrm>
            <a:off x="3833622" y="4224528"/>
            <a:ext cx="1959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8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energías por controlar</a:t>
            </a:r>
            <a:endParaRPr lang="en-US" sz="780" dirty="0"/>
          </a:p>
        </p:txBody>
      </p:sp>
      <p:sp>
        <p:nvSpPr>
          <p:cNvPr id="70" name="Text 67"/>
          <p:cNvSpPr txBox="1"/>
          <p:nvPr/>
        </p:nvSpPr>
        <p:spPr>
          <a:xfrm>
            <a:off x="3833622" y="4407408"/>
            <a:ext cx="195910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Eléctrica, gravedad y mecánica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431286" y="4663440"/>
            <a:ext cx="2452878" cy="420624"/>
          </a:xfrm>
          <a:prstGeom prst="rect">
            <a:avLst/>
          </a:prstGeom>
          <a:solidFill>
            <a:srgbClr val="FCEAE6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522726" y="4663440"/>
            <a:ext cx="310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73" name="Text 70"/>
          <p:cNvSpPr txBox="1"/>
          <p:nvPr/>
        </p:nvSpPr>
        <p:spPr>
          <a:xfrm>
            <a:off x="3833622" y="4700016"/>
            <a:ext cx="1959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8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 energía cero</a:t>
            </a:r>
            <a:endParaRPr lang="en-US" sz="780" dirty="0"/>
          </a:p>
        </p:txBody>
      </p:sp>
      <p:sp>
        <p:nvSpPr>
          <p:cNvPr id="74" name="Text 71"/>
          <p:cNvSpPr txBox="1"/>
          <p:nvPr/>
        </p:nvSpPr>
        <p:spPr>
          <a:xfrm>
            <a:off x="3833622" y="4882896"/>
            <a:ext cx="195910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confirmar que nadie está expuesto</a:t>
            </a:r>
            <a:endParaRPr lang="en-US" sz="700" dirty="0"/>
          </a:p>
        </p:txBody>
      </p:sp>
      <p:sp>
        <p:nvSpPr>
          <p:cNvPr id="75" name="Text 72"/>
          <p:cNvSpPr txBox="1"/>
          <p:nvPr/>
        </p:nvSpPr>
        <p:spPr>
          <a:xfrm>
            <a:off x="3431286" y="5138928"/>
            <a:ext cx="24711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74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quien retira solo su candado.</a:t>
            </a:r>
            <a:endParaRPr lang="en-US" sz="750" dirty="0"/>
          </a:p>
        </p:txBody>
      </p:sp>
      <p:sp>
        <p:nvSpPr>
          <p:cNvPr id="76" name="Shape 73"/>
          <p:cNvSpPr/>
          <p:nvPr/>
        </p:nvSpPr>
        <p:spPr>
          <a:xfrm>
            <a:off x="6158484" y="3383280"/>
            <a:ext cx="2745486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A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304788" y="3511296"/>
            <a:ext cx="877824" cy="201168"/>
          </a:xfrm>
          <a:prstGeom prst="roundRect">
            <a:avLst>
              <a:gd name="adj" fmla="val 50000"/>
            </a:avLst>
          </a:prstGeom>
          <a:solidFill>
            <a:srgbClr val="DC1F62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6304788" y="351129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750" dirty="0"/>
          </a:p>
        </p:txBody>
      </p:sp>
      <p:sp>
        <p:nvSpPr>
          <p:cNvPr id="79" name="Text 76"/>
          <p:cNvSpPr txBox="1"/>
          <p:nvPr/>
        </p:nvSpPr>
        <p:spPr>
          <a:xfrm>
            <a:off x="6304788" y="3785616"/>
            <a:ext cx="245287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vistos buenos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6304788" y="3986784"/>
            <a:ext cx="245287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Operaciones y Laboral</a:t>
            </a:r>
            <a:endParaRPr lang="en-US" sz="780" dirty="0"/>
          </a:p>
        </p:txBody>
      </p:sp>
      <p:sp>
        <p:nvSpPr>
          <p:cNvPr id="81" name="Shape 78"/>
          <p:cNvSpPr/>
          <p:nvPr/>
        </p:nvSpPr>
        <p:spPr>
          <a:xfrm>
            <a:off x="6304788" y="4187952"/>
            <a:ext cx="2452878" cy="420624"/>
          </a:xfrm>
          <a:prstGeom prst="rect">
            <a:avLst/>
          </a:prstGeom>
          <a:solidFill>
            <a:srgbClr val="FCE7EF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6396228" y="418795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500" dirty="0"/>
          </a:p>
        </p:txBody>
      </p:sp>
      <p:sp>
        <p:nvSpPr>
          <p:cNvPr id="83" name="Text 80"/>
          <p:cNvSpPr txBox="1"/>
          <p:nvPr/>
        </p:nvSpPr>
        <p:spPr>
          <a:xfrm>
            <a:off x="6835140" y="4224528"/>
            <a:ext cx="18310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8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 Seguridad</a:t>
            </a:r>
            <a:endParaRPr lang="en-US" sz="780" dirty="0"/>
          </a:p>
        </p:txBody>
      </p:sp>
      <p:sp>
        <p:nvSpPr>
          <p:cNvPr id="84" name="Text 81"/>
          <p:cNvSpPr txBox="1"/>
          <p:nvPr/>
        </p:nvSpPr>
        <p:spPr>
          <a:xfrm>
            <a:off x="6835140" y="4407408"/>
            <a:ext cx="183108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Corregidos; veto levantado</a:t>
            </a:r>
            <a:endParaRPr lang="en-US" sz="700" dirty="0"/>
          </a:p>
        </p:txBody>
      </p:sp>
      <p:sp>
        <p:nvSpPr>
          <p:cNvPr id="85" name="Shape 82"/>
          <p:cNvSpPr/>
          <p:nvPr/>
        </p:nvSpPr>
        <p:spPr>
          <a:xfrm>
            <a:off x="6304788" y="4663440"/>
            <a:ext cx="2452878" cy="420624"/>
          </a:xfrm>
          <a:prstGeom prst="rect">
            <a:avLst/>
          </a:prstGeom>
          <a:solidFill>
            <a:srgbClr val="FCE7EF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6396228" y="466344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87" name="Text 84"/>
          <p:cNvSpPr txBox="1"/>
          <p:nvPr/>
        </p:nvSpPr>
        <p:spPr>
          <a:xfrm>
            <a:off x="6835140" y="4700016"/>
            <a:ext cx="18310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8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técnicos y laborales</a:t>
            </a:r>
            <a:endParaRPr lang="en-US" sz="780" dirty="0"/>
          </a:p>
        </p:txBody>
      </p:sp>
      <p:sp>
        <p:nvSpPr>
          <p:cNvPr id="88" name="Text 85"/>
          <p:cNvSpPr txBox="1"/>
          <p:nvPr/>
        </p:nvSpPr>
        <p:spPr>
          <a:xfrm>
            <a:off x="6835140" y="4882896"/>
            <a:ext cx="183108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 Operaciones · 14 laborales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304788" y="5138928"/>
            <a:ext cx="24711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C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veto se usó: detuvo las dos misiones.</a:t>
            </a:r>
            <a:endParaRPr lang="en-US" sz="750" dirty="0"/>
          </a:p>
        </p:txBody>
      </p:sp>
      <p:sp>
        <p:nvSpPr>
          <p:cNvPr id="90" name="Shape 87"/>
          <p:cNvSpPr/>
          <p:nvPr/>
        </p:nvSpPr>
        <p:spPr>
          <a:xfrm>
            <a:off x="9031986" y="3383280"/>
            <a:ext cx="2745486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A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9178290" y="3511296"/>
            <a:ext cx="636422" cy="201168"/>
          </a:xfrm>
          <a:prstGeom prst="roundRect">
            <a:avLst>
              <a:gd name="adj" fmla="val 50000"/>
            </a:avLst>
          </a:prstGeom>
          <a:solidFill>
            <a:srgbClr val="7D2E90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9178290" y="3511296"/>
            <a:ext cx="6364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</a:t>
            </a:r>
            <a:endParaRPr lang="en-US" sz="750" dirty="0"/>
          </a:p>
        </p:txBody>
      </p:sp>
      <p:sp>
        <p:nvSpPr>
          <p:cNvPr id="93" name="Text 90"/>
          <p:cNvSpPr txBox="1"/>
          <p:nvPr/>
        </p:nvSpPr>
        <p:spPr>
          <a:xfrm>
            <a:off x="9178290" y="3785616"/>
            <a:ext cx="245287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plataforma nunca hace</a:t>
            </a:r>
            <a:endParaRPr lang="en-US" sz="1050" dirty="0"/>
          </a:p>
        </p:txBody>
      </p:sp>
      <p:sp>
        <p:nvSpPr>
          <p:cNvPr id="94" name="Text 91"/>
          <p:cNvSpPr txBox="1"/>
          <p:nvPr/>
        </p:nvSpPr>
        <p:spPr>
          <a:xfrm>
            <a:off x="9178290" y="3986784"/>
            <a:ext cx="245287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textos en app, documentos y guion</a:t>
            </a:r>
            <a:endParaRPr lang="en-US" sz="780" dirty="0"/>
          </a:p>
        </p:txBody>
      </p:sp>
      <p:sp>
        <p:nvSpPr>
          <p:cNvPr id="95" name="Text 92"/>
          <p:cNvSpPr txBox="1"/>
          <p:nvPr/>
        </p:nvSpPr>
        <p:spPr>
          <a:xfrm>
            <a:off x="9178290" y="4187952"/>
            <a:ext cx="24528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9794" indent="-129794">
              <a:spcAft>
                <a:spcPts val="438"/>
              </a:spcAft>
              <a:buSzPct val="100000"/>
              <a:buChar char="•"/>
            </a:pPr>
            <a:r>
              <a:rPr lang="en-US" sz="73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certifica, no habilita ni emite DC-3.</a:t>
            </a:r>
            <a:endParaRPr lang="en-US" sz="730" dirty="0"/>
          </a:p>
          <a:p>
            <a:pPr marL="129794" indent="-129794">
              <a:spcAft>
                <a:spcPts val="438"/>
              </a:spcAft>
              <a:buSzPct val="100000"/>
              <a:buChar char="•"/>
            </a:pPr>
            <a:r>
              <a:rPr lang="en-US" sz="73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usa para escalafón, desempeño, sanciones ni bonos.</a:t>
            </a:r>
            <a:endParaRPr lang="en-US" sz="730" dirty="0"/>
          </a:p>
          <a:p>
            <a:pPr marL="129794" indent="-129794">
              <a:spcAft>
                <a:spcPts val="438"/>
              </a:spcAft>
              <a:buSzPct val="100000"/>
              <a:buChar char="•"/>
            </a:pPr>
            <a:r>
              <a:rPr lang="en-US" sz="73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inventa datos de planta: quedan pendientes de validación.</a:t>
            </a:r>
            <a:endParaRPr lang="en-US" sz="730" dirty="0"/>
          </a:p>
          <a:p>
            <a:pPr marL="129794" indent="-129794">
              <a:spcAft>
                <a:spcPts val="438"/>
              </a:spcAft>
              <a:buSzPct val="100000"/>
              <a:buChar char="•"/>
            </a:pPr>
            <a:r>
              <a:rPr lang="en-US" sz="73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nombres; los datos se borran con un botón.</a:t>
            </a:r>
            <a:endParaRPr lang="en-US" sz="730" dirty="0"/>
          </a:p>
        </p:txBody>
      </p:sp>
      <p:sp>
        <p:nvSpPr>
          <p:cNvPr id="96" name="Text 93"/>
          <p:cNvSpPr txBox="1"/>
          <p:nvPr/>
        </p:nvSpPr>
        <p:spPr>
          <a:xfrm>
            <a:off x="9178290" y="5138928"/>
            <a:ext cx="24711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7D2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competencia se registra en IMaS.</a:t>
            </a:r>
            <a:endParaRPr lang="en-US" sz="750" dirty="0"/>
          </a:p>
        </p:txBody>
      </p:sp>
      <p:sp>
        <p:nvSpPr>
          <p:cNvPr id="97" name="Shape 94"/>
          <p:cNvSpPr/>
          <p:nvPr/>
        </p:nvSpPr>
        <p:spPr>
          <a:xfrm>
            <a:off x="411480" y="5440680"/>
            <a:ext cx="219456" cy="182880"/>
          </a:xfrm>
          <a:prstGeom prst="rect">
            <a:avLst/>
          </a:prstGeom>
          <a:solidFill>
            <a:srgbClr val="E74C3F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411480" y="544068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722376" y="5440680"/>
            <a:ext cx="625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Y PROPUESTAS</a:t>
            </a:r>
            <a:endParaRPr lang="en-US" sz="1150" dirty="0"/>
          </a:p>
        </p:txBody>
      </p:sp>
      <p:sp>
        <p:nvSpPr>
          <p:cNvPr id="100" name="Text 97"/>
          <p:cNvSpPr txBox="1"/>
          <p:nvPr/>
        </p:nvSpPr>
        <p:spPr>
          <a:xfrm>
            <a:off x="5526176" y="5440680"/>
            <a:ext cx="625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personal de confianza hasta el acuerdo de la CMCAP</a:t>
            </a:r>
            <a:endParaRPr lang="en-US" sz="850" dirty="0"/>
          </a:p>
        </p:txBody>
      </p:sp>
      <p:sp>
        <p:nvSpPr>
          <p:cNvPr id="101" name="Shape 98"/>
          <p:cNvSpPr/>
          <p:nvPr/>
        </p:nvSpPr>
        <p:spPr>
          <a:xfrm>
            <a:off x="411480" y="5678424"/>
            <a:ext cx="1335024" cy="585216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102" name="Shape 99"/>
          <p:cNvSpPr/>
          <p:nvPr/>
        </p:nvSpPr>
        <p:spPr>
          <a:xfrm>
            <a:off x="411480" y="5678424"/>
            <a:ext cx="1335024" cy="18288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03" name="Text 100"/>
          <p:cNvSpPr txBox="1"/>
          <p:nvPr/>
        </p:nvSpPr>
        <p:spPr>
          <a:xfrm>
            <a:off x="521208" y="567842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OCT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521208" y="5907024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100" dirty="0"/>
          </a:p>
        </p:txBody>
      </p:sp>
      <p:sp>
        <p:nvSpPr>
          <p:cNvPr id="105" name="Text 102"/>
          <p:cNvSpPr txBox="1"/>
          <p:nvPr/>
        </p:nvSpPr>
        <p:spPr>
          <a:xfrm>
            <a:off x="521208" y="608990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personas, 40 min</a:t>
            </a:r>
            <a:endParaRPr lang="en-US" sz="800" dirty="0"/>
          </a:p>
        </p:txBody>
      </p:sp>
      <p:sp>
        <p:nvSpPr>
          <p:cNvPr id="106" name="Shape 103"/>
          <p:cNvSpPr/>
          <p:nvPr/>
        </p:nvSpPr>
        <p:spPr>
          <a:xfrm>
            <a:off x="1837944" y="5678424"/>
            <a:ext cx="1335024" cy="585216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107" name="Shape 104"/>
          <p:cNvSpPr/>
          <p:nvPr/>
        </p:nvSpPr>
        <p:spPr>
          <a:xfrm>
            <a:off x="1837944" y="5678424"/>
            <a:ext cx="1335024" cy="182880"/>
          </a:xfrm>
          <a:prstGeom prst="rect">
            <a:avLst/>
          </a:prstGeom>
          <a:solidFill>
            <a:srgbClr val="E74C3F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947672" y="567842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OCT</a:t>
            </a:r>
            <a:endParaRPr lang="en-US" sz="750" dirty="0"/>
          </a:p>
        </p:txBody>
      </p:sp>
      <p:sp>
        <p:nvSpPr>
          <p:cNvPr id="109" name="Text 106"/>
          <p:cNvSpPr txBox="1"/>
          <p:nvPr/>
        </p:nvSpPr>
        <p:spPr>
          <a:xfrm>
            <a:off x="1947672" y="5907024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</a:t>
            </a:r>
            <a:endParaRPr lang="en-US" sz="1100" dirty="0"/>
          </a:p>
        </p:txBody>
      </p:sp>
      <p:sp>
        <p:nvSpPr>
          <p:cNvPr id="110" name="Text 107"/>
          <p:cNvSpPr txBox="1"/>
          <p:nvPr/>
        </p:nvSpPr>
        <p:spPr>
          <a:xfrm>
            <a:off x="1947672" y="608990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vs metas</a:t>
            </a:r>
            <a:endParaRPr lang="en-US" sz="800" dirty="0"/>
          </a:p>
        </p:txBody>
      </p:sp>
      <p:sp>
        <p:nvSpPr>
          <p:cNvPr id="111" name="Shape 108"/>
          <p:cNvSpPr/>
          <p:nvPr/>
        </p:nvSpPr>
        <p:spPr>
          <a:xfrm>
            <a:off x="3264408" y="5678424"/>
            <a:ext cx="1335024" cy="585216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112" name="Shape 109"/>
          <p:cNvSpPr/>
          <p:nvPr/>
        </p:nvSpPr>
        <p:spPr>
          <a:xfrm>
            <a:off x="3264408" y="5678424"/>
            <a:ext cx="1335024" cy="182880"/>
          </a:xfrm>
          <a:prstGeom prst="rect">
            <a:avLst/>
          </a:prstGeom>
          <a:solidFill>
            <a:srgbClr val="DC1F62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3374136" y="567842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CONFIRMAR</a:t>
            </a:r>
            <a:endParaRPr lang="en-US" sz="750" dirty="0"/>
          </a:p>
        </p:txBody>
      </p:sp>
      <p:sp>
        <p:nvSpPr>
          <p:cNvPr id="114" name="Text 111"/>
          <p:cNvSpPr txBox="1"/>
          <p:nvPr/>
        </p:nvSpPr>
        <p:spPr>
          <a:xfrm>
            <a:off x="3374136" y="5907024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100" dirty="0"/>
          </a:p>
        </p:txBody>
      </p:sp>
      <p:sp>
        <p:nvSpPr>
          <p:cNvPr id="115" name="Text 112"/>
          <p:cNvSpPr txBox="1"/>
          <p:nvPr/>
        </p:nvSpPr>
        <p:spPr>
          <a:xfrm>
            <a:off x="3374136" y="608990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planta</a:t>
            </a:r>
            <a:endParaRPr lang="en-US" sz="800" dirty="0"/>
          </a:p>
        </p:txBody>
      </p:sp>
      <p:sp>
        <p:nvSpPr>
          <p:cNvPr id="116" name="Shape 113"/>
          <p:cNvSpPr/>
          <p:nvPr/>
        </p:nvSpPr>
        <p:spPr>
          <a:xfrm>
            <a:off x="4690872" y="5678424"/>
            <a:ext cx="1335024" cy="585216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117" name="Shape 114"/>
          <p:cNvSpPr/>
          <p:nvPr/>
        </p:nvSpPr>
        <p:spPr>
          <a:xfrm>
            <a:off x="4690872" y="5678424"/>
            <a:ext cx="1335024" cy="182880"/>
          </a:xfrm>
          <a:prstGeom prst="rect">
            <a:avLst/>
          </a:prstGeom>
          <a:solidFill>
            <a:srgbClr val="BE1682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4800600" y="567842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CMCAP</a:t>
            </a:r>
            <a:endParaRPr lang="en-US" sz="750" dirty="0"/>
          </a:p>
        </p:txBody>
      </p:sp>
      <p:sp>
        <p:nvSpPr>
          <p:cNvPr id="119" name="Text 116"/>
          <p:cNvSpPr txBox="1"/>
          <p:nvPr/>
        </p:nvSpPr>
        <p:spPr>
          <a:xfrm>
            <a:off x="4800600" y="5907024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CMCAP</a:t>
            </a:r>
            <a:endParaRPr lang="en-US" sz="1100" dirty="0"/>
          </a:p>
        </p:txBody>
      </p:sp>
      <p:sp>
        <p:nvSpPr>
          <p:cNvPr id="120" name="Text 117"/>
          <p:cNvSpPr txBox="1"/>
          <p:nvPr/>
        </p:nvSpPr>
        <p:spPr>
          <a:xfrm>
            <a:off x="4800600" y="608990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Sindicalizados</a:t>
            </a:r>
            <a:endParaRPr lang="en-US" sz="800" dirty="0"/>
          </a:p>
        </p:txBody>
      </p:sp>
      <p:sp>
        <p:nvSpPr>
          <p:cNvPr id="121" name="Shape 118"/>
          <p:cNvSpPr/>
          <p:nvPr/>
        </p:nvSpPr>
        <p:spPr>
          <a:xfrm>
            <a:off x="6117336" y="5678424"/>
            <a:ext cx="1335024" cy="585216"/>
          </a:xfrm>
          <a:prstGeom prst="rect">
            <a:avLst/>
          </a:prstGeom>
          <a:solidFill>
            <a:srgbClr val="FAFAFC"/>
          </a:solidFill>
          <a:ln/>
        </p:spPr>
      </p:sp>
      <p:sp>
        <p:nvSpPr>
          <p:cNvPr id="122" name="Shape 119"/>
          <p:cNvSpPr/>
          <p:nvPr/>
        </p:nvSpPr>
        <p:spPr>
          <a:xfrm>
            <a:off x="6117336" y="5678424"/>
            <a:ext cx="1335024" cy="182880"/>
          </a:xfrm>
          <a:prstGeom prst="rect">
            <a:avLst/>
          </a:prstGeom>
          <a:solidFill>
            <a:srgbClr val="7D2E90"/>
          </a:solidFill>
          <a:ln/>
        </p:spPr>
      </p:sp>
      <p:sp>
        <p:nvSpPr>
          <p:cNvPr id="123" name="Text 120"/>
          <p:cNvSpPr txBox="1"/>
          <p:nvPr/>
        </p:nvSpPr>
        <p:spPr>
          <a:xfrm>
            <a:off x="6227064" y="567842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CONFIRMAR</a:t>
            </a:r>
            <a:endParaRPr lang="en-US" sz="750" dirty="0"/>
          </a:p>
        </p:txBody>
      </p:sp>
      <p:sp>
        <p:nvSpPr>
          <p:cNvPr id="124" name="Text 121"/>
          <p:cNvSpPr txBox="1"/>
          <p:nvPr/>
        </p:nvSpPr>
        <p:spPr>
          <a:xfrm>
            <a:off x="6227064" y="5907024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misiones</a:t>
            </a:r>
            <a:endParaRPr lang="en-US" sz="1100" dirty="0"/>
          </a:p>
        </p:txBody>
      </p:sp>
      <p:sp>
        <p:nvSpPr>
          <p:cNvPr id="125" name="Text 122"/>
          <p:cNvSpPr txBox="1"/>
          <p:nvPr/>
        </p:nvSpPr>
        <p:spPr>
          <a:xfrm>
            <a:off x="6227064" y="608990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críticos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7580376" y="5678424"/>
            <a:ext cx="4197096" cy="585216"/>
          </a:xfrm>
          <a:prstGeom prst="rect">
            <a:avLst/>
          </a:prstGeom>
          <a:solidFill>
            <a:srgbClr val="FAFAFC"/>
          </a:solidFill>
          <a:ln w="9525">
            <a:solidFill>
              <a:srgbClr val="E4E4EA"/>
            </a:solidFill>
            <a:prstDash val="solid"/>
          </a:ln>
        </p:spPr>
      </p:sp>
      <p:sp>
        <p:nvSpPr>
          <p:cNvPr id="127" name="Text 124"/>
          <p:cNvSpPr txBox="1"/>
          <p:nvPr/>
        </p:nvSpPr>
        <p:spPr>
          <a:xfrm>
            <a:off x="7690104" y="5715000"/>
            <a:ext cx="4023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787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PARA APROBACIÓN</a:t>
            </a:r>
            <a:endParaRPr lang="en-US" sz="650" dirty="0"/>
          </a:p>
        </p:txBody>
      </p:sp>
      <p:sp>
        <p:nvSpPr>
          <p:cNvPr id="128" name="Text 125"/>
          <p:cNvSpPr txBox="1"/>
          <p:nvPr/>
        </p:nvSpPr>
        <p:spPr>
          <a:xfrm>
            <a:off x="7690104" y="58430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de planta para validar datos</a:t>
            </a:r>
            <a:endParaRPr lang="en-US" sz="6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E74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a las reglas de no uso ante la CMCAP</a:t>
            </a:r>
            <a:endParaRPr lang="en-US" sz="6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DC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Opinión sobre el siguiente riesgo crítico</a:t>
            </a:r>
            <a:endParaRPr lang="en-US" sz="6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7D2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en la próxima sesión para resultados</a:t>
            </a:r>
            <a:endParaRPr lang="en-US" sz="680" dirty="0"/>
          </a:p>
        </p:txBody>
      </p:sp>
      <p:pic>
        <p:nvPicPr>
          <p:cNvPr id="129" name="Image 1" descr="/tmp/claude-0/-home-user-HR/2e49314e-011f-5c3a-b225-07e067b46c12/scratchpad/ammx/assets/gradient_ban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6355080"/>
            <a:ext cx="12191695" cy="502920"/>
          </a:xfrm>
          <a:prstGeom prst="rect">
            <a:avLst/>
          </a:prstGeom>
        </p:spPr>
      </p:pic>
      <p:sp>
        <p:nvSpPr>
          <p:cNvPr id="130" name="Text 126"/>
          <p:cNvSpPr txBox="1"/>
          <p:nvPr/>
        </p:nvSpPr>
        <p:spPr>
          <a:xfrm>
            <a:off x="411480" y="6373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prepara a la persona antes del riesgo; la competencia se demuestra en piso y se registra en IMaS. El piloto arranca con 5 personas y sin costo adicional.</a:t>
            </a:r>
            <a:endParaRPr lang="en-US" sz="900" dirty="0"/>
          </a:p>
        </p:txBody>
      </p:sp>
      <p:sp>
        <p:nvSpPr>
          <p:cNvPr id="131" name="Text 127"/>
          <p:cNvSpPr txBox="1"/>
          <p:nvPr/>
        </p:nvSpPr>
        <p:spPr>
          <a:xfrm>
            <a:off x="9052560" y="6373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para aprobación · sin compromiso presupuestal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Digital — Capacitación por misiones — One Pager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2026-10-08T15:38:22Z</dcterms:created>
  <dcterms:modified xsi:type="dcterms:W3CDTF">2026-10-08T15:38:22Z</dcterms:modified>
</cp:coreProperties>
</file>