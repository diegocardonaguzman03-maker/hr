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Objetivo: informar que el piloto de capacitación por misiones arranca y proponer cuatro apoyos del Comité Ejecutivo. Principio rector: la plataforma prepara a la persona; la competencia se demuestra en piso y se registra en IMaS y DC-3/SIRCE.
[POR CONFIRMAR] Fechas del piloto (12 al 16 de octubre): tentativas.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Si el Comité solo ve una lámina, es esta: qué hicimos, cómo lo cuidamos y qué proponemos. Las cuatro propuestas se detallan al cierre.
PUNTOS A CERRAR: (1) Quién de Seguridad, Mantenimiento e Ingeniería de Proceso participa en el taller. (2) Respaldo explícito a las reglas 3, 4 y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El problema no es la falta de cursos: es que en una tarea crítica la asistencia no demuestra que la persona decida bien. La cadena de la derecha muestra hasta dónde llega la plataforma.
[POR CONFIRMAR] Cifras de accidentabilidad de AMMX en trabajo en alturas y control de energía, para sustituir la banda amarilla (las del diseño del proyecto son de un caso ficticio y no se usan aquí).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El primer módulo era para explorar información. Ahora la persona completa una misión con un solo objetivo. El motor es reutilizable: una misión nueva es contenido, no programación.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escena 3D marca en verde lo que la persona ya identificó. En LOTO, la verificación de energía cero exige 5 acciones en orden, incluida confirmar que nadie está expuesto. Los documentos se descargan, pero dicen claramente que son de práctica.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la plataforma en el modelo ILUO evita la confusión más peligrosa: creer que terminar una misión habilita para la tarea. La plataforma solo aporta al nivel I.
PUNTOS A CERRAR: (1) Que Seguridad y RH validen esta alineación.
[POR CONFIRMAR] Alineación con la matriz ILUO (propuesta).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Cada área revisa lo suyo y Seguridad puede detener la liberación. Operaciones pidió precisar la prueba de arranque, porque una banda puede no arrancar por un interbloqueo y dar un falso «energía cero».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Estas reglas están en la plataforma, en los documentos y en el guion del instructor. Las reglas 3 y 4 son las que más le importan al sindicato; por eso el piloto es solo con personal de confianza hasta el acuerdo de la CMCAP.
PUNTOS A CERRAR: (1) Respaldo de las direcciones a las reglas 3, 4 y 5 (propuesta 2).
[POR CONFIRMAR] La política de facultad de detener el trabajo y la protección de quien la ejerce: pendiente de Seguridad y Jurídico Laboral. El material no promete que detenerse nunca se sanciona.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El piloto no evalúa a las personas; evalúa la herramienta. La prueba de 10 segundos mide si alguien sin experiencia sabe por dónde empezar.
[POR CONFIRMAR] Fechas del piloto: 12 al 16 de octubre, informe el 19 de octubre (tentativas).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Dos riesgos de impacto alto tienen probabilidad baja por las reglas del piloto. El de datos de planta es el que más depende del Comité.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Tres condiciones para escalar: datos de planta validados, acuerdo de la CMCAP y publicación interna. Las misiones siguientes ya están en el mapa como «próximamente».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cuatro propuestas. Si el Comité solo puede dar una, la prioridad es la 1: sin especialistas de planta el material no puede dejar de ser práctica.
PUNTOS A CERRAR: (1) Nombres de los especialistas por área. (2) Respaldo a las reglas de no uso. (3) Fecha de la próxima sesión.
[POR CONFIRMAR] Horas de especialistas para el taller (la estimación del diseño del proyecto no se valida para AMMX).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ACADEMIA DIGITAL · PROPUESTA · OCTUBRE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por misiones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Piloto en dos riesgos críticos —Trabajo en Alturas y Bloqueo y Etiquetado (LOTO)— revisado por Seguridad, Operaciones y Relaciones Laborales antes de liberarlo.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misiones de riesgo crítico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por misión, unos 10 min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documentos de práctica (DEMO)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personas en el piloto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Muéstrame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Explícame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Déjame intentar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Revísame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Práctica en piso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Competencia demostrada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Comité Ejecutivo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dictámenes internos de Seguridad, Operativo/Metalurgia y Relaciones Laborales; pruebas de la plataforma al 8 de octubre de 2026.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RESUMEN EJECUTIVO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Lanzamos el piloto de capacitación por misiones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dictámenes internos (oct-2026) y kit de lanzamiento del piloto. Fechas del piloto tentativas.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56362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explorar a completar una misión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325880" y="192938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objetivo, 8 pasos y unos 10 minutos. Primeras misiones: Trabajo en Alturas y LOTO.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74320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743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25880" y="270662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Revisado antes de liberar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307238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Seguridad tiene veto y lo ejerció; Operaciones y Relaciones Laborales dieron su visto bueno con cambios.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886200"/>
            <a:ext cx="566928" cy="566928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25880" y="384962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Práctica, no certificación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21538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emite DC-3 ni sustituye procedimientos; la competencia se demuestra en piso y se registra en IMaS.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5029200"/>
            <a:ext cx="566928" cy="566928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5029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499262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Piloto controlado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535838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personas de confianza, del 12 al 16 de octubre (tentativo), sin costo adicional.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720840" y="1508760"/>
            <a:ext cx="4937760" cy="2697480"/>
          </a:xfrm>
          <a:prstGeom prst="roundRect">
            <a:avLst>
              <a:gd name="adj" fmla="val 2712"/>
            </a:avLst>
          </a:prstGeom>
          <a:solidFill>
            <a:srgbClr val="F4F5F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995160" y="16916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PROPUESTAS PARA APROBACIÓN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995160" y="2075688"/>
            <a:ext cx="4434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Especialistas de planta para validar los datos pendientes.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Respaldo de las direcciones a las reglas de no uso ante la Comisión Mixta de Capacitación (CMCAP).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 opinión sobre el siguiente riesgo crítico.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Espacio en la próxima sesión para los resultados del piloto.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995160" y="3858768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implican compromiso presupuestal.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720840" y="4343400"/>
            <a:ext cx="4937760" cy="1874520"/>
          </a:xfrm>
          <a:prstGeom prst="roundRect">
            <a:avLst>
              <a:gd name="adj" fmla="val 3902"/>
            </a:avLst>
          </a:prstGeom>
          <a:solidFill>
            <a:srgbClr val="F4F5F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995160" y="4526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ESTADO AL 8 DE OCTUBRE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995160" y="4910328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Seguridad: veto levantado en las dos misiones.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Operativo / Metalurgia: visto bueno firme.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Relaciones Laborales: validado para personal de confianza.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Pruebas: 228 unitarias y 17 de 17 en navegador.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NECESIDAD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riesgos críticos, asistir no demuestra competencia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marco de diseño de la Academia Digital. Las cifras de accidentabilidad se confirman con Seguridad antes de circular.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Alturas y energía peligrosa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error puede causar una lesión grave o la muerte: en planta no hay segundo intento.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578608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72491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542032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asistencia no es evidencia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2907792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registro de asistencia no muestra si la persona sabe decidir bien en la tarea crítica.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60273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749040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56616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Turnos largos, poco tiempo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3931920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práctica debe ser corta y caber en un turno, sin sacar a la persona de la operación.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4626864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4773168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4590288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Trazabilidad exigible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4956048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ISO 45001 y STPS (DC-3/SIRCE) piden evidencia de competencia, no solo de asistencia.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548640" y="5715000"/>
            <a:ext cx="5669280" cy="41148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40080" y="5715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0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Cifras de AMMX en alturas y LOTO, con Seguridad.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6583680" y="1463040"/>
            <a:ext cx="507492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6858000" y="164592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PROYECTO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7114032" y="2258568"/>
            <a:ext cx="0" cy="246888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6949440" y="2075688"/>
            <a:ext cx="329184" cy="329184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7424928" y="20482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Conocer el riesgo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6949440" y="2569464"/>
            <a:ext cx="329184" cy="329184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424928" y="25420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 cómo se hace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6949440" y="3063240"/>
            <a:ext cx="329184" cy="329184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7424928" y="303580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Decidir en un escenario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6949440" y="3557016"/>
            <a:ext cx="329184" cy="329184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7424928" y="35295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Recibir retroalimentación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6949440" y="4050792"/>
            <a:ext cx="329184" cy="329184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424928" y="40233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Practicar en piso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6949440" y="4544568"/>
            <a:ext cx="329184" cy="329184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39" name="Text 32"/>
          <p:cNvSpPr txBox="1"/>
          <p:nvPr/>
        </p:nvSpPr>
        <p:spPr>
          <a:xfrm>
            <a:off x="7424928" y="451713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Demostrar competencia</a:t>
            </a:r>
            <a:endParaRPr lang="en-US" sz="1250" dirty="0"/>
          </a:p>
        </p:txBody>
      </p:sp>
      <p:sp>
        <p:nvSpPr>
          <p:cNvPr id="40" name="Text 33"/>
          <p:cNvSpPr txBox="1"/>
          <p:nvPr/>
        </p:nvSpPr>
        <p:spPr>
          <a:xfrm>
            <a:off x="6858000" y="5148072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plataforma cubre los cuatro primeros pasos; los dos últimos ocurren en piso, con evaluador.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SOLUCIÓN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explorar información a completar una misión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Academia Digital, versión 2.1 (modo DEMO). Pantalla de inicio de la misión de Trabajo en Alturas.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2850642" cy="566928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55448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Muéstrame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231136"/>
            <a:ext cx="26860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Demostración en 3D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326130" y="1554480"/>
            <a:ext cx="2850642" cy="566928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490722" y="155448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Explícame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71850" y="2231136"/>
            <a:ext cx="26860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porqué de cada paso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103620" y="1554480"/>
            <a:ext cx="2850642" cy="566928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8212" y="155448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Déjame intentar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49340" y="2231136"/>
            <a:ext cx="26860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persona decide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8881110" y="1554480"/>
            <a:ext cx="2850642" cy="566928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045702" y="155448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Revísame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926830" y="2231136"/>
            <a:ext cx="26860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Retroalimentación inmediata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2926080"/>
            <a:ext cx="5577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4470" indent="-204470">
              <a:spcAft>
                <a:spcPts val="69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objetivo por misión: 8 pasos y unos 10 minutos.</a:t>
            </a:r>
            <a:endParaRPr lang="en-US" sz="1150" dirty="0"/>
          </a:p>
          <a:p>
            <a:pPr marL="204470" indent="-204470">
              <a:spcAft>
                <a:spcPts val="69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pantalla solo lo necesario: misión, paso, escena y avance.</a:t>
            </a:r>
            <a:endParaRPr lang="en-US" sz="1150" dirty="0"/>
          </a:p>
          <a:p>
            <a:pPr marL="204470" indent="-204470">
              <a:spcAft>
                <a:spcPts val="69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tipos de interacción: observar, identificar, confirmar, inspeccionar, elegir, ordenar, decidir y demostrar.</a:t>
            </a:r>
            <a:endParaRPr lang="en-US" sz="1150" dirty="0"/>
          </a:p>
          <a:p>
            <a:pPr marL="204470" indent="-204470">
              <a:spcAft>
                <a:spcPts val="69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Errores críticos señalados: «en planta no hay segundo intento».</a:t>
            </a:r>
            <a:endParaRPr lang="en-US" sz="1150" dirty="0"/>
          </a:p>
          <a:p>
            <a:pPr marL="204470" indent="-204470">
              <a:spcAft>
                <a:spcPts val="69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puntos, medallas ni rankings.</a:t>
            </a:r>
            <a:endParaRPr lang="en-US" sz="1150" dirty="0"/>
          </a:p>
        </p:txBody>
      </p:sp>
      <p:pic>
        <p:nvPicPr>
          <p:cNvPr id="20" name="Image 1" descr="/tmp/claude-0/-home-user-HR/2e49314e-011f-5c3a-b225-07e067b46c12/scratchpad/shots/a-inic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880360"/>
            <a:ext cx="5074920" cy="31718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SOLUCIÓN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Dos misiones de riesgo crítico, con sus documentos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Academia Digital, versión 2.1 (modo DEMO). Capturas de las misiones en curso.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tmp/claude-0/-home-user-HR/2e49314e-011f-5c3a-b225-07e067b46c12/scratchpad/shots/e-altur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349240" cy="334327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8463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Trabajo en Alturas · 01 Preparación de la tarea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138928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Identificar los peligros, confirmar que la energía de la luminaria está aislada y poner tu candado, confirmar el rescate, inspeccionar el arnés y elegir un anclaje designado.</a:t>
            </a:r>
            <a:endParaRPr lang="en-US" sz="950" dirty="0"/>
          </a:p>
        </p:txBody>
      </p:sp>
      <p:pic>
        <p:nvPicPr>
          <p:cNvPr id="10" name="Image 2" descr="/tmp/claude-0/-home-user-HR/2e49314e-011f-5c3a-b225-07e067b46c12/scratchpad/shots/f-lot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349240" cy="334327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309360" y="48463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· 01 Aislar un equipo para mantenimiento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6309360" y="5138928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Identificar las energías de una banda, entender por qué un paro no es un aislamiento, poner candado y etiqueta, verificar energía cero y retirar solo tu candado.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5779008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Menú de Procedimientos: 6 PDF de práctica (instrucción de trabajo, manual operativo y checklist por misión), marcados DEMO.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MODELO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plataforma prepara; la competencia se demuestra en piso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modelo ILUO (RoadMap_Habilitación_Modelo_ILUO). Alineación propuesta por Capacitación y Desarrollo.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11109960" cy="2148840"/>
          </a:xfrm>
          <a:prstGeom prst="roundRect">
            <a:avLst>
              <a:gd name="adj" fmla="val 3404"/>
            </a:avLst>
          </a:prstGeom>
          <a:solidFill>
            <a:srgbClr val="F4F5F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64592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DÓNDE ENTRA LA PLATAFORMA EN ILUO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22960" y="2194560"/>
            <a:ext cx="502920" cy="502920"/>
          </a:xfrm>
          <a:prstGeom prst="ellipse">
            <a:avLst/>
          </a:prstGeom>
          <a:solidFill>
            <a:srgbClr val="A8A29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57860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Misiones de la Academia Digital (este piloto)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520440" y="2194560"/>
            <a:ext cx="502920" cy="502920"/>
          </a:xfrm>
          <a:prstGeom prst="ellipse">
            <a:avLst/>
          </a:prstGeom>
          <a:solidFill>
            <a:srgbClr val="C8860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2044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16052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160520" y="257860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Práctica supervisada en piso, con instructor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17920" y="219456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21792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858000" y="257860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autónoma, habilitada por evaluador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8915400" y="2194560"/>
            <a:ext cx="502920" cy="502920"/>
          </a:xfrm>
          <a:prstGeom prst="ellipse">
            <a:avLst/>
          </a:prstGeom>
          <a:solidFill>
            <a:srgbClr val="5B1A6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91540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55548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9555480" y="257860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 a otros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8640" y="374904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4F5F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2960" y="3931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 QUE HACE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27024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Introduce el riesgo y la lógica segura de la tarea.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Practica decisiones en un escenario 3D.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 retroalimentación inmediata y explica el porqué.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Marca los errores críticos.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172200" y="374904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4F5F9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446520" y="3931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2A8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 QUE NO HACE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46520" y="427024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certifica ni habilita para la tarea.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emite DC-3 ni registra en IMaS.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cambia el nivel ILUO de nadie.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sustituye procedimientos, permisos ni supervisión.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48640" y="5833872"/>
            <a:ext cx="11109960" cy="384048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40080" y="5833872"/>
            <a:ext cx="10927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0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alineación con ILUO es una propuesta; se valida con Seguridad y RH antes de usarla en la matriz de competencias.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VALIDACIÓN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Nada se libera sin tres vistos buenos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dictámenes internos de Seguridad, Operativo/Metalurgia y Relaciones Laborales; pruebas automatizadas (oct-2026).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1924812" cy="50292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508760"/>
            <a:ext cx="159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Diseño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00300" y="1508760"/>
            <a:ext cx="1924812" cy="50292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564892" y="1508760"/>
            <a:ext cx="159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Seguridad (veto)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251960" y="1508760"/>
            <a:ext cx="1924812" cy="50292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16552" y="1508760"/>
            <a:ext cx="159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Operativo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103620" y="1508760"/>
            <a:ext cx="1924812" cy="50292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8212" y="1508760"/>
            <a:ext cx="159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Rel. Laborales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955280" y="1508760"/>
            <a:ext cx="1924812" cy="50292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119872" y="1508760"/>
            <a:ext cx="159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9806940" y="1508760"/>
            <a:ext cx="1924812" cy="50292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971532" y="1508760"/>
            <a:ext cx="159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Decisión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109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246120"/>
                <a:gridCol w="5760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Área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Dictamen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se corrigió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Seguridad (veto)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Veto levantado en las dos misiones; nada abierto que condicione el piloto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Alturas: 19 hallazgos y 2 de seguimiento (queda 1 mejora menor). LOTO y documentos: 14 y 5, todos cerrados.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Operativo / Metalurgia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Visto bueno firme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 cambios (3 altos): prueba de arranque válida, energías de una banda real y restablecer el contrapeso antes de retirar el candado.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Relaciones Laborales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Validado con cambios para personal de confianza; sindicalizados: pendiente CMCAP y Jurídico Laboral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 cambios: aviso de no uso, firmas de práctica sin nombre real, canal alterno a Seguridad Industrial y borrado completo de datos.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Calidad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verde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228 pruebas unitarias y 17 de 17 en navegador, sin errores de consola.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48640" y="5760720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veto de Seguridad no fue un trámite: detuvo las dos misiones hasta corregir.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VALIDACIÓN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Seis reglas que el material nunca rompe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textos validados por Seguridad y Relaciones Laborales; son los mismos de la plataforma y de los documentos.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3575304" cy="2240280"/>
          </a:xfrm>
          <a:prstGeom prst="roundRect">
            <a:avLst>
              <a:gd name="adj" fmla="val 3265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91640"/>
            <a:ext cx="457200" cy="45720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8308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86000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inventa datos de planta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61488"/>
            <a:ext cx="32095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Límites, parámetros, interbloqueos y secuencias del equipo quedan como «pendiente de validación de planta», con su responsable.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315968" y="1508760"/>
            <a:ext cx="3575304" cy="2240280"/>
          </a:xfrm>
          <a:prstGeom prst="roundRect">
            <a:avLst>
              <a:gd name="adj" fmla="val 3265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98848" y="169164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65776" y="178308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C6A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98848" y="2286000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Práctica, no procedimiento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98848" y="2761488"/>
            <a:ext cx="32095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Todo es DEMO, con aviso permanente. No sustituye procedimientos, permisos, supervisión ni requisitos de seguridad.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83296" y="1508760"/>
            <a:ext cx="3575304" cy="2240280"/>
          </a:xfrm>
          <a:prstGeom prst="roundRect">
            <a:avLst>
              <a:gd name="adj" fmla="val 3265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66176" y="169164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33104" y="178308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66176" y="2286000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certifica ni habilita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66176" y="2761488"/>
            <a:ext cx="32095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es constancia DC-3 ni examen de suficiencia o de escalafón. La autorización y la evaluación de competencia las otorga la planta.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575304" cy="2240280"/>
          </a:xfrm>
          <a:prstGeom prst="roundRect">
            <a:avLst>
              <a:gd name="adj" fmla="val 3265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EA345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evalúa a la persona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095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 la práctica ni el avance se usan para escalafón, ascensos, cambios de puesto o de categoría, evaluación de desempeño, sanciones ni bonos.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315968" y="3886200"/>
            <a:ext cx="3575304" cy="2240280"/>
          </a:xfrm>
          <a:prstGeom prst="roundRect">
            <a:avLst>
              <a:gd name="adj" fmla="val 3265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98848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65776" y="416052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DB225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98848" y="4663440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Privacidad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98848" y="5138928"/>
            <a:ext cx="32095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nombre ni número de ficha. En esta fase, los datos se quedan en el equipo, se analizan solo por grupo y se borran con un botón.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83296" y="3886200"/>
            <a:ext cx="3575304" cy="2240280"/>
          </a:xfrm>
          <a:prstGeom prst="roundRect">
            <a:avLst>
              <a:gd name="adj" fmla="val 3265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66176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833104" y="416052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C8136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 6</a:t>
            </a:r>
            <a:endParaRPr lang="en-US" sz="800" dirty="0"/>
          </a:p>
        </p:txBody>
      </p:sp>
      <p:sp>
        <p:nvSpPr>
          <p:cNvPr id="35" name="Text 32"/>
          <p:cNvSpPr txBox="1"/>
          <p:nvPr/>
        </p:nvSpPr>
        <p:spPr>
          <a:xfrm>
            <a:off x="8266176" y="4663440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Detente y avisa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8266176" y="5138928"/>
            <a:ext cx="32095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algo no se cumple: avisa al supervisor. Si no atiende o pide continuar: a Seguridad Industrial.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PILOTO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Piloto: 5 personas, 40 minutos, sin instrucciones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kit de lanzamiento del piloto (oct-2026). Metas = supuestos de diseño; se ajustan con los resultados.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5120640" cy="4160520"/>
          </a:xfrm>
          <a:prstGeom prst="roundRect">
            <a:avLst>
              <a:gd name="adj" fmla="val 1758"/>
            </a:avLst>
          </a:prstGeom>
          <a:solidFill>
            <a:srgbClr val="F4F5F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CÓMO SE CORRE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029968"/>
            <a:ext cx="4617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Sesión individual: el instructor observa sin explicar; un observador de Seguridad está en la sala.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Alturas → LOTO → buscar el checklist de LOTO → entrevista.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el supervisor del participante; resultados por código, sin nombres.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Participación voluntaria y dentro de la jornada; se evalúa la herramienta, no a la persona.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Los datos se borran frente a la persona al terminar.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costo adicional: sala, equipos y horas internas.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463040"/>
          <a:ext cx="5715000" cy="914400"/>
        </p:xfrm>
        <a:graphic>
          <a:graphicData uri="http://schemas.openxmlformats.org/drawingml/2006/table">
            <a:tbl>
              <a:tblPr/>
              <a:tblGrid>
                <a:gridCol w="4343400"/>
                <a:gridCol w="13716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medimos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Empieza en 10 s o menos sin ayuda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de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Sabe en qué paso va y qué hacer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4 de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 recupera de un error y entiende por qué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4 de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Encuentra y descarga el checklist de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4 de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Distingue práctica de procedimiento de planta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de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Utilidad percibida (escala 1 a 5)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4.2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Hallazgos de seguridad sin aclarar al cierre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48640" y="5715000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detiene si el mismo hallazgo de seguridad aparece en 2 personas o si alguien cree que la misión lo autoriza a hacer la tarea.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RIESGOS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Riesgos del piloto y cómo los mitigamos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análisis de riesgos del piloto, revisado por Seguridad y Relaciones Laborales (oct-2026).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25880"/>
                <a:gridCol w="1097280"/>
                <a:gridCol w="4480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Riesgo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Probabilidad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Impacto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Mitigación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Confundir la práctica con un procedimiento o con una autorización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Aviso DEMO, guion del instructor y criterio de paro.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Entra personal sindicalizable sin acuerdo de la CMCAP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Filtro por puesto con visto bueno de Relaciones Laborales.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 percibe como evaluación o vigilancia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supervisor, sin nombres y con borrado frente a la persona.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Faltan datos de planta para escalar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Taller con especialistas de planta (propuesta 1).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 técnica el día de la sesión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 de respaldo y prueba previa en la red de planta.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Acceso público al material de prueba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Repositorio privado y publicación solo en la intranet (decidido).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Los PDF de práctica circulan fuera del piloto y se usan en planta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 DEMO, sin copias impresas; Seguridad recuerda que solo vale el formato aprobado.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48640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riesgo de los datos de planta depende del Comité Ejecutivo: sin especialistas, el material no deja de ser DEMO.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RUTA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 piloto a la operación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posteriores al informe: por confirmar con las áreas.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78308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60020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05740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Piloto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51460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12–16 oct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60020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05740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Informe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51460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 oct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60020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05740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Datos de planta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51460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60020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05740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Comisión Mixta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51460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según calendario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60020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05740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Nuevas misiones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51460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60020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05740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Escalar en la intranet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51460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246120"/>
            <a:ext cx="3575304" cy="2194560"/>
          </a:xfrm>
          <a:prstGeom prst="roundRect">
            <a:avLst>
              <a:gd name="adj" fmla="val 3333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731520" y="3429000"/>
            <a:ext cx="457200" cy="45720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298448" y="352044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CONDICIÓN 1</a:t>
            </a:r>
            <a:endParaRPr lang="en-US" sz="800" dirty="0"/>
          </a:p>
        </p:txBody>
      </p:sp>
      <p:sp>
        <p:nvSpPr>
          <p:cNvPr id="35" name="Text 32"/>
          <p:cNvSpPr txBox="1"/>
          <p:nvPr/>
        </p:nvSpPr>
        <p:spPr>
          <a:xfrm>
            <a:off x="731520" y="4023360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Validación de planta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731520" y="4498848"/>
            <a:ext cx="32095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Seguridad, Mantenimiento e Ingeniería de Proceso completan los datos pendientes. El estado DEMO solo se quita con procedimiento aprobado.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315968" y="3246120"/>
            <a:ext cx="3575304" cy="2194560"/>
          </a:xfrm>
          <a:prstGeom prst="roundRect">
            <a:avLst>
              <a:gd name="adj" fmla="val 3333"/>
            </a:avLst>
          </a:prstGeom>
          <a:solidFill>
            <a:srgbClr val="F4F5F9"/>
          </a:solidFill>
          <a:ln/>
        </p:spPr>
      </p:sp>
      <p:sp>
        <p:nvSpPr>
          <p:cNvPr id="38" name="Shape 35"/>
          <p:cNvSpPr/>
          <p:nvPr/>
        </p:nvSpPr>
        <p:spPr>
          <a:xfrm>
            <a:off x="4498848" y="342900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065776" y="352044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EA345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CONDICIÓN 2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498848" y="4023360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Personal sindicalizado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4498848" y="4498848"/>
            <a:ext cx="32095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Propuesta a la CMCAP con Relaciones Laborales y Jurídico Laboral. Mientras tanto, solo personal de confianza.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8083296" y="3246120"/>
            <a:ext cx="3575304" cy="2194560"/>
          </a:xfrm>
          <a:prstGeom prst="roundRect">
            <a:avLst>
              <a:gd name="adj" fmla="val 3333"/>
            </a:avLst>
          </a:prstGeom>
          <a:solidFill>
            <a:srgbClr val="F4F5F9"/>
          </a:solidFill>
          <a:ln/>
        </p:spPr>
      </p:sp>
      <p:sp>
        <p:nvSpPr>
          <p:cNvPr id="43" name="Shape 40"/>
          <p:cNvSpPr/>
          <p:nvPr/>
        </p:nvSpPr>
        <p:spPr>
          <a:xfrm>
            <a:off x="8266176" y="3429000"/>
            <a:ext cx="457200" cy="45720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833104" y="352044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AA058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CONDICIÓN 3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8266176" y="4023360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Siguientes misiones</a:t>
            </a:r>
            <a:endParaRPr lang="en-US" sz="1250" dirty="0"/>
          </a:p>
        </p:txBody>
      </p:sp>
      <p:sp>
        <p:nvSpPr>
          <p:cNvPr id="46" name="Text 43"/>
          <p:cNvSpPr txBox="1"/>
          <p:nvPr/>
        </p:nvSpPr>
        <p:spPr>
          <a:xfrm>
            <a:off x="8266176" y="4498848"/>
            <a:ext cx="32095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Ya diseñadas: Alturas 02 a 04 y LOTO 02 a 03. Riesgos nuevos posibles: espacios confinados y equipo móvil.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PROPUESTAS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Propuestas para aprobación del Comité Ejecutivo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Propuestas para aprobación; no implican compromiso presupuestal. Horas de especialistas: estimación por confirmar con las áreas.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Especialistas de planta para validar datos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Seguridad, Mantenimiento e Ingeniería de Proceso asignan especialistas al taller de validación.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Respaldo a las reglas de no uso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Las direcciones respaldan las reglas 3, 4 y 5 para que la empresa las sostenga en la CMCAP.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Opinión sobre el siguiente riesgo crítico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Continuar Alturas o LOTO, o abrir espacios confinados o equipo móvil, con el informe del piloto.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Espacio en la próxima sesión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 presentar los resultados del piloto y la recomendación de escalamiento.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Academia Digital — Capacitación por misiones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2026-10-08T15:36:14Z</dcterms:created>
  <dcterms:modified xsi:type="dcterms:W3CDTF">2026-10-08T15:36:14Z</dcterms:modified>
</cp:coreProperties>
</file>