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Objetivo del curso: Maniobrar con las 5 reglas de oro y mantener el transformador de 140 MVA por aceite, gases y pruebas. Principio rector: Sin licencia de maniobra, sin 0 V verificado y sin tierras visibles, nadie toca.
PUNTOS A CERRAR: Presentar a los participantes, el objetivo y la ruta de certificación (teoría → OJT → evaluación práctica).
[POR CONFIRMAR] Voltaje primario del transformador (34.5 kV supuesto) y estudio de arc flash · Límites de temperatura, megger e intervalos de OLTC e interruptor con el OEM · Compartimento de aceite del OLTC separado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Leer cada objetivo como una conducta observable que se evaluará en campo.
PUNTOS A CERRAR: Confirmar que cada participante sabe en qué rol ejecutará el proceso.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R = ejecuta · A = dueño y responsable final · C = consultado · I = informado.
PUNTOS A CERRAR: Cada participante identifica su renglón y a quién escala.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Recorrer el flujo de izquierda a derecha; señalar las compuertas de decisión.
PUNTOS A CERRAR: Qué pasa si una condición previa no se cumple: no se avanza.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Usar la figura para ubicar cada componente en planta.
PUNTOS A CERRAR: Pedir a un participante que explique la figura con sus palabras.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La columna resaltada es lo que se verifica ANTES de operar.
PUNTOS A CERRAR: Equipo que no pasa la verificación = no se opera; se reporta.
[POR CONFIRMAR] Especificaciones marcadas en la tabla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Leer cada renglón: objetivo, rango normal, alarma y la acción (columna resaltada).
PUNTOS A CERRAR: Ejercicio: dar un valor fuera de rango y pedir la acción correcta.
[POR CONFIRMAR] Primario 34.5 kV [Supuesto]. Límites de temperatura, megger ≥ 1,000 MΩ e intervalos de OLTC e interruptor: [Validar con OEM / Ingeniería de Mantenimiento].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Los controles con ★ son críticos: si fallan puede haber una fatalidad. Se evalúan en la certificación.
PUNTOS A CERRAR: Cualquier persona puede y debe detener el trabajo si un control crítico no está.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Relacionar cada variable con el defecto que causa aguas abajo.
PUNTOS A CERRAR: Quién registra cada variable y dónde.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Leer cada paso y demostrar en campo o simulador los pasos ★ (renglones resaltados).
PUNTOS A CERRAR: Los pasos ★ no se omiten ni se cambian de orden.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Leer cada paso y demostrar en campo o simulador los pasos ★ (renglones resaltados).
PUNTOS A CERRAR: Los pasos ★ no se omiten ni se cambian de orden.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Leer cada paso y demostrar en campo o simulador los pasos ★ (renglones resaltados).
PUNTOS A CERRAR: Los pasos ★ no se omiten ni se cambian de orden.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Practicar cada renglón como simulacro de mesa: síntoma → acción → a quién avisar.
PUNTOS A CERRAR: Nadie improvisa: si no está aquí, se detiene y se escala al supervisor.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Nivel requerido: O (Dominio, Optimización e Instrucción). La evaluación es práctica, ante evaluador certificado, sobre los pasos ★.
PUNTOS A CERRAR: Quien no demuestra todos los pasos ★ queda "aún no competente" y repite OJT dirigido.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Explicar la ruta completa y los tiempos.
PUNTOS A CERRAR: Aclarar que la evaluación no es sanción: es la evidencia de que la persona puede trabajar segura.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RESPUESTAS:
1) b) Desconectar, bloquear, 0 V, tierra, zona — Desconectar, prevenir reconexión, verificar ausencia de tensión, aterrizar y cortocircuitar, delimitar la zona.
2) b) Fuente conocida, 3 fases, fuente — Se prueba en fuente conocida antes y después para confirmar que el detector funciona.
3) b) No energizar y secar — PI &lt; 1.25 es rechazo: no se energiza; se seca y se diagnostica. Objetivo ≥ 2.0.
4) b) No re-energizar; DGA urgente — Buchholz o 87T indican falla interna: no se re-energiza hasta DGA y pruebas; avisar a C-12, C-10 y C-05.
5) b) Número retirado = número colocado — Se cuentan contra el registro: una tierra olvidada provoca un cortocircuito al energizar.
CÓMO EXPLICARLA: dar 5 minutos; revisar en grupo. PUNTOS A CERRAR: mínimo 4 de 5 correctas para pasar a OJT.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Cerrar con las reglas que no se negocian; cada participante repite la regla más importante para su rol.
PUNTOS A CERRAR: Agendar OJT con el supervisor y el evaluador.
[POR CONFIRMAR] Voltaje primario del transformador (34.5 kV supuesto) y estudio de arc flash · Límites de temperatura, megger e intervalos de OLTC e interruptor con el OEM · Compartimento de aceite del OLTC separado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HR/2e49314e-011f-5c3a-b225-07e067b46c12/scratchpad/ammx/assets/am_logo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20040"/>
            <a:ext cx="960120" cy="39652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9144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CAPACITACIÓN TÉCNICA · MANTENIMIENTO · MM-EAF-04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298448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Transformador y MT</a:t>
            </a:r>
            <a:endParaRPr lang="en-US" sz="36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2286000"/>
            <a:ext cx="7680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Maniobrar con las 5 reglas de oro y mantener el transformador de 140 MVA por aceite, gases y pruebas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548640" y="3520440"/>
            <a:ext cx="1828800" cy="1417320"/>
          </a:xfrm>
          <a:prstGeom prst="roundRect">
            <a:avLst>
              <a:gd name="adj" fmla="val 5161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85800" y="361188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40 h</a:t>
            </a:r>
            <a:endParaRPr lang="en-US" sz="320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429768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teoría (S-20 maniobra MT)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2560320" y="3520440"/>
            <a:ext cx="1828800" cy="1417320"/>
          </a:xfrm>
          <a:prstGeom prst="roundRect">
            <a:avLst>
              <a:gd name="adj" fmla="val 5161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2697480" y="361188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3200" dirty="0"/>
          </a:p>
        </p:txBody>
      </p:sp>
      <p:sp>
        <p:nvSpPr>
          <p:cNvPr id="11" name="Text 8"/>
          <p:cNvSpPr txBox="1"/>
          <p:nvPr/>
        </p:nvSpPr>
        <p:spPr>
          <a:xfrm>
            <a:off x="2697480" y="429768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maniobras supervisadas (OJT)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4572000" y="3520440"/>
            <a:ext cx="1828800" cy="1417320"/>
          </a:xfrm>
          <a:prstGeom prst="roundRect">
            <a:avLst>
              <a:gd name="adj" fmla="val 5161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709160" y="361188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13</a:t>
            </a:r>
            <a:endParaRPr lang="en-US" sz="3200" dirty="0"/>
          </a:p>
        </p:txBody>
      </p:sp>
      <p:sp>
        <p:nvSpPr>
          <p:cNvPr id="14" name="Text 11"/>
          <p:cNvSpPr txBox="1"/>
          <p:nvPr/>
        </p:nvSpPr>
        <p:spPr>
          <a:xfrm>
            <a:off x="4709160" y="429768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pasos críticos ★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6583680" y="3520440"/>
            <a:ext cx="1828800" cy="1417320"/>
          </a:xfrm>
          <a:prstGeom prst="roundRect">
            <a:avLst>
              <a:gd name="adj" fmla="val 5161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720840" y="361188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12</a:t>
            </a:r>
            <a:endParaRPr lang="en-US" sz="3200" dirty="0"/>
          </a:p>
        </p:txBody>
      </p:sp>
      <p:sp>
        <p:nvSpPr>
          <p:cNvPr id="17" name="Text 14"/>
          <p:cNvSpPr txBox="1"/>
          <p:nvPr/>
        </p:nvSpPr>
        <p:spPr>
          <a:xfrm>
            <a:off x="6720840" y="429768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meses de vigencia (NOM-029)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9208008" y="1325880"/>
            <a:ext cx="0" cy="3505200"/>
          </a:xfrm>
          <a:prstGeom prst="line">
            <a:avLst/>
          </a:prstGeom>
          <a:noFill/>
          <a:ln w="12700">
            <a:solidFill>
              <a:srgbClr val="8A8CA0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9025128" y="1143000"/>
            <a:ext cx="365760" cy="365760"/>
          </a:xfrm>
          <a:prstGeom prst="ellipse">
            <a:avLst/>
          </a:prstGeom>
          <a:solidFill>
            <a:srgbClr val="FF8C47"/>
          </a:solidFill>
          <a:ln w="19050">
            <a:solidFill>
              <a:srgbClr val="2A2A40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9025128" y="11430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100" dirty="0"/>
          </a:p>
        </p:txBody>
      </p:sp>
      <p:sp>
        <p:nvSpPr>
          <p:cNvPr id="21" name="Text 18"/>
          <p:cNvSpPr txBox="1"/>
          <p:nvPr/>
        </p:nvSpPr>
        <p:spPr>
          <a:xfrm>
            <a:off x="9528048" y="1124712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Licencia de maniobra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9025128" y="1844040"/>
            <a:ext cx="365760" cy="365760"/>
          </a:xfrm>
          <a:prstGeom prst="ellipse">
            <a:avLst/>
          </a:prstGeom>
          <a:solidFill>
            <a:srgbClr val="FC6A45"/>
          </a:solidFill>
          <a:ln w="19050">
            <a:solidFill>
              <a:srgbClr val="2A2A40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9025128" y="1844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9528048" y="1825752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Desconectar y bloquear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9025128" y="2545080"/>
            <a:ext cx="365760" cy="365760"/>
          </a:xfrm>
          <a:prstGeom prst="ellipse">
            <a:avLst/>
          </a:prstGeom>
          <a:solidFill>
            <a:srgbClr val="FA4642"/>
          </a:solidFill>
          <a:ln w="19050">
            <a:solidFill>
              <a:srgbClr val="2A2A40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9025128" y="2545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100" dirty="0"/>
          </a:p>
        </p:txBody>
      </p:sp>
      <p:sp>
        <p:nvSpPr>
          <p:cNvPr id="27" name="Text 24"/>
          <p:cNvSpPr txBox="1"/>
          <p:nvPr/>
        </p:nvSpPr>
        <p:spPr>
          <a:xfrm>
            <a:off x="9528048" y="2526792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Verificar 0 V</a:t>
            </a:r>
            <a:endParaRPr lang="en-US" sz="1150" dirty="0"/>
          </a:p>
        </p:txBody>
      </p:sp>
      <p:sp>
        <p:nvSpPr>
          <p:cNvPr id="28" name="Shape 25"/>
          <p:cNvSpPr/>
          <p:nvPr/>
        </p:nvSpPr>
        <p:spPr>
          <a:xfrm>
            <a:off x="9025128" y="3246120"/>
            <a:ext cx="365760" cy="365760"/>
          </a:xfrm>
          <a:prstGeom prst="ellipse">
            <a:avLst/>
          </a:prstGeom>
          <a:solidFill>
            <a:srgbClr val="DB2259"/>
          </a:solidFill>
          <a:ln w="19050">
            <a:solidFill>
              <a:srgbClr val="2A2A40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9025128" y="3246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9528048" y="3227832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Aterrizar y delimitar</a:t>
            </a:r>
            <a:endParaRPr lang="en-US" sz="1150" dirty="0"/>
          </a:p>
        </p:txBody>
      </p:sp>
      <p:sp>
        <p:nvSpPr>
          <p:cNvPr id="31" name="Shape 28"/>
          <p:cNvSpPr/>
          <p:nvPr/>
        </p:nvSpPr>
        <p:spPr>
          <a:xfrm>
            <a:off x="9025128" y="3947160"/>
            <a:ext cx="365760" cy="365760"/>
          </a:xfrm>
          <a:prstGeom prst="ellipse">
            <a:avLst/>
          </a:prstGeom>
          <a:solidFill>
            <a:srgbClr val="C8136C"/>
          </a:solidFill>
          <a:ln w="19050">
            <a:solidFill>
              <a:srgbClr val="2A2A40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9025128" y="3947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9528048" y="3928872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Pruebas y protecciones</a:t>
            </a:r>
            <a:endParaRPr lang="en-US" sz="1150" dirty="0"/>
          </a:p>
        </p:txBody>
      </p:sp>
      <p:sp>
        <p:nvSpPr>
          <p:cNvPr id="34" name="Shape 31"/>
          <p:cNvSpPr/>
          <p:nvPr/>
        </p:nvSpPr>
        <p:spPr>
          <a:xfrm>
            <a:off x="9025128" y="4648200"/>
            <a:ext cx="365760" cy="365760"/>
          </a:xfrm>
          <a:prstGeom prst="ellipse">
            <a:avLst/>
          </a:prstGeom>
          <a:solidFill>
            <a:srgbClr val="AA0582"/>
          </a:solidFill>
          <a:ln w="19050">
            <a:solidFill>
              <a:srgbClr val="2A2A40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9025128" y="4648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</a:t>
            </a:r>
            <a:endParaRPr lang="en-US" sz="1100" dirty="0"/>
          </a:p>
        </p:txBody>
      </p:sp>
      <p:sp>
        <p:nvSpPr>
          <p:cNvPr id="36" name="Text 33"/>
          <p:cNvSpPr txBox="1"/>
          <p:nvPr/>
        </p:nvSpPr>
        <p:spPr>
          <a:xfrm>
            <a:off x="9528048" y="4629912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Restituir y liberar</a:t>
            </a:r>
            <a:endParaRPr lang="en-US" sz="1150" dirty="0"/>
          </a:p>
        </p:txBody>
      </p:sp>
      <p:sp>
        <p:nvSpPr>
          <p:cNvPr id="37" name="Text 34"/>
          <p:cNvSpPr txBox="1"/>
          <p:nvPr/>
        </p:nvSpPr>
        <p:spPr>
          <a:xfrm>
            <a:off x="548640" y="53492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Para: S-20 Electricista (MT certificado) · S-21 Instrumentista · S-01 Operador de Púlpito · C-12 · C-05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548640" y="6446520"/>
            <a:ext cx="10058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B8B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MM-EAF-04 v0.2 (Borrador para validación) y FT-ACE-001 v0.3. Material de capacitación; no sustituye al manual.</a:t>
            </a:r>
            <a:endParaRPr lang="en-US" sz="750" dirty="0"/>
          </a:p>
        </p:txBody>
      </p:sp>
      <p:sp>
        <p:nvSpPr>
          <p:cNvPr id="39" name="Text 36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B8B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 · OBJETIVOS DE APRENDIZAJE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Al terminar, maniobras MT con las 5 reglas de oro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MM-EAF-04 v0.2 (Borrador para validación) y FT-ACE-001 v0.3. Material de capacitación; no sustituye al manual.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548640" y="1554480"/>
            <a:ext cx="566928" cy="566928"/>
          </a:xfrm>
          <a:prstGeom prst="ellipse">
            <a:avLst/>
          </a:prstGeom>
          <a:solidFill>
            <a:srgbClr val="FF8C47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" y="1700784"/>
            <a:ext cx="274320" cy="2743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325880" y="1517904"/>
            <a:ext cx="4983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Aplicar las 5 reglas de oro</a:t>
            </a:r>
            <a:endParaRPr lang="en-US" sz="1350" dirty="0"/>
          </a:p>
        </p:txBody>
      </p:sp>
      <p:sp>
        <p:nvSpPr>
          <p:cNvPr id="10" name="Text 6"/>
          <p:cNvSpPr txBox="1"/>
          <p:nvPr/>
        </p:nvSpPr>
        <p:spPr>
          <a:xfrm>
            <a:off x="1325880" y="1883664"/>
            <a:ext cx="4983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Desconectar, prevenir reconexión, verificar ausencia de tensión, aterrizar y cortocircuitar, delimitar la zona.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2724912"/>
            <a:ext cx="566928" cy="566928"/>
          </a:xfrm>
          <a:prstGeom prst="ellipse">
            <a:avLst/>
          </a:prstGeom>
          <a:solidFill>
            <a:srgbClr val="FA4642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" y="2871216"/>
            <a:ext cx="274320" cy="27432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325880" y="2688336"/>
            <a:ext cx="4983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Verificar 0 V sin atajos</a:t>
            </a:r>
            <a:endParaRPr lang="en-US" sz="1350" dirty="0"/>
          </a:p>
        </p:txBody>
      </p:sp>
      <p:sp>
        <p:nvSpPr>
          <p:cNvPr id="14" name="Text 9"/>
          <p:cNvSpPr txBox="1"/>
          <p:nvPr/>
        </p:nvSpPr>
        <p:spPr>
          <a:xfrm>
            <a:off x="1325880" y="3054096"/>
            <a:ext cx="4983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Detector probado en fuente conocida, 3 fases y otra vez en fuente conocida; tierras en primario y secundario.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548640" y="3895344"/>
            <a:ext cx="566928" cy="566928"/>
          </a:xfrm>
          <a:prstGeom prst="ellipse">
            <a:avLst/>
          </a:prstGeom>
          <a:solidFill>
            <a:srgbClr val="DB2259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944" y="4041648"/>
            <a:ext cx="274320" cy="27432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325880" y="3858768"/>
            <a:ext cx="4983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Leer aceite, gases y pruebas</a:t>
            </a:r>
            <a:endParaRPr lang="en-US" sz="1350" dirty="0"/>
          </a:p>
        </p:txBody>
      </p:sp>
      <p:sp>
        <p:nvSpPr>
          <p:cNvPr id="18" name="Text 12"/>
          <p:cNvSpPr txBox="1"/>
          <p:nvPr/>
        </p:nvSpPr>
        <p:spPr>
          <a:xfrm>
            <a:off x="1325880" y="4224528"/>
            <a:ext cx="4983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Rigidez ≥ 50 kV, humedad ≤ 15 ppm, C₂H₂ ≤ 1 ppm, PI ≥ 1.5, Tan δ ≤ 0.5 %, TTR ±0.5 %.</a:t>
            </a:r>
            <a:endParaRPr lang="en-US" sz="1100" dirty="0"/>
          </a:p>
        </p:txBody>
      </p:sp>
      <p:sp>
        <p:nvSpPr>
          <p:cNvPr id="19" name="Shape 13"/>
          <p:cNvSpPr/>
          <p:nvPr/>
        </p:nvSpPr>
        <p:spPr>
          <a:xfrm>
            <a:off x="548640" y="5065776"/>
            <a:ext cx="566928" cy="566928"/>
          </a:xfrm>
          <a:prstGeom prst="ellipse">
            <a:avLst/>
          </a:prstGeom>
          <a:solidFill>
            <a:srgbClr val="AA0582"/>
          </a:solidFill>
          <a:ln/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4944" y="5212080"/>
            <a:ext cx="274320" cy="274320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1325880" y="5029200"/>
            <a:ext cx="4983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Restituir con conteo</a:t>
            </a:r>
            <a:endParaRPr lang="en-US" sz="1350" dirty="0"/>
          </a:p>
        </p:txBody>
      </p:sp>
      <p:sp>
        <p:nvSpPr>
          <p:cNvPr id="22" name="Text 15"/>
          <p:cNvSpPr txBox="1"/>
          <p:nvPr/>
        </p:nvSpPr>
        <p:spPr>
          <a:xfrm>
            <a:off x="1325880" y="5394960"/>
            <a:ext cx="4983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Tierras retiradas = colocadas, protecciones probadas y personal contado fuera antes de energizar en vacío.</a:t>
            </a:r>
            <a:endParaRPr lang="en-US" sz="1100" dirty="0"/>
          </a:p>
        </p:txBody>
      </p:sp>
      <p:sp>
        <p:nvSpPr>
          <p:cNvPr id="23" name="Shape 16"/>
          <p:cNvSpPr/>
          <p:nvPr/>
        </p:nvSpPr>
        <p:spPr>
          <a:xfrm>
            <a:off x="6675120" y="1463040"/>
            <a:ext cx="4983480" cy="4754880"/>
          </a:xfrm>
          <a:prstGeom prst="roundRect">
            <a:avLst>
              <a:gd name="adj" fmla="val 1538"/>
            </a:avLst>
          </a:prstGeom>
          <a:solidFill>
            <a:srgbClr val="F4F5F9"/>
          </a:solidFill>
          <a:ln/>
        </p:spPr>
      </p:sp>
      <p:sp>
        <p:nvSpPr>
          <p:cNvPr id="24" name="Text 17"/>
          <p:cNvSpPr txBox="1"/>
          <p:nvPr/>
        </p:nvSpPr>
        <p:spPr>
          <a:xfrm>
            <a:off x="6949440" y="1645920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POR QUÉ IMPORTA</a:t>
            </a:r>
            <a:endParaRPr lang="en-US" sz="1000" dirty="0"/>
          </a:p>
        </p:txBody>
      </p:sp>
      <p:sp>
        <p:nvSpPr>
          <p:cNvPr id="25" name="Text 18"/>
          <p:cNvSpPr txBox="1"/>
          <p:nvPr/>
        </p:nvSpPr>
        <p:spPr>
          <a:xfrm>
            <a:off x="6949440" y="2029968"/>
            <a:ext cx="44348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El primario trabaja a 34.5 kV [Supuesto]: un contacto o un arco en maniobra es fatal o deja quemaduras graves. El transformador de 140 MVA sufre cortocircuitos del arco y miles de operaciones de OLTC e interruptor; si falla, el horno se detiene y la secuencia de CC se pierde.</a:t>
            </a:r>
            <a:endParaRPr lang="en-US" sz="1200" dirty="0"/>
          </a:p>
        </p:txBody>
      </p:sp>
      <p:sp>
        <p:nvSpPr>
          <p:cNvPr id="26" name="Text 19"/>
          <p:cNvSpPr txBox="1"/>
          <p:nvPr/>
        </p:nvSpPr>
        <p:spPr>
          <a:xfrm>
            <a:off x="6949440" y="4681728"/>
            <a:ext cx="4434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Sin licencia de maniobra, sin 0 V verificado y sin tierras visibles, nadie toca.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 · ROLES Y RESPONSABILIDADES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C-12 emite la licencia; solo S-20 certificado maniobra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MM-EAF-04 v0.2 (Borrador para validación) y FT-ACE-001 v0.3. Material de capacitación; no sustituye al manual.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75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109960" cy="914400"/>
        </p:xfrm>
        <a:graphic>
          <a:graphicData uri="http://schemas.openxmlformats.org/drawingml/2006/table">
            <a:tbl>
              <a:tblPr/>
              <a:tblGrid>
                <a:gridCol w="3383280"/>
                <a:gridCol w="6720840"/>
                <a:gridCol w="100584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Rol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Qué hace en el transformador y la maniobra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RACI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C-12 Supervisor Eléctrico e Instrumentación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Dueño; emite licencia de maniobra, autoriza pruebas y libera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S-20 Electricista (MT certificado)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Maniobras, LOTO eléctrico, tierras, pruebas y mantenimiento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S-21 Instrumentista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Relés de protección, transmisores y monitor de DGA en línea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S-01 Operador de Púlpito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Lleva el arco a cero, abre el interruptor; firma la liberación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C-05 Supervisor de Hornos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Autoriza la indisponibilidad del horno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 (operación)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C-14 Ingeniero de Confiabilidad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Tendencias de DGA, Tan δ y termografía; RCA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C-16 Especialista de Seguridad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Arco eléctrico, distancias y EPP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Laboratorio acreditado (REPSE)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DGA, fisicoquímicos y pruebas especiales (SFRA)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 (externo)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 · EL PROCESO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Cinco reglas de oro antes de tocar cualquier celda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MM-EAF-04 v0.2 (Borrador para validación) y FT-ACE-001 v0.3. Material de capacitación; no sustituye al manual.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548640" y="1691640"/>
            <a:ext cx="1307592" cy="640080"/>
          </a:xfrm>
          <a:prstGeom prst="homePlate">
            <a:avLst/>
          </a:prstGeom>
          <a:solidFill>
            <a:srgbClr val="FF8C47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713232" y="1691640"/>
            <a:ext cx="9784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Licencia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594360" y="2441448"/>
            <a:ext cx="1143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Unifilar actualizado; firma C-12 y C-05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1783080" y="1691640"/>
            <a:ext cx="1307592" cy="640080"/>
          </a:xfrm>
          <a:prstGeom prst="chevron">
            <a:avLst/>
          </a:prstGeom>
          <a:solidFill>
            <a:srgbClr val="FC6A45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1947672" y="1691640"/>
            <a:ext cx="9784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Arco a cero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1828800" y="2441448"/>
            <a:ext cx="1143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S-01 abre el interruptor desde púlpito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3017520" y="1691640"/>
            <a:ext cx="1307592" cy="640080"/>
          </a:xfrm>
          <a:prstGeom prst="chevron">
            <a:avLst/>
          </a:prstGeom>
          <a:solidFill>
            <a:srgbClr val="FA4642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3182112" y="1691640"/>
            <a:ext cx="9784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1. Desconectar</a:t>
            </a:r>
            <a:endParaRPr lang="en-US" sz="900" dirty="0"/>
          </a:p>
        </p:txBody>
      </p:sp>
      <p:sp>
        <p:nvSpPr>
          <p:cNvPr id="15" name="Text 12"/>
          <p:cNvSpPr txBox="1"/>
          <p:nvPr/>
        </p:nvSpPr>
        <p:spPr>
          <a:xfrm>
            <a:off x="3063240" y="2441448"/>
            <a:ext cx="1143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Verifica abierto; extrae o abre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4251960" y="1691640"/>
            <a:ext cx="1307592" cy="640080"/>
          </a:xfrm>
          <a:prstGeom prst="chevron">
            <a:avLst/>
          </a:prstGeom>
          <a:solidFill>
            <a:srgbClr val="EA3450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4416552" y="1691640"/>
            <a:ext cx="9784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2. Bloquear</a:t>
            </a:r>
            <a:endParaRPr lang="en-US" sz="900" dirty="0"/>
          </a:p>
        </p:txBody>
      </p:sp>
      <p:sp>
        <p:nvSpPr>
          <p:cNvPr id="18" name="Text 15"/>
          <p:cNvSpPr txBox="1"/>
          <p:nvPr/>
        </p:nvSpPr>
        <p:spPr>
          <a:xfrm>
            <a:off x="4297680" y="2441448"/>
            <a:ext cx="1143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Candado y tarjeta personales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5486400" y="1691640"/>
            <a:ext cx="1307592" cy="640080"/>
          </a:xfrm>
          <a:prstGeom prst="chevron">
            <a:avLst/>
          </a:prstGeom>
          <a:solidFill>
            <a:srgbClr val="DB2259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5650992" y="1691640"/>
            <a:ext cx="9784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3. Verificar 0 V</a:t>
            </a:r>
            <a:endParaRPr lang="en-US" sz="900" dirty="0"/>
          </a:p>
        </p:txBody>
      </p:sp>
      <p:sp>
        <p:nvSpPr>
          <p:cNvPr id="21" name="Text 18"/>
          <p:cNvSpPr txBox="1"/>
          <p:nvPr/>
        </p:nvSpPr>
        <p:spPr>
          <a:xfrm>
            <a:off x="5532120" y="2441448"/>
            <a:ext cx="1143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Fuente conocida, 3 fases, fuente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6720840" y="1691640"/>
            <a:ext cx="1307592" cy="640080"/>
          </a:xfrm>
          <a:prstGeom prst="chevron">
            <a:avLst/>
          </a:prstGeom>
          <a:solidFill>
            <a:srgbClr val="DB2259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6885432" y="1691640"/>
            <a:ext cx="9784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4. Aterrizar</a:t>
            </a:r>
            <a:endParaRPr lang="en-US" sz="900" dirty="0"/>
          </a:p>
        </p:txBody>
      </p:sp>
      <p:sp>
        <p:nvSpPr>
          <p:cNvPr id="24" name="Text 21"/>
          <p:cNvSpPr txBox="1"/>
          <p:nvPr/>
        </p:nvSpPr>
        <p:spPr>
          <a:xfrm>
            <a:off x="6766560" y="2441448"/>
            <a:ext cx="1143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Cuchillas y tierras en ambos lados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7955280" y="1691640"/>
            <a:ext cx="1307592" cy="640080"/>
          </a:xfrm>
          <a:prstGeom prst="chevron">
            <a:avLst/>
          </a:prstGeom>
          <a:solidFill>
            <a:srgbClr val="C8136C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8119872" y="1691640"/>
            <a:ext cx="9784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5. Delimitar</a:t>
            </a:r>
            <a:endParaRPr lang="en-US" sz="900" dirty="0"/>
          </a:p>
        </p:txBody>
      </p:sp>
      <p:sp>
        <p:nvSpPr>
          <p:cNvPr id="27" name="Text 24"/>
          <p:cNvSpPr txBox="1"/>
          <p:nvPr/>
        </p:nvSpPr>
        <p:spPr>
          <a:xfrm>
            <a:off x="8001000" y="2441448"/>
            <a:ext cx="1143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Barreras y señales</a:t>
            </a:r>
            <a:endParaRPr lang="en-US" sz="850" dirty="0"/>
          </a:p>
        </p:txBody>
      </p:sp>
      <p:sp>
        <p:nvSpPr>
          <p:cNvPr id="28" name="Shape 25"/>
          <p:cNvSpPr/>
          <p:nvPr/>
        </p:nvSpPr>
        <p:spPr>
          <a:xfrm>
            <a:off x="9189720" y="1691640"/>
            <a:ext cx="1307592" cy="640080"/>
          </a:xfrm>
          <a:prstGeom prst="chevron">
            <a:avLst/>
          </a:prstGeom>
          <a:solidFill>
            <a:srgbClr val="AA0582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9354312" y="1691640"/>
            <a:ext cx="9784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Trabajo y pruebas</a:t>
            </a:r>
            <a:endParaRPr lang="en-US" sz="900" dirty="0"/>
          </a:p>
        </p:txBody>
      </p:sp>
      <p:sp>
        <p:nvSpPr>
          <p:cNvPr id="30" name="Text 27"/>
          <p:cNvSpPr txBox="1"/>
          <p:nvPr/>
        </p:nvSpPr>
        <p:spPr>
          <a:xfrm>
            <a:off x="9235440" y="2441448"/>
            <a:ext cx="1143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Aceite, pruebas, OLTC, protecciones</a:t>
            </a:r>
            <a:endParaRPr lang="en-US" sz="850" dirty="0"/>
          </a:p>
        </p:txBody>
      </p:sp>
      <p:sp>
        <p:nvSpPr>
          <p:cNvPr id="31" name="Shape 28"/>
          <p:cNvSpPr/>
          <p:nvPr/>
        </p:nvSpPr>
        <p:spPr>
          <a:xfrm>
            <a:off x="10424160" y="1691640"/>
            <a:ext cx="1307592" cy="640080"/>
          </a:xfrm>
          <a:prstGeom prst="chevron">
            <a:avLst/>
          </a:prstGeom>
          <a:solidFill>
            <a:srgbClr val="5B2A86"/>
          </a:solidFill>
          <a:ln/>
        </p:spPr>
      </p:sp>
      <p:sp>
        <p:nvSpPr>
          <p:cNvPr id="32" name="Text 29"/>
          <p:cNvSpPr txBox="1"/>
          <p:nvPr/>
        </p:nvSpPr>
        <p:spPr>
          <a:xfrm>
            <a:off x="10588752" y="1691640"/>
            <a:ext cx="9784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Restituir</a:t>
            </a:r>
            <a:endParaRPr lang="en-US" sz="900" dirty="0"/>
          </a:p>
        </p:txBody>
      </p:sp>
      <p:sp>
        <p:nvSpPr>
          <p:cNvPr id="33" name="Text 30"/>
          <p:cNvSpPr txBox="1"/>
          <p:nvPr/>
        </p:nvSpPr>
        <p:spPr>
          <a:xfrm>
            <a:off x="10469880" y="2441448"/>
            <a:ext cx="1143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Conteo de tierras; vacío; liberación</a:t>
            </a:r>
            <a:endParaRPr lang="en-US" sz="850" dirty="0"/>
          </a:p>
        </p:txBody>
      </p:sp>
      <p:sp>
        <p:nvSpPr>
          <p:cNvPr id="34" name="Shape 31"/>
          <p:cNvSpPr/>
          <p:nvPr/>
        </p:nvSpPr>
        <p:spPr>
          <a:xfrm>
            <a:off x="548640" y="3703320"/>
            <a:ext cx="11109960" cy="2514600"/>
          </a:xfrm>
          <a:prstGeom prst="roundRect">
            <a:avLst>
              <a:gd name="adj" fmla="val 2909"/>
            </a:avLst>
          </a:prstGeom>
          <a:solidFill>
            <a:srgbClr val="F4F5F9"/>
          </a:solidFill>
          <a:ln/>
        </p:spPr>
      </p:sp>
      <p:sp>
        <p:nvSpPr>
          <p:cNvPr id="35" name="Text 32"/>
          <p:cNvSpPr txBox="1"/>
          <p:nvPr/>
        </p:nvSpPr>
        <p:spPr>
          <a:xfrm>
            <a:off x="822960" y="3886200"/>
            <a:ext cx="10561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PRINCIPIO DEL PROCESO</a:t>
            </a:r>
            <a:endParaRPr lang="en-US" sz="1000" dirty="0"/>
          </a:p>
        </p:txBody>
      </p:sp>
      <p:sp>
        <p:nvSpPr>
          <p:cNvPr id="36" name="Text 33"/>
          <p:cNvSpPr txBox="1"/>
          <p:nvPr/>
        </p:nvSpPr>
        <p:spPr>
          <a:xfrm>
            <a:off x="822960" y="43159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Las cinco reglas de oro van en orden y completas; saltarse una es exponerse a la tensión.</a:t>
            </a:r>
            <a:endParaRPr lang="en-US" sz="1200" dirty="0"/>
          </a:p>
        </p:txBody>
      </p:sp>
      <p:sp>
        <p:nvSpPr>
          <p:cNvPr id="37" name="Text 34"/>
          <p:cNvSpPr txBox="1"/>
          <p:nvPr/>
        </p:nvSpPr>
        <p:spPr>
          <a:xfrm>
            <a:off x="822960" y="513892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Sin licencia de maniobra, sin 0 V verificado y sin tierras visibles, nadie toca.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 · EL PROCESO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Interruptor extraído, seccionador y tierras visibles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MM-EAF-04 v0.2 (Borrador para validación) y FT-ACE-001 v0.3. Material de capacitación; no sustituye al manual. Figura: ms-loto-puntos-eaf.svg.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750" dirty="0"/>
          </a:p>
        </p:txBody>
      </p:sp>
      <p:pic>
        <p:nvPicPr>
          <p:cNvPr id="7" name="Image 1" descr="/home/user/HR/10-plantas/01-steelmaking/img/png/ms-loto-puntos-ea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6847" y="1417320"/>
            <a:ext cx="5910146" cy="484632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7543800" y="1463040"/>
            <a:ext cx="4114800" cy="4754880"/>
          </a:xfrm>
          <a:prstGeom prst="roundRect">
            <a:avLst>
              <a:gd name="adj" fmla="val 1778"/>
            </a:avLst>
          </a:prstGeom>
          <a:solidFill>
            <a:srgbClr val="F4F5F9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7818120" y="16459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LECTURA</a:t>
            </a:r>
            <a:endParaRPr lang="en-US" sz="1000" dirty="0"/>
          </a:p>
        </p:txBody>
      </p:sp>
      <p:sp>
        <p:nvSpPr>
          <p:cNvPr id="10" name="Text 6"/>
          <p:cNvSpPr txBox="1"/>
          <p:nvPr/>
        </p:nvSpPr>
        <p:spPr>
          <a:xfrm>
            <a:off x="7772400" y="2029968"/>
            <a:ext cx="36576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El interruptor de AT del horno se abre, se extrae (rack-out) y se bloquea con candado.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Seccionador abierto y puesta a tierra aplicada: solo S-20 con autorización NOM-029.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S-20 mide ausencia de tensión con detector probado antes y después: 0 V en las 3 fases.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04 · EQUIPOS Y MAQUINARIA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Nueve equipos; las protecciones deben estar probadas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MM-EAF-04 v0.2 (Borrador para validación) y FT-ACE-001 v0.3. Material de capacitación; no sustituye al manual.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7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10996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2743200"/>
                <a:gridCol w="3291840"/>
                <a:gridCol w="269748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Equipo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Función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Especificación clave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Verificar antes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Transformador del horno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Alimentar el arco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140 MVA; secundario ≤ 1,200 V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Protecciones en servicio; DGA normal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OLTC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Cambiar el voltaje bajo carga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Aceite separado [Validar]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Contador dentro del intervalo OEM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Intercambiador aceite–agua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Enfriar el aceite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 de aceite &gt; P de agua; tubo doble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Detector de fuga sin alarma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Interruptor de vacío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Conectar y desconectar el horno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Muchas operaciones por día; contador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Desgaste de contactos en OEM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Seccionador y cuchillas de tierra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Aislamiento visible y tierra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Enclavamiento con el interruptor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Enclavamiento probado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Buchholz, alivio y protección OLTC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Detectar falla interna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Alarma y disparo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Probados con aire o botón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Relé multifunción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87T, 50/51, 51N, 49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Ajustes del estudio de coordinación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Inyección secundaria vigente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05 · PARÁMETROS DE OPERACIÓN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Acetileno creciente o PI &lt; 1.25: no se energiza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MM-EAF-04 v0.2 (Borrador para validación) y FT-ACE-001 v0.3. Material de capacitación; no sustituye al manual.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7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109960" cy="914400"/>
        </p:xfrm>
        <a:graphic>
          <a:graphicData uri="http://schemas.openxmlformats.org/drawingml/2006/table">
            <a:tbl>
              <a:tblPr/>
              <a:tblGrid>
                <a:gridCol w="2331720"/>
                <a:gridCol w="1737360"/>
                <a:gridCol w="2057400"/>
                <a:gridCol w="2103120"/>
                <a:gridCol w="2880360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Especificación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Objetivo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Tolerancia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Límite / rechazo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Frecuencia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 de aceite superior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≤ 70 °C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≤ 80 °C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Alarma 85; disparo 95 °C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Continuo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 de devanado (49)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≤ 90 °C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≤ 100 °C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Alarma 105; disparo 115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Continuo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Rigidez del aceite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≥ 60 kV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≥ 50 kV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&lt; 40 kV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Trimestral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Humedad en aceite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≤ 10 ppm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≤ 15 ppm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&gt; 20 alerta; &gt; 30 acción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Trimestral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C₂H₂ en tanque (DGA)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0 ppm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≤ 1 ppm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&gt; 1; si crece, evaluar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Mensual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Índice de polarización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≥ 2.0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≥ 1.5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&lt; 1.25: no energizar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Anual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Tan δ de devanados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≤ 0.3 %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≤ 0.5 %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&gt; 0.7 o +0.2 vs. base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Anual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Prueba de protecciones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Disparo según ajuste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±5 % tiempo/corriente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No dispara: no energizar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Anual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548640" y="5897880"/>
            <a:ext cx="11109960" cy="365760"/>
          </a:xfrm>
          <a:prstGeom prst="rect">
            <a:avLst/>
          </a:prstGeom>
          <a:solidFill>
            <a:srgbClr val="FFF4D6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640080" y="5897880"/>
            <a:ext cx="10927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8A5A0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POR CONFIRMAR  </a:t>
            </a:r>
            <a:pPr indent="0" marL="0">
              <a:buNone/>
            </a:pPr>
            <a:r>
              <a:rPr lang="en-US" sz="950" dirty="0">
                <a:solidFill>
                  <a:srgbClr val="8A5A0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Primario 34.5 kV [Supuesto]. Límites de temperatura, megger ≥ 1,000 MΩ e intervalos de OLTC e interruptor: [Validar con OEM / Ingeniería de Mantenimiento].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06 · SEGURIDAD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Media tensión y arco eléctrico: errores sin regreso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MM-EAF-04 v0.2 (Borrador para validación) y FT-ACE-001 v0.3. Material de capacitación; no sustituye al manual. Serie MS-ACE.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548640" y="1554480"/>
            <a:ext cx="566928" cy="566928"/>
          </a:xfrm>
          <a:prstGeom prst="ellipse">
            <a:avLst/>
          </a:prstGeom>
          <a:solidFill>
            <a:srgbClr val="FA4642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" y="1700784"/>
            <a:ext cx="274320" cy="2743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325880" y="1517904"/>
            <a:ext cx="5257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★ Licencia y 5 reglas de oro</a:t>
            </a:r>
            <a:endParaRPr lang="en-US" sz="1350" dirty="0"/>
          </a:p>
        </p:txBody>
      </p:sp>
      <p:sp>
        <p:nvSpPr>
          <p:cNvPr id="10" name="Text 6"/>
          <p:cNvSpPr txBox="1"/>
          <p:nvPr/>
        </p:nvSpPr>
        <p:spPr>
          <a:xfrm>
            <a:off x="1325880" y="1883664"/>
            <a:ext cx="5257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Licencia de C-12 con unifilar; solo personal certificado NOM-029 con autorización escrita del patrón.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2724912"/>
            <a:ext cx="566928" cy="566928"/>
          </a:xfrm>
          <a:prstGeom prst="ellipse">
            <a:avLst/>
          </a:prstGeom>
          <a:solidFill>
            <a:srgbClr val="DB2259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" y="2871216"/>
            <a:ext cx="274320" cy="27432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325880" y="2688336"/>
            <a:ext cx="5257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★ LOTO eléctrico y energía cero</a:t>
            </a:r>
            <a:endParaRPr lang="en-US" sz="1350" dirty="0"/>
          </a:p>
        </p:txBody>
      </p:sp>
      <p:sp>
        <p:nvSpPr>
          <p:cNvPr id="14" name="Text 9"/>
          <p:cNvSpPr txBox="1"/>
          <p:nvPr/>
        </p:nvSpPr>
        <p:spPr>
          <a:xfrm>
            <a:off x="1325880" y="3054096"/>
            <a:ext cx="5257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Interruptor extraído, seccionador con candado, cuchillas y tierras; detector probado antes y después; cierre y OLTC rechazados.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548640" y="3895344"/>
            <a:ext cx="566928" cy="566928"/>
          </a:xfrm>
          <a:prstGeom prst="ellipse">
            <a:avLst/>
          </a:prstGeom>
          <a:solidFill>
            <a:srgbClr val="AA0582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944" y="4041648"/>
            <a:ext cx="274320" cy="27432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325880" y="3858768"/>
            <a:ext cx="5257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★ Arco eléctrico en maniobra</a:t>
            </a:r>
            <a:endParaRPr lang="en-US" sz="1350" dirty="0"/>
          </a:p>
        </p:txBody>
      </p:sp>
      <p:sp>
        <p:nvSpPr>
          <p:cNvPr id="18" name="Text 12"/>
          <p:cNvSpPr txBox="1"/>
          <p:nvPr/>
        </p:nvSpPr>
        <p:spPr>
          <a:xfrm>
            <a:off x="1325880" y="4224528"/>
            <a:ext cx="5257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Maniobra remota cuando exista; EPP arc-rated según IEEE 1584 (típ. ≥ 40 cal/cm² en celdas MT [Validar]).</a:t>
            </a:r>
            <a:endParaRPr lang="en-US" sz="1100" dirty="0"/>
          </a:p>
        </p:txBody>
      </p:sp>
      <p:sp>
        <p:nvSpPr>
          <p:cNvPr id="19" name="Shape 13"/>
          <p:cNvSpPr/>
          <p:nvPr/>
        </p:nvSpPr>
        <p:spPr>
          <a:xfrm>
            <a:off x="548640" y="5065776"/>
            <a:ext cx="566928" cy="566928"/>
          </a:xfrm>
          <a:prstGeom prst="ellipse">
            <a:avLst/>
          </a:prstGeom>
          <a:solidFill>
            <a:srgbClr val="3F6FD1"/>
          </a:solidFill>
          <a:ln/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4944" y="5212080"/>
            <a:ext cx="274320" cy="274320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1325880" y="5029200"/>
            <a:ext cx="5257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★ Retroalimentación y energía guardada</a:t>
            </a:r>
            <a:endParaRPr lang="en-US" sz="1350" dirty="0"/>
          </a:p>
        </p:txBody>
      </p:sp>
      <p:sp>
        <p:nvSpPr>
          <p:cNvPr id="22" name="Text 15"/>
          <p:cNvSpPr txBox="1"/>
          <p:nvPr/>
        </p:nvSpPr>
        <p:spPr>
          <a:xfrm>
            <a:off x="1325880" y="5394960"/>
            <a:ext cx="5257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Tierras en ambos lados del punto de trabajo; descargar capacitores RC y resortes del interruptor.</a:t>
            </a:r>
            <a:endParaRPr lang="en-US" sz="1100" dirty="0"/>
          </a:p>
        </p:txBody>
      </p:sp>
      <p:sp>
        <p:nvSpPr>
          <p:cNvPr id="23" name="Shape 16"/>
          <p:cNvSpPr/>
          <p:nvPr/>
        </p:nvSpPr>
        <p:spPr>
          <a:xfrm>
            <a:off x="6949440" y="1463040"/>
            <a:ext cx="4709160" cy="4754880"/>
          </a:xfrm>
          <a:prstGeom prst="roundRect">
            <a:avLst>
              <a:gd name="adj" fmla="val 1553"/>
            </a:avLst>
          </a:prstGeom>
          <a:solidFill>
            <a:srgbClr val="F4F5F9"/>
          </a:solidFill>
          <a:ln/>
        </p:spPr>
      </p:sp>
      <p:sp>
        <p:nvSpPr>
          <p:cNvPr id="24" name="Text 17"/>
          <p:cNvSpPr txBox="1"/>
          <p:nvPr/>
        </p:nvSpPr>
        <p:spPr>
          <a:xfrm>
            <a:off x="7223760" y="1645920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EPP OBLIGATORIO</a:t>
            </a:r>
            <a:endParaRPr lang="en-US" sz="1000" dirty="0"/>
          </a:p>
        </p:txBody>
      </p:sp>
      <p:sp>
        <p:nvSpPr>
          <p:cNvPr id="25" name="Text 18"/>
          <p:cNvSpPr txBox="1"/>
          <p:nvPr/>
        </p:nvSpPr>
        <p:spPr>
          <a:xfrm>
            <a:off x="7223760" y="2029968"/>
            <a:ext cx="420624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Ropa y careta arc-rated de la categoría de la celda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Guantes dieléctricos con protector de cuero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Botas dieléctricas y casco clase E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Lentes de seguridad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Pértiga y detector de tensión certificados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07 · CALIDAD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 OLTC bloqueado alarga la colada y sube los kWh/t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MM-EAF-04 v0.2 (Borrador para validación) y FT-ACE-001 v0.3. Material de capacitación; no sustituye al manual.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75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10996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2834640"/>
                <a:gridCol w="3017520"/>
                <a:gridCol w="269748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Variable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Especificación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Cómo y cuándo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Si falla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Perfil de potencia disponible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Todas las derivaciones del OLTC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Prueba funcional tras mantenimiento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Tap-to-tap &gt; 55 min; T fuera de ±15 °C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Energía específica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560–620 kWh/t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KPI diario (C-07)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Energía alta por derivación bloqueada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Paros del horno por transformador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0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Mensual en CMMS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Pierde secuencia en CC; reoxidación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4"/>
          <p:cNvSpPr txBox="1"/>
          <p:nvPr/>
        </p:nvSpPr>
        <p:spPr>
          <a:xfrm>
            <a:off x="548640" y="5623560"/>
            <a:ext cx="11109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El transformador no toca el acero, pero un paro no programado rompe la secuencia de colada continua.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08 · PASO A PASO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Dieciséis pasos; trece no admiten error (1/3)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MM-EAF-04 v0.2 (Borrador para validación) y FT-ACE-001 v0.3. Material de capacitación; no sustituye al manual. ★ = paso crítico, se evalúa en la certificación.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75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109960" cy="914400"/>
        </p:xfrm>
        <a:graphic>
          <a:graphicData uri="http://schemas.openxmlformats.org/drawingml/2006/table">
            <a:tbl>
              <a:tblPr/>
              <a:tblGrid>
                <a:gridCol w="594360"/>
                <a:gridCol w="2148840"/>
                <a:gridCol w="5074920"/>
                <a:gridCol w="2057400"/>
                <a:gridCol w="123444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#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Paso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Cómo hacerlo y qué medir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Criterio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Rol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★ 1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Planea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Licencia de maniobra con unifilar actualizado, lista de pasos y responsables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Firmada por C-12 y C-05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C-12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2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Charla previa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Revisa pasos, EPP, distancias y rescate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Todos entienden su papel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C-12, S-20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★ 3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Lleva el arco a cero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Sube electrodos y abre el interruptor desde el púlpito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Indicación abierto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S-01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★ 4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Verifica abierto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Indicador eléctrico e indicador mecánico del interruptor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Ambos en abierto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S-20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★ 5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Desconecta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Extrae el interruptor o abre el seccionador con EPP arc-rated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Aislamiento visible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S-20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★ 6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Bloquea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Candado y tarjeta personales en interruptor, seccionador y CCM de auxiliares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Candados puestos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S-20, S-21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★ 7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Verifica ausencia de tensión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Detector MT: fuente conocida, 3 fases, fuente conocida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0 V en las 3 fases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S-20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08 · PASO A PASO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Dieciséis pasos; trece no admiten error (2/3)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MM-EAF-04 v0.2 (Borrador para validación) y FT-ACE-001 v0.3. Material de capacitación; no sustituye al manual. ★ = paso crítico, se evalúa en la certificación.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75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109960" cy="914400"/>
        </p:xfrm>
        <a:graphic>
          <a:graphicData uri="http://schemas.openxmlformats.org/drawingml/2006/table">
            <a:tbl>
              <a:tblPr/>
              <a:tblGrid>
                <a:gridCol w="594360"/>
                <a:gridCol w="2148840"/>
                <a:gridCol w="5074920"/>
                <a:gridCol w="2057400"/>
                <a:gridCol w="123444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#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Paso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Cómo hacerlo y qué medir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Criterio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Rol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★ 8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Aterriza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Cierra cuchillas de tierra; tierras temporales en primario y secundario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Tierras visibles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S-20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★ 9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Delimita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Barreras y señales; libera el área de trabajo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Zona delimitada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S-20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10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Toma muestra de aceite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Válvula de muestreo, jeringa de vidrio sin burbujas, etiqueta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Muestra válida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S-20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★ 11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Pruebas eléctricas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Quita tierras solo del devanado bajo prueba; megger 5 kV, PI, Tan δ, TTR; descarga y repón tierras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En tabla y tierras repuestas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S-20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12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Interruptor y OLTC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Mantenimiento según manual OEM y contador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Contactos ≤ 1.2 × fábrica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S-20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★ 13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Prueba protecciones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Inyección secundaria de 87T, 50/51, 51N; disparo real de Buchholz y OLTC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Disparo correcto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S-21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★ 14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Restituye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Retira tierras con conteo contra registro, abre cuchillas de tierra, retira candados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Tierras contadas = puestas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S-20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08 · PASO A PASO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Dieciséis pasos; trece no admiten error (3/3)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MM-EAF-04 v0.2 (Borrador para validación) y FT-ACE-001 v0.3. Material de capacitación; no sustituye al manual. ★ = paso crítico, se evalúa en la certificación.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75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109960" cy="914400"/>
        </p:xfrm>
        <a:graphic>
          <a:graphicData uri="http://schemas.openxmlformats.org/drawingml/2006/table">
            <a:tbl>
              <a:tblPr/>
              <a:tblGrid>
                <a:gridCol w="594360"/>
                <a:gridCol w="2148840"/>
                <a:gridCol w="5074920"/>
                <a:gridCol w="2057400"/>
                <a:gridCol w="123444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#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Paso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Cómo hacerlo y qué medir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Criterio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Rol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★ 15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Energiza en vacío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Personal contado fuera y barreras de celda repuestas; cierra sin arco; ruido y magnetización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Sin alarmas; conteo registrado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S-20, S-01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★ 16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Libera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Checklist de liberación firmado por Mantenimiento y Operación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Firmado por C-12 y C-05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C-12, C-05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09 · CONDICIONES ANORMALES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Disparo por Buchholz o 87T: no se re-energiza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MM-EAF-04 v0.2 (Borrador para validación) y FT-ACE-001 v0.3. Material de capacitación; no sustituye al manual. Serie MS-ACE-09 para emergencias.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75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10996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6400800"/>
                <a:gridCol w="196596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Síntoma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Acción inmediata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Avisar a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Disparo por Buchholz o 87T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No re-energizar; DGA urgente y pruebas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C-12, C-10, C-05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Alarma Buchholz (gas acumulado)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Toma muestra de gas del relé y de aceite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C-12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C₂H₂ creciente en tanque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Evaluar sacar de servicio con el OEM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C-12, C-14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Alarma de fuga aceite–agua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Aislar el intercambiador; revisar humedad en aceite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C-12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Aceite &gt; 85 °C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Reducir potencia; revisar bombas y agua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S-01, S-20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OLTC no cambia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Bloquear el OLTC en derivación segura; revisar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S-20, C-07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Punto caliente ΔT &gt; 30 °C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Programar paro para reapriete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C-12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10 · COMPETENCIA Y CERTIFICACIÓN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Certificación nivel O y autorización NOM-029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MM-EAF-04 v0.2 (Borrador para validación) y FT-ACE-001 v0.3. Material de capacitación; no sustituye al manual. TD-P07. ILUO: I Introducción · L Práctica supervisada · U Ejecución autónoma · O Dominio e instrucción.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548640" y="1554480"/>
            <a:ext cx="502920" cy="502920"/>
          </a:xfrm>
          <a:prstGeom prst="ellipse">
            <a:avLst/>
          </a:prstGeom>
          <a:solidFill>
            <a:srgbClr val="D6D8EA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548640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1097280" y="1517904"/>
            <a:ext cx="960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Introducción y Conocimiento</a:t>
            </a:r>
            <a:endParaRPr lang="en-US" sz="750" dirty="0"/>
          </a:p>
        </p:txBody>
      </p:sp>
      <p:sp>
        <p:nvSpPr>
          <p:cNvPr id="10" name="Shape 7"/>
          <p:cNvSpPr/>
          <p:nvPr/>
        </p:nvSpPr>
        <p:spPr>
          <a:xfrm>
            <a:off x="2121408" y="1554480"/>
            <a:ext cx="502920" cy="502920"/>
          </a:xfrm>
          <a:prstGeom prst="ellipse">
            <a:avLst/>
          </a:prstGeom>
          <a:solidFill>
            <a:srgbClr val="D6D8EA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2121408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2670048" y="1517904"/>
            <a:ext cx="960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Aprendizaje y Práctica Supervisada</a:t>
            </a:r>
            <a:endParaRPr lang="en-US" sz="750" dirty="0"/>
          </a:p>
        </p:txBody>
      </p:sp>
      <p:sp>
        <p:nvSpPr>
          <p:cNvPr id="13" name="Shape 10"/>
          <p:cNvSpPr/>
          <p:nvPr/>
        </p:nvSpPr>
        <p:spPr>
          <a:xfrm>
            <a:off x="3694176" y="1554480"/>
            <a:ext cx="502920" cy="502920"/>
          </a:xfrm>
          <a:prstGeom prst="ellipse">
            <a:avLst/>
          </a:prstGeom>
          <a:solidFill>
            <a:srgbClr val="D6D8EA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3694176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4242816" y="1517904"/>
            <a:ext cx="960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Ejecución Autónoma y Habilitada</a:t>
            </a:r>
            <a:endParaRPr lang="en-US" sz="750" dirty="0"/>
          </a:p>
        </p:txBody>
      </p:sp>
      <p:sp>
        <p:nvSpPr>
          <p:cNvPr id="16" name="Shape 13"/>
          <p:cNvSpPr/>
          <p:nvPr/>
        </p:nvSpPr>
        <p:spPr>
          <a:xfrm>
            <a:off x="5266944" y="1554480"/>
            <a:ext cx="502920" cy="502920"/>
          </a:xfrm>
          <a:prstGeom prst="ellipse">
            <a:avLst/>
          </a:prstGeom>
          <a:solidFill>
            <a:srgbClr val="5B1A6E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5266944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5815584" y="1517904"/>
            <a:ext cx="960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Dominio, Optimización e Instrucción</a:t>
            </a:r>
            <a:endParaRPr lang="en-US" sz="75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377440"/>
          <a:ext cx="658368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594360"/>
                <a:gridCol w="1097280"/>
                <a:gridCol w="1737360"/>
                <a:gridCol w="105156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Rol</a:t>
                      </a:r>
                      <a:endParaRPr lang="en-US" sz="9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ILUO</a:t>
                      </a:r>
                      <a:endParaRPr lang="en-US" sz="9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Teoría</a:t>
                      </a:r>
                      <a:endParaRPr lang="en-US" sz="9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OJT supervisado</a:t>
                      </a:r>
                      <a:endParaRPr lang="en-US" sz="9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Vigencia</a:t>
                      </a:r>
                      <a:endParaRPr lang="en-US" sz="9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S-20 Electricista (maniobra MT)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40 h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5 maniobras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12 meses; autorización NOM-029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S-20 Electricista (pruebas)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U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24 h + termografía I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2 campañas anuales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12 meses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S-21 Instrumentista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U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24 h + NOM-029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2 pruebas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12 meses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C-12 Supervisor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Licencias y protecciones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—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12 meses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</a:tbl>
          </a:graphicData>
        </a:graphic>
      </p:graphicFrame>
      <p:sp>
        <p:nvSpPr>
          <p:cNvPr id="20" name="Shape 16"/>
          <p:cNvSpPr/>
          <p:nvPr/>
        </p:nvSpPr>
        <p:spPr>
          <a:xfrm>
            <a:off x="7406640" y="1463040"/>
            <a:ext cx="4251960" cy="4754880"/>
          </a:xfrm>
          <a:prstGeom prst="roundRect">
            <a:avLst>
              <a:gd name="adj" fmla="val 1720"/>
            </a:avLst>
          </a:prstGeom>
          <a:solidFill>
            <a:srgbClr val="F4F5F9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7680960" y="1645920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PASOS ★ QUE SE EVALÚAN</a:t>
            </a:r>
            <a:endParaRPr lang="en-US" sz="1000" dirty="0"/>
          </a:p>
        </p:txBody>
      </p:sp>
      <p:sp>
        <p:nvSpPr>
          <p:cNvPr id="22" name="Text 18"/>
          <p:cNvSpPr txBox="1"/>
          <p:nvPr/>
        </p:nvSpPr>
        <p:spPr>
          <a:xfrm>
            <a:off x="7680960" y="2029968"/>
            <a:ext cx="374904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86690" indent="-186690">
              <a:spcAft>
                <a:spcPts val="63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Tramita la licencia; verifica abierto con doble indicación y extrae con EPP arc-rated</a:t>
            </a:r>
            <a:endParaRPr lang="en-US" sz="1050" dirty="0"/>
          </a:p>
          <a:p>
            <a:pPr marL="186690" indent="-186690">
              <a:spcAft>
                <a:spcPts val="63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Coloca candado y tarjeta personales en cada punto de aislamiento</a:t>
            </a:r>
            <a:endParaRPr lang="en-US" sz="1050" dirty="0"/>
          </a:p>
          <a:p>
            <a:pPr marL="186690" indent="-186690">
              <a:spcAft>
                <a:spcPts val="63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Verifica 0 V con detector probado antes y después; coloca tierras en ambos lados; delimita</a:t>
            </a:r>
            <a:endParaRPr lang="en-US" sz="1050" dirty="0"/>
          </a:p>
          <a:p>
            <a:pPr marL="186690" indent="-186690">
              <a:spcAft>
                <a:spcPts val="63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Repone las tierras tras cada prueba y prueba las protecciones antes de energizar</a:t>
            </a:r>
            <a:endParaRPr lang="en-US" sz="1050" dirty="0"/>
          </a:p>
          <a:p>
            <a:pPr marL="186690" indent="-186690">
              <a:spcAft>
                <a:spcPts val="63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Cuenta tierras al restituir y personal fuera antes de energizar en vacío</a:t>
            </a:r>
            <a:endParaRPr lang="en-US" sz="1050" dirty="0"/>
          </a:p>
          <a:p>
            <a:pPr marL="186690" indent="-186690">
              <a:spcAft>
                <a:spcPts val="63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Libera con checklist firmado por C-12 y C-05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10 · COMPETENCIA Y CERTIFICACIÓN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 la teoría a la certificación en seis pasos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MM-EAF-04 v0.2 (Borrador para validación) y FT-ACE-001 v0.3. Material de capacitación; no sustituye al manual. Registro de competencia en IMaS; constancia DC-3/SIRCE (obligación STPS).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1474470" y="1920240"/>
            <a:ext cx="9258300" cy="0"/>
          </a:xfrm>
          <a:prstGeom prst="line">
            <a:avLst/>
          </a:prstGeom>
          <a:noFill/>
          <a:ln w="12700">
            <a:solidFill>
              <a:srgbClr val="D6D8E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291590" y="1737360"/>
            <a:ext cx="365760" cy="365760"/>
          </a:xfrm>
          <a:prstGeom prst="ellipse">
            <a:avLst/>
          </a:prstGeom>
          <a:solidFill>
            <a:srgbClr val="FF8C47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1291590" y="1737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594360" y="2194560"/>
            <a:ext cx="17602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Teoría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594360" y="2651760"/>
            <a:ext cx="17602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40 h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3143250" y="1737360"/>
            <a:ext cx="365760" cy="365760"/>
          </a:xfrm>
          <a:prstGeom prst="ellipse">
            <a:avLst/>
          </a:prstGeom>
          <a:solidFill>
            <a:srgbClr val="FC6A45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3143250" y="1737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2446020" y="2194560"/>
            <a:ext cx="17602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Autoevaluación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2446020" y="2651760"/>
            <a:ext cx="17602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≥ 80 %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4994910" y="1737360"/>
            <a:ext cx="365760" cy="365760"/>
          </a:xfrm>
          <a:prstGeom prst="ellipse">
            <a:avLst/>
          </a:prstGeom>
          <a:solidFill>
            <a:srgbClr val="EA3450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4994910" y="1737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4297680" y="2194560"/>
            <a:ext cx="17602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OJT supervisado</a:t>
            </a:r>
            <a:endParaRPr lang="en-US" sz="1000" dirty="0"/>
          </a:p>
        </p:txBody>
      </p:sp>
      <p:sp>
        <p:nvSpPr>
          <p:cNvPr id="19" name="Text 16"/>
          <p:cNvSpPr txBox="1"/>
          <p:nvPr/>
        </p:nvSpPr>
        <p:spPr>
          <a:xfrm>
            <a:off x="4297680" y="2651760"/>
            <a:ext cx="17602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 maniobras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6846570" y="1737360"/>
            <a:ext cx="365760" cy="365760"/>
          </a:xfrm>
          <a:prstGeom prst="ellipse">
            <a:avLst/>
          </a:prstGeom>
          <a:solidFill>
            <a:srgbClr val="DB2259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6846570" y="1737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000" dirty="0"/>
          </a:p>
        </p:txBody>
      </p:sp>
      <p:sp>
        <p:nvSpPr>
          <p:cNvPr id="22" name="Text 19"/>
          <p:cNvSpPr txBox="1"/>
          <p:nvPr/>
        </p:nvSpPr>
        <p:spPr>
          <a:xfrm>
            <a:off x="6149340" y="2194560"/>
            <a:ext cx="17602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Evaluación práctica ★</a:t>
            </a:r>
            <a:endParaRPr lang="en-US" sz="1000" dirty="0"/>
          </a:p>
        </p:txBody>
      </p:sp>
      <p:sp>
        <p:nvSpPr>
          <p:cNvPr id="23" name="Text 20"/>
          <p:cNvSpPr txBox="1"/>
          <p:nvPr/>
        </p:nvSpPr>
        <p:spPr>
          <a:xfrm>
            <a:off x="6149340" y="2651760"/>
            <a:ext cx="17602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100 % pasos ★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8698230" y="1737360"/>
            <a:ext cx="365760" cy="365760"/>
          </a:xfrm>
          <a:prstGeom prst="ellipse">
            <a:avLst/>
          </a:prstGeom>
          <a:solidFill>
            <a:srgbClr val="AA0582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8698230" y="1737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8001000" y="2194560"/>
            <a:ext cx="17602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Registro IMaS y DC-3/SIRCE</a:t>
            </a:r>
            <a:endParaRPr lang="en-US" sz="1000" dirty="0"/>
          </a:p>
        </p:txBody>
      </p:sp>
      <p:sp>
        <p:nvSpPr>
          <p:cNvPr id="27" name="Text 24"/>
          <p:cNvSpPr txBox="1"/>
          <p:nvPr/>
        </p:nvSpPr>
        <p:spPr>
          <a:xfrm>
            <a:off x="8001000" y="2651760"/>
            <a:ext cx="17602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≤ 10 días hábiles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10549890" y="1737360"/>
            <a:ext cx="365760" cy="365760"/>
          </a:xfrm>
          <a:prstGeom prst="ellipse">
            <a:avLst/>
          </a:prstGeom>
          <a:solidFill>
            <a:srgbClr val="5B2A86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10549890" y="1737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</a:t>
            </a:r>
            <a:endParaRPr lang="en-US" sz="1000" dirty="0"/>
          </a:p>
        </p:txBody>
      </p:sp>
      <p:sp>
        <p:nvSpPr>
          <p:cNvPr id="30" name="Text 27"/>
          <p:cNvSpPr txBox="1"/>
          <p:nvPr/>
        </p:nvSpPr>
        <p:spPr>
          <a:xfrm>
            <a:off x="9852660" y="2194560"/>
            <a:ext cx="17602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Recertificación</a:t>
            </a:r>
            <a:endParaRPr lang="en-US" sz="1000" dirty="0"/>
          </a:p>
        </p:txBody>
      </p:sp>
      <p:sp>
        <p:nvSpPr>
          <p:cNvPr id="31" name="Text 28"/>
          <p:cNvSpPr txBox="1"/>
          <p:nvPr/>
        </p:nvSpPr>
        <p:spPr>
          <a:xfrm>
            <a:off x="9852660" y="2651760"/>
            <a:ext cx="17602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12 meses; autorización NOM-029</a:t>
            </a:r>
            <a:endParaRPr lang="en-US" sz="900" dirty="0"/>
          </a:p>
        </p:txBody>
      </p:sp>
      <p:sp>
        <p:nvSpPr>
          <p:cNvPr id="32" name="Shape 29"/>
          <p:cNvSpPr/>
          <p:nvPr/>
        </p:nvSpPr>
        <p:spPr>
          <a:xfrm>
            <a:off x="548640" y="3429000"/>
            <a:ext cx="11109960" cy="2788920"/>
          </a:xfrm>
          <a:prstGeom prst="roundRect">
            <a:avLst>
              <a:gd name="adj" fmla="val 2623"/>
            </a:avLst>
          </a:prstGeom>
          <a:solidFill>
            <a:srgbClr val="F4F5F9"/>
          </a:solidFill>
          <a:ln/>
        </p:spPr>
      </p:sp>
      <p:sp>
        <p:nvSpPr>
          <p:cNvPr id="33" name="Text 30"/>
          <p:cNvSpPr txBox="1"/>
          <p:nvPr/>
        </p:nvSpPr>
        <p:spPr>
          <a:xfrm>
            <a:off x="822960" y="3611880"/>
            <a:ext cx="10561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REGLAS DE LA CERTIFICACIÓN</a:t>
            </a:r>
            <a:endParaRPr lang="en-US" sz="1000" dirty="0"/>
          </a:p>
        </p:txBody>
      </p:sp>
      <p:sp>
        <p:nvSpPr>
          <p:cNvPr id="34" name="Text 31"/>
          <p:cNvSpPr txBox="1"/>
          <p:nvPr/>
        </p:nvSpPr>
        <p:spPr>
          <a:xfrm>
            <a:off x="822960" y="3995928"/>
            <a:ext cx="105156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 certificación vale solo para el proceso y el rol evaluados; se suspende tras un incidente grave hasta reevaluar.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El trabajador con experiencia puede solicitar la evaluación directa como examen de suficiencia (LFT art. 153-U).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Sin certificación vigente no se ejecuta la tarea crítica: el permiso de trabajo lo bloquea.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10 · AUTOEVALUACIÓN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Autoevaluación: cinco preguntas antes del OJT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MM-EAF-04 v0.2 (Borrador para validación) y FT-ACE-001 v0.3. Material de capacitación; no sustituye al manual. Respuestas en las notas del orador.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548640" y="1463040"/>
            <a:ext cx="3611880" cy="2286000"/>
          </a:xfrm>
          <a:prstGeom prst="roundRect">
            <a:avLst>
              <a:gd name="adj" fmla="val 3200"/>
            </a:avLst>
          </a:prstGeom>
          <a:solidFill>
            <a:srgbClr val="F4F5F9"/>
          </a:solidFill>
          <a:ln/>
        </p:spPr>
      </p:sp>
      <p:sp>
        <p:nvSpPr>
          <p:cNvPr id="8" name="Shape 5"/>
          <p:cNvSpPr/>
          <p:nvPr/>
        </p:nvSpPr>
        <p:spPr>
          <a:xfrm>
            <a:off x="731520" y="1645920"/>
            <a:ext cx="457200" cy="457200"/>
          </a:xfrm>
          <a:prstGeom prst="ellipse">
            <a:avLst/>
          </a:prstGeom>
          <a:solidFill>
            <a:srgbClr val="FC6A45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1298448" y="173736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PREGUNTA 1</a:t>
            </a:r>
            <a:endParaRPr lang="en-US" sz="800" dirty="0"/>
          </a:p>
        </p:txBody>
      </p:sp>
      <p:sp>
        <p:nvSpPr>
          <p:cNvPr id="10" name="Text 7"/>
          <p:cNvSpPr txBox="1"/>
          <p:nvPr/>
        </p:nvSpPr>
        <p:spPr>
          <a:xfrm>
            <a:off x="731520" y="224028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¿Cuál es el orden correcto de las 5 reglas de oro?</a:t>
            </a:r>
            <a:endParaRPr lang="en-US" sz="1250" dirty="0"/>
          </a:p>
        </p:txBody>
      </p:sp>
      <p:sp>
        <p:nvSpPr>
          <p:cNvPr id="11" name="Text 8"/>
          <p:cNvSpPr txBox="1"/>
          <p:nvPr/>
        </p:nvSpPr>
        <p:spPr>
          <a:xfrm>
            <a:off x="731520" y="2715768"/>
            <a:ext cx="32461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a) Aterrizar, desconectar, verificar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b) Desconectar, bloquear, 0 V, tierra, zona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c) Verificar, aterrizar, desconectar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297680" y="1463040"/>
            <a:ext cx="3611880" cy="2286000"/>
          </a:xfrm>
          <a:prstGeom prst="roundRect">
            <a:avLst>
              <a:gd name="adj" fmla="val 3200"/>
            </a:avLst>
          </a:prstGeom>
          <a:solidFill>
            <a:srgbClr val="F4F5F9"/>
          </a:solidFill>
          <a:ln/>
        </p:spPr>
      </p:sp>
      <p:sp>
        <p:nvSpPr>
          <p:cNvPr id="13" name="Shape 10"/>
          <p:cNvSpPr/>
          <p:nvPr/>
        </p:nvSpPr>
        <p:spPr>
          <a:xfrm>
            <a:off x="4480560" y="1645920"/>
            <a:ext cx="457200" cy="457200"/>
          </a:xfrm>
          <a:prstGeom prst="ellipse">
            <a:avLst/>
          </a:prstGeom>
          <a:solidFill>
            <a:srgbClr val="FA4642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5047488" y="173736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PREGUNTA 2</a:t>
            </a:r>
            <a:endParaRPr lang="en-US" sz="800" dirty="0"/>
          </a:p>
        </p:txBody>
      </p:sp>
      <p:sp>
        <p:nvSpPr>
          <p:cNvPr id="15" name="Text 12"/>
          <p:cNvSpPr txBox="1"/>
          <p:nvPr/>
        </p:nvSpPr>
        <p:spPr>
          <a:xfrm>
            <a:off x="4480560" y="224028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¿Cómo se usa el detector de tensión MT?</a:t>
            </a:r>
            <a:endParaRPr lang="en-US" sz="1250" dirty="0"/>
          </a:p>
        </p:txBody>
      </p:sp>
      <p:sp>
        <p:nvSpPr>
          <p:cNvPr id="16" name="Text 13"/>
          <p:cNvSpPr txBox="1"/>
          <p:nvPr/>
        </p:nvSpPr>
        <p:spPr>
          <a:xfrm>
            <a:off x="4480560" y="2715768"/>
            <a:ext cx="32461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a) Solo en las 3 fases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b) Fuente conocida, 3 fases, fuente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c) Una fase basta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8046720" y="1463040"/>
            <a:ext cx="3611880" cy="2286000"/>
          </a:xfrm>
          <a:prstGeom prst="roundRect">
            <a:avLst>
              <a:gd name="adj" fmla="val 3200"/>
            </a:avLst>
          </a:prstGeom>
          <a:solidFill>
            <a:srgbClr val="F4F5F9"/>
          </a:solidFill>
          <a:ln/>
        </p:spPr>
      </p:sp>
      <p:sp>
        <p:nvSpPr>
          <p:cNvPr id="18" name="Shape 15"/>
          <p:cNvSpPr/>
          <p:nvPr/>
        </p:nvSpPr>
        <p:spPr>
          <a:xfrm>
            <a:off x="8229600" y="1645920"/>
            <a:ext cx="457200" cy="457200"/>
          </a:xfrm>
          <a:prstGeom prst="ellipse">
            <a:avLst/>
          </a:prstGeom>
          <a:solidFill>
            <a:srgbClr val="EA3450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8796528" y="173736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PREGUNTA 3</a:t>
            </a:r>
            <a:endParaRPr lang="en-US" sz="800" dirty="0"/>
          </a:p>
        </p:txBody>
      </p:sp>
      <p:sp>
        <p:nvSpPr>
          <p:cNvPr id="20" name="Text 17"/>
          <p:cNvSpPr txBox="1"/>
          <p:nvPr/>
        </p:nvSpPr>
        <p:spPr>
          <a:xfrm>
            <a:off x="8229600" y="224028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El índice de polarización salió en 1.2. ¿Qué procede?</a:t>
            </a:r>
            <a:endParaRPr lang="en-US" sz="1250" dirty="0"/>
          </a:p>
        </p:txBody>
      </p:sp>
      <p:sp>
        <p:nvSpPr>
          <p:cNvPr id="21" name="Text 18"/>
          <p:cNvSpPr txBox="1"/>
          <p:nvPr/>
        </p:nvSpPr>
        <p:spPr>
          <a:xfrm>
            <a:off x="8229600" y="2715768"/>
            <a:ext cx="32461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a) Energizar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b) No energizar y secar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c) Repetir en un año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548640" y="3886200"/>
            <a:ext cx="3611880" cy="2286000"/>
          </a:xfrm>
          <a:prstGeom prst="roundRect">
            <a:avLst>
              <a:gd name="adj" fmla="val 3200"/>
            </a:avLst>
          </a:prstGeom>
          <a:solidFill>
            <a:srgbClr val="F4F5F9"/>
          </a:solidFill>
          <a:ln/>
        </p:spPr>
      </p:sp>
      <p:sp>
        <p:nvSpPr>
          <p:cNvPr id="23" name="Shape 20"/>
          <p:cNvSpPr/>
          <p:nvPr/>
        </p:nvSpPr>
        <p:spPr>
          <a:xfrm>
            <a:off x="731520" y="4069080"/>
            <a:ext cx="457200" cy="457200"/>
          </a:xfrm>
          <a:prstGeom prst="ellipse">
            <a:avLst/>
          </a:prstGeom>
          <a:solidFill>
            <a:srgbClr val="DB2259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1298448" y="416052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PREGUNTA 4</a:t>
            </a:r>
            <a:endParaRPr lang="en-US" sz="800" dirty="0"/>
          </a:p>
        </p:txBody>
      </p:sp>
      <p:sp>
        <p:nvSpPr>
          <p:cNvPr id="25" name="Text 22"/>
          <p:cNvSpPr txBox="1"/>
          <p:nvPr/>
        </p:nvSpPr>
        <p:spPr>
          <a:xfrm>
            <a:off x="731520" y="466344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Dispara la protección Buchholz. ¿Qué haces?</a:t>
            </a:r>
            <a:endParaRPr lang="en-US" sz="1250" dirty="0"/>
          </a:p>
        </p:txBody>
      </p:sp>
      <p:sp>
        <p:nvSpPr>
          <p:cNvPr id="26" name="Text 23"/>
          <p:cNvSpPr txBox="1"/>
          <p:nvPr/>
        </p:nvSpPr>
        <p:spPr>
          <a:xfrm>
            <a:off x="731520" y="5138928"/>
            <a:ext cx="32461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a) Re-energizar una vez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b) No re-energizar; DGA urgente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c) Bloquear el OLTC y seguir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4297680" y="3886200"/>
            <a:ext cx="3611880" cy="2286000"/>
          </a:xfrm>
          <a:prstGeom prst="roundRect">
            <a:avLst>
              <a:gd name="adj" fmla="val 3200"/>
            </a:avLst>
          </a:prstGeom>
          <a:solidFill>
            <a:srgbClr val="F4F5F9"/>
          </a:solidFill>
          <a:ln/>
        </p:spPr>
      </p:sp>
      <p:sp>
        <p:nvSpPr>
          <p:cNvPr id="28" name="Shape 25"/>
          <p:cNvSpPr/>
          <p:nvPr/>
        </p:nvSpPr>
        <p:spPr>
          <a:xfrm>
            <a:off x="4480560" y="4069080"/>
            <a:ext cx="457200" cy="457200"/>
          </a:xfrm>
          <a:prstGeom prst="ellipse">
            <a:avLst/>
          </a:prstGeom>
          <a:solidFill>
            <a:srgbClr val="C8136C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5047488" y="416052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PREGUNTA 5</a:t>
            </a:r>
            <a:endParaRPr lang="en-US" sz="800" dirty="0"/>
          </a:p>
        </p:txBody>
      </p:sp>
      <p:sp>
        <p:nvSpPr>
          <p:cNvPr id="30" name="Text 27"/>
          <p:cNvSpPr txBox="1"/>
          <p:nvPr/>
        </p:nvSpPr>
        <p:spPr>
          <a:xfrm>
            <a:off x="4480560" y="466344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Al restituir, ¿qué se verifica con las tierras temporales?</a:t>
            </a:r>
            <a:endParaRPr lang="en-US" sz="1250" dirty="0"/>
          </a:p>
        </p:txBody>
      </p:sp>
      <p:sp>
        <p:nvSpPr>
          <p:cNvPr id="31" name="Text 28"/>
          <p:cNvSpPr txBox="1"/>
          <p:nvPr/>
        </p:nvSpPr>
        <p:spPr>
          <a:xfrm>
            <a:off x="4480560" y="5138928"/>
            <a:ext cx="32461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a) Que estén limpias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b) Número retirado = número colocado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c) Que queden en el primario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8046720" y="3886200"/>
            <a:ext cx="3611880" cy="2286000"/>
          </a:xfrm>
          <a:prstGeom prst="roundRect">
            <a:avLst>
              <a:gd name="adj" fmla="val 3200"/>
            </a:avLst>
          </a:prstGeom>
          <a:solidFill>
            <a:srgbClr val="F4F5F9"/>
          </a:solidFill>
          <a:ln/>
        </p:spPr>
      </p:sp>
      <p:sp>
        <p:nvSpPr>
          <p:cNvPr id="33" name="Shape 30"/>
          <p:cNvSpPr/>
          <p:nvPr/>
        </p:nvSpPr>
        <p:spPr>
          <a:xfrm>
            <a:off x="8229600" y="4069080"/>
            <a:ext cx="457200" cy="457200"/>
          </a:xfrm>
          <a:prstGeom prst="ellipse">
            <a:avLst/>
          </a:prstGeom>
          <a:solidFill>
            <a:srgbClr val="3F6FD1"/>
          </a:solidFill>
          <a:ln/>
        </p:spPr>
      </p:sp>
      <p:pic>
        <p:nvPicPr>
          <p:cNvPr id="3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48472" y="4187952"/>
            <a:ext cx="219456" cy="219456"/>
          </a:xfrm>
          <a:prstGeom prst="rect">
            <a:avLst/>
          </a:prstGeom>
        </p:spPr>
      </p:pic>
      <p:sp>
        <p:nvSpPr>
          <p:cNvPr id="35" name="Text 31"/>
          <p:cNvSpPr txBox="1"/>
          <p:nvPr/>
        </p:nvSpPr>
        <p:spPr>
          <a:xfrm>
            <a:off x="8796528" y="416052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3F6FD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CRITERIO</a:t>
            </a:r>
            <a:endParaRPr lang="en-US" sz="800" dirty="0"/>
          </a:p>
        </p:txBody>
      </p:sp>
      <p:sp>
        <p:nvSpPr>
          <p:cNvPr id="36" name="Text 32"/>
          <p:cNvSpPr txBox="1"/>
          <p:nvPr/>
        </p:nvSpPr>
        <p:spPr>
          <a:xfrm>
            <a:off x="8229600" y="466344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Mínimo 4 de 5 correctas</a:t>
            </a:r>
            <a:endParaRPr lang="en-US" sz="1250" dirty="0"/>
          </a:p>
        </p:txBody>
      </p:sp>
      <p:sp>
        <p:nvSpPr>
          <p:cNvPr id="37" name="Text 33"/>
          <p:cNvSpPr txBox="1"/>
          <p:nvPr/>
        </p:nvSpPr>
        <p:spPr>
          <a:xfrm>
            <a:off x="8229600" y="5138928"/>
            <a:ext cx="32461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 4 o más pasas al OJT supervisado. Con menos, repasa el manual con tu instructor y repite la autoevaluación.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11 · CIERRE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Reglas de la alta tensión que no se negocian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B8B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Siguiente paso: OJT supervisado y evaluación práctica (TD-P07); registro en IMaS y DC-3/SIRCE. Validación: pendiente.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B8B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548640" y="1828800"/>
            <a:ext cx="5394960" cy="1188720"/>
          </a:xfrm>
          <a:prstGeom prst="roundRect">
            <a:avLst>
              <a:gd name="adj" fmla="val 4615"/>
            </a:avLst>
          </a:prstGeom>
          <a:solidFill>
            <a:srgbClr val="FFFFFF">
              <a:alpha val="10000"/>
            </a:srgbClr>
          </a:solidFill>
          <a:ln w="635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31520" y="2029968"/>
            <a:ext cx="365760" cy="365760"/>
          </a:xfrm>
          <a:prstGeom prst="ellipse">
            <a:avLst/>
          </a:prstGeom>
          <a:solidFill>
            <a:srgbClr val="FF8C47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31520" y="20299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1280160" y="1993392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Sin licencia de maniobra no se toca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1280160" y="2395728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D6D8E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Firmada por C-12 y C-05, con unifilar actualizado.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6126480" y="1828800"/>
            <a:ext cx="5394960" cy="1188720"/>
          </a:xfrm>
          <a:prstGeom prst="roundRect">
            <a:avLst>
              <a:gd name="adj" fmla="val 4615"/>
            </a:avLst>
          </a:prstGeom>
          <a:solidFill>
            <a:srgbClr val="FFFFFF">
              <a:alpha val="10000"/>
            </a:srgbClr>
          </a:solidFill>
          <a:ln w="635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309360" y="2029968"/>
            <a:ext cx="365760" cy="365760"/>
          </a:xfrm>
          <a:prstGeom prst="ellipse">
            <a:avLst/>
          </a:prstGeom>
          <a:solidFill>
            <a:srgbClr val="FA4642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6309360" y="20299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6858000" y="1993392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Sin 0 V verificado no hay trabajo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6858000" y="2395728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D6D8E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Detector probado antes y después, en las 3 fases.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548640" y="3200400"/>
            <a:ext cx="5394960" cy="1188720"/>
          </a:xfrm>
          <a:prstGeom prst="roundRect">
            <a:avLst>
              <a:gd name="adj" fmla="val 4615"/>
            </a:avLst>
          </a:prstGeom>
          <a:solidFill>
            <a:srgbClr val="FFFFFF">
              <a:alpha val="10000"/>
            </a:srgbClr>
          </a:solidFill>
          <a:ln w="635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731520" y="3401568"/>
            <a:ext cx="365760" cy="365760"/>
          </a:xfrm>
          <a:prstGeom prst="ellipse">
            <a:avLst/>
          </a:prstGeom>
          <a:solidFill>
            <a:srgbClr val="DB2259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731520" y="34015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000" dirty="0"/>
          </a:p>
        </p:txBody>
      </p:sp>
      <p:sp>
        <p:nvSpPr>
          <p:cNvPr id="20" name="Text 17"/>
          <p:cNvSpPr txBox="1"/>
          <p:nvPr/>
        </p:nvSpPr>
        <p:spPr>
          <a:xfrm>
            <a:off x="1280160" y="3364992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Tierras en ambos lados, contadas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1280160" y="3767328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D6D8E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Primario y secundario; al restituir, retiradas = colocadas.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6126480" y="3200400"/>
            <a:ext cx="5394960" cy="1188720"/>
          </a:xfrm>
          <a:prstGeom prst="roundRect">
            <a:avLst>
              <a:gd name="adj" fmla="val 4615"/>
            </a:avLst>
          </a:prstGeom>
          <a:solidFill>
            <a:srgbClr val="FFFFFF">
              <a:alpha val="10000"/>
            </a:srgbClr>
          </a:solidFill>
          <a:ln w="635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309360" y="3401568"/>
            <a:ext cx="365760" cy="365760"/>
          </a:xfrm>
          <a:prstGeom prst="ellipse">
            <a:avLst/>
          </a:prstGeom>
          <a:solidFill>
            <a:srgbClr val="AA0582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6309360" y="34015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000" dirty="0"/>
          </a:p>
        </p:txBody>
      </p:sp>
      <p:sp>
        <p:nvSpPr>
          <p:cNvPr id="25" name="Text 22"/>
          <p:cNvSpPr txBox="1"/>
          <p:nvPr/>
        </p:nvSpPr>
        <p:spPr>
          <a:xfrm>
            <a:off x="6858000" y="3364992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Solo S-20 certificado maniobra MT</a:t>
            </a:r>
            <a:endParaRPr lang="en-US" sz="1200" dirty="0"/>
          </a:p>
        </p:txBody>
      </p:sp>
      <p:sp>
        <p:nvSpPr>
          <p:cNvPr id="26" name="Text 23"/>
          <p:cNvSpPr txBox="1"/>
          <p:nvPr/>
        </p:nvSpPr>
        <p:spPr>
          <a:xfrm>
            <a:off x="6858000" y="3767328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D6D8E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NOM-029 vigente (12 meses) y autorización escrita del patrón.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ArcelorMittal México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MM-EAF-04 — Mantenimiento del transformador del horno y maniobras de alta tensión · Capacitación</dc:title>
  <dc:subject>PptxGenJS Presentation</dc:subject>
  <dc:creator>Gerencia de Capacitación y Desarrollo</dc:creator>
  <cp:lastModifiedBy>Gerencia de Capacitación y Desarrollo</cp:lastModifiedBy>
  <cp:revision>1</cp:revision>
  <dcterms:created xsi:type="dcterms:W3CDTF">2026-09-25T19:42:26Z</dcterms:created>
  <dcterms:modified xsi:type="dcterms:W3CDTF">2026-09-25T19:42:26Z</dcterms:modified>
</cp:coreProperties>
</file>