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Objetivo del curso: Entregar un distribuidor de 45 t seco, bien armado y precalentado, con tapón y SEN alineados y probados. Principio rector: Si hay vapor, humedad o una pieza fuera de tolerancia, el distribuidor no se libera.
PUNTOS A CERRAR: Presentar a los participantes, el objetivo y la ruta de certificación (teoría → OJT → evaluación práctica).
[POR CONFIRMAR] Curva de curado y precalentamiento, espesor del revestimiento y casco &lt; 100 °C con C-15 · Prueba de asiento, presión de gas y centrado de la SEN ± 5 mm con el OEM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objetivo como una conducta observable que se evaluará en campo.
PUNTOS A CERRAR: Confirmar que cada participante sabe en qué rol ejecutará el proceso.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 = ejecuta · A = dueño y responsable final · C = consultado · I = informado.
PUNTOS A CERRAR: Cada participante identifica su renglón y a quién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Recorrer el flujo de izquierda a derecha; señalar las compuertas de decisión.
PUNTOS A CERRAR: Qué pasa si una condición previa no se cumple: no se avanza.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La columna resaltada es lo que se verifica ANTES de operar.
PUNTOS A CERRAR: Equipo que no pasa la verificación = no se opera; se reporta.
[POR CONFIRMAR] Especificaciones marcadas en la tabla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renglón: objetivo, rango normal, alarma y la acción (columna resaltada).
PUNTOS A CERRAR: Ejercicio: dar un valor fuera de rango y pedir la acción correcta.
[POR CONFIRMAR] Curva de precalentamiento y curado: [Validar con C-15 / proveedor]. Prueba de asiento y presión de gas: [Validar con OEM / Ingeniería de Proceso].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Los controles con ★ son críticos: si fallan puede haber una fatalidad. Se evalúan en la certificación.
PUNTOS A CERRAR: Cualquier persona puede y debe detener el trabajo si un control crítico no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Ubicar en la figura dónde está cada persona durante el proceso.
PUNTOS A CERRAR: Distancias y rutas de escape: preguntar a cada participante la suya.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Relacionar cada variable con el defecto que causa aguas abajo.
PUNTOS A CERRAR: Quién registra cada variable y dónde.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Practicar cada renglón como simulacro de mesa: síntoma → acción → a quién avisar.
PUNTOS A CERRAR: Nadie improvisa: si no está aquí, se detiene y se escala al supervisor.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Nivel requerido: U (Ejecución Autónoma y Habilitada). La evaluación es práctica, ante evaluador certificado, sobre los pasos ★.
PUNTOS A CERRAR: Quien no demuestra todos los pasos ★ queda "aún no competente" y repite OJT dirigido.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Explicar la ruta completa y los tiempos.
PUNTOS A CERRAR: Aclarar que la evaluación no es sanción: es la evidencia de que la persona puede trabajar segura.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RESPUESTAS:
1) b) 1,100 ± 50 °C — Objetivo 1,100 °C, rango 1,050–1,150 °C; &lt; 1,000 °C seguir calentando y &gt; 1,200 °C daña el refractario.
2) b) No liberar y repetir la etapa 1 — Vapor es humedad: con acero líquido es explosión. Se regresa al quemador y se repite la etapa 1.
3) a) 10 min — Objetivo ≤ 5 min, límite 10 min; si se pasa, regresar al quemador o recalentar la SEN.
4) a) ± 1 mm — ± 1 mm con plantilla; si es mayor, reajustar el mecanismo antes de la prueba de asiento.
5) b) Con aspiradora o aire — Nunca con agua: cualquier humedad que quede puede provocar una explosión de vapor al colar.
CÓMO EXPLICARLA: dar 5 minutos; revisar en grupo. PUNTOS A CERRAR: mínimo 4 de 5 correctas para pasar a OJT.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Cerrar con las reglas que no se negocian; cada participante repite la regla más importante para su rol.
PUNTOS A CERRAR: Agendar OJT con el supervisor y el evaluador.
[POR CONFIRMAR] Curva de curado y precalentamiento, espesor del revestimiento y casco &lt; 100 °C con C-15 · Prueba de asiento, presión de gas y centrado de la SEN ± 5 mm con el OEM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960120" cy="3965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CAPACITACIÓN TÉCNICA · OPERACIÓN · MO-CC1-01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98448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Preparación distribuidor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860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Entregar un distribuidor de 45 t seco, bien armado y precalentado, con tapón y SEN alineados y probados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 h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 (S-15)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6032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9748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80 h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269748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· 10 distribuidores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470916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críticos ★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2084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672084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meses de vigencia (TD-P07)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208008" y="1325880"/>
            <a:ext cx="0" cy="3505200"/>
          </a:xfrm>
          <a:prstGeom prst="line">
            <a:avLst/>
          </a:prstGeom>
          <a:noFill/>
          <a:ln w="12700">
            <a:solidFill>
              <a:srgbClr val="8A8C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025128" y="1143000"/>
            <a:ext cx="365760" cy="365760"/>
          </a:xfrm>
          <a:prstGeom prst="ellipse">
            <a:avLst/>
          </a:prstGeom>
          <a:solidFill>
            <a:srgbClr val="FF8C47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25128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528048" y="11247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Revestimiento OK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25128" y="1844040"/>
            <a:ext cx="365760" cy="365760"/>
          </a:xfrm>
          <a:prstGeom prst="ellipse">
            <a:avLst/>
          </a:prstGeom>
          <a:solidFill>
            <a:srgbClr val="FC6A45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25128" y="1844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528048" y="182575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Armado y curado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025128" y="2545080"/>
            <a:ext cx="365760" cy="365760"/>
          </a:xfrm>
          <a:prstGeom prst="ellipse">
            <a:avLst/>
          </a:prstGeom>
          <a:solidFill>
            <a:srgbClr val="FA464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025128" y="2545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9528048" y="252679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Tapón y SEN probados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9025128" y="3246120"/>
            <a:ext cx="365760" cy="365760"/>
          </a:xfrm>
          <a:prstGeom prst="ellipse">
            <a:avLst/>
          </a:prstGeom>
          <a:solidFill>
            <a:srgbClr val="DB2259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25128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9528048" y="322783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Todo seco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9025128" y="3947160"/>
            <a:ext cx="365760" cy="365760"/>
          </a:xfrm>
          <a:prstGeom prst="ellipse">
            <a:avLst/>
          </a:prstGeom>
          <a:solidFill>
            <a:srgbClr val="C8136C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25128" y="3947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9528048" y="3928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Precalentar por curva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9025128" y="4648200"/>
            <a:ext cx="365760" cy="365760"/>
          </a:xfrm>
          <a:prstGeom prst="ellipse">
            <a:avLst/>
          </a:prstGeom>
          <a:solidFill>
            <a:srgbClr val="AA058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025128" y="4648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9528048" y="46299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Entrega a S-13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5349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Para: S-15 Preparador de Distribuidores · S-13 Operador de Plataforma de Colada · Operador de grúa de CC · C-06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6446520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MO-CC1-01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 · OBJETIVOS DE APRENDIZAJE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terminar, entregas un distribuidor seco y probado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MO-CC1-01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F8C4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Armar el revestimiento de trabajo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Masa seca de MgO de 40–60 mm, medida en 8 puntos, curada según la curva del proveedor, sin zonas blandas.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Alinear y probar tapón y SEN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Tapón centrado ± 1 mm y sin paso de luz; SEN vertical ± 1 mm con puertos a caras angostas ± 2°; argón 3–8 NL/min.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Precalentar por curva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Cara caliente 1,100 ± 50 °C y SEN ≥ 1,000 °C; ≤ 10 min sin quemador antes de abrir la olla.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Trabajar sin exponerte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Permiso de espacio confinado con gases medidos, LOTO, izaje con grúa de 50 t y quemadores encendidos con purga.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675120" y="1463040"/>
            <a:ext cx="4983480" cy="4754880"/>
          </a:xfrm>
          <a:prstGeom prst="roundRect">
            <a:avLst>
              <a:gd name="adj" fmla="val 1538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6949440" y="164592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QUÉ IMPORTA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6949440" y="2029968"/>
            <a:ext cx="4434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distribuidor recibe 45 t de acero líquido. Si tiene humedad, explota al primer contacto con el metal. Si la presa, el tapón o la SEN quedan mal armados, el acero sale sucio, la SEN se tapa y la secuencia se corta antes de tiempo.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6949440" y="4681728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hay vapor, humedad o una pieza fuera de tolerancia, el distribuidor no se libera.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 · ROLES Y RESPONSABILIDADES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S-15 arma y calienta; C-06 firma listo para colar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MO-CC1-01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6720840"/>
                <a:gridCol w="10058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hace en la preparación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RACI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 Supervisor de Colada Continua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Autoriza el distribuidor como listo para colar; firma la lista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S-15 Preparador de Distribuidores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Arma revestimiento, pad, presas, tapón y SEN; precalienta; registra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 Operador de Plataforma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Recibe; verifica centrado, SEN y temperatura antes de colar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Operador de grúa de CC (50 t)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Traslada el distribuidor vacío (propuesta S-27; hoy lo cubre S-15)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S-24 Refractarista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 el revestimiento permanente; reparaciones menores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C-15 Especialista de Refractarios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Define materiales, curvas de secado y criterios de rechazo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C-08 Ingeniero de Proceso de CC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Define presas, dique, tipo de SEN y de tapón por grado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C-16 Especialista de Seguridad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 controles de espacio confinado y de izaje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arranque seguro se gana en la preparación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MO-CC1-01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461897" cy="640080"/>
          </a:xfrm>
          <a:prstGeom prst="homePlate">
            <a:avLst/>
          </a:prstGeom>
          <a:solidFill>
            <a:srgbClr val="FF8C4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1323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Inspección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Casco y permanente: desprendimiento ≤ 30 mm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937385" y="1691640"/>
            <a:ext cx="1461897" cy="640080"/>
          </a:xfrm>
          <a:prstGeom prst="chevron">
            <a:avLst/>
          </a:prstGeom>
          <a:solidFill>
            <a:srgbClr val="FC6A4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0197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Revestimiento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98310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MgO 40–60 mm, vibrado y curado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326130" y="1691640"/>
            <a:ext cx="1461897" cy="640080"/>
          </a:xfrm>
          <a:prstGeom prst="chevron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49072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Pad, presa, dique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337185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Pad ± 50 mm; presa y dique ± 20 mm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714875" y="1691640"/>
            <a:ext cx="1461897" cy="640080"/>
          </a:xfrm>
          <a:prstGeom prst="chevron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87946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Tapón y SEN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476059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Centrado ± 1 mm; puertos ± 2°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6103620" y="1691640"/>
            <a:ext cx="1461897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26821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Prueba de asiento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614934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paso de luz; argón 3–8 NL/min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7492365" y="1691640"/>
            <a:ext cx="1461897" cy="640080"/>
          </a:xfrm>
          <a:prstGeom prst="chevron">
            <a:avLst/>
          </a:prstGeom>
          <a:solidFill>
            <a:srgbClr val="C8136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5695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Todo seco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753808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Mortero, sellos, pad y SEN sin humedad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8881110" y="1691640"/>
            <a:ext cx="1461897" cy="640080"/>
          </a:xfrm>
          <a:prstGeom prst="chevron">
            <a:avLst/>
          </a:prstGeom>
          <a:solidFill>
            <a:srgbClr val="AA0582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904570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Precalentar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892683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Cara 1,100 ± 50 °C; SEN ≥ 1,000 °C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10269855" y="1691640"/>
            <a:ext cx="1461897" cy="640080"/>
          </a:xfrm>
          <a:prstGeom prst="chevron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43444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Liberar y llevar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1031557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Firma de C-06; ≤ 10 min sin quemador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48640" y="3703320"/>
            <a:ext cx="11109960" cy="2514600"/>
          </a:xfrm>
          <a:prstGeom prst="roundRect">
            <a:avLst>
              <a:gd name="adj" fmla="val 2909"/>
            </a:avLst>
          </a:prstGeom>
          <a:solidFill>
            <a:srgbClr val="F4F5F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22960" y="388620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PRINCIPIO DEL PROCESO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822960" y="43159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Cada prueba que falla regresa al paso anterior: ningún distribuidor avanza con una duda abierta.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513892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hay vapor, humedad o una pieza fuera de tolerancia, el distribuidor no se libera.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Presa, dique y tapón deciden la limpieza del acero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MO-CC1-01 v0.1 (Borrador para validación) y FT-ACE-001 v0.3. Material de capacitación; no sustituye al manual. Figura: cc1-distribuidor.svg.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  <p:pic>
        <p:nvPicPr>
          <p:cNvPr id="7" name="Image 1" descr="/home/user/HR/10-plantas/01-steelmaking/img/png/cc1-distribuid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94" y="1417320"/>
            <a:ext cx="6640651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pad absorbe el chorro del tubo protector; la presa y el dique suben el flujo a la superficie para flotar inclusiones.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barra tapón asienta en la buza interior y regula el paso de acero a la SEN.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Los niveles de operación (900–1,100 mm) dependen de una buena preparación del recipiente.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 · EQUIPOS Y MAQUINARIA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distribuidor no sale sin tapón y SEN en tolerancia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MO-CC1-01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291840"/>
                <a:gridCol w="2697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Equipo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Función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 clave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Verificar antes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Revestimiento de trabajo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Cara en contacto con el acero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MgO 40–60 mm [Validar con C-15]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Espesor uniforme, sin huecos, seco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Pad, presa y dique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Calman y limpian el flujo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Configuración por grado (C-08)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Pad ± 50 mm; presa y dique ± 20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Barra tapón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Regula el flujo; inyecta argón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Alúmina-grafito con canal de 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Centrada ± 1 mm; canal libre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SEN (buza sumergida)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Lleva el acero bajo el menisco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Puertos laterales; manga de ZrO₂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Vertical ± 1 mm; puertos ± 2°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Estación de precalentamiento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Calienta distribuidor, tapón y SEN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Quemadores gas natural–aire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Detector de flama y corte probados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Carro de distribuidor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Lleva a posición de colada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Elevación, centrado X–Y, celdas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Frenos, límites y pesaje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Grúa de CC (50 t)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Mueve el distribuidor vacío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Solo distribuidor vacío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Inspección pre-uso (MS-ACE-04)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 · PARÁMETROS DE OPERACIÓN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Humedad, alineación y temperatura definen la liberación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MO-CC1-01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737360"/>
                <a:gridCol w="2057400"/>
                <a:gridCol w="2103120"/>
                <a:gridCol w="28803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Parámetro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Objetivo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Rango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Alarma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Espesor revestimiento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40–60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35 mm en un punto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Rehacer la zona; avisar a C-15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Humedad del revestimiento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Seco (curado completo)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Curva del proveedor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Vapor o curado incompleto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liberar; repetir curado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Centrado tapón / buza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 1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1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Reajustar el mecanismo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SEN: verticalidad / puertos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 mm / 0°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 1 mm / ± 2°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1 mm o &gt; 2°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Reinstalar la SEN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Cara caliente al terminar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1,100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1,050–1,150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1,000 o &gt; 1,200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Seguir calentando / bajar fuego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SEN al salir del quemador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1,050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1,000–1,150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1,000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arrancar; precalentar SEN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Tiempo de precalentamiento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3.0 h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2.5–4.0 h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2.5 h o &gt; 6 h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Continuar / consultar a C-15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Tiempo sin quemador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5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10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10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Regresar al quemador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5897880"/>
            <a:ext cx="11109960" cy="365760"/>
          </a:xfrm>
          <a:prstGeom prst="rect">
            <a:avLst/>
          </a:prstGeom>
          <a:solidFill>
            <a:srgbClr val="FFF4D6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40080" y="5897880"/>
            <a:ext cx="10927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CONFIRMAR  </a:t>
            </a:r>
            <a:pPr indent="0" marL="0">
              <a:buNone/>
            </a:pPr>
            <a:r>
              <a:rPr lang="en-US" sz="95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Curva de precalentamiento y curado: [Validar con C-15 / proveedor]. Prueba de asiento y presión de gas: [Validar con OEM / Ingeniería de Proceso].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Humedad, carga suspendida y espacio confinado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MO-CC1-01 v0.1 (Borrador para validación) y FT-ACE-001 v0.3. Material de capacitación; no sustituye al manual. Serie MS-ACE.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Cero humedad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Curado y precalentamiento completos por curva; ningún material mojado o a la intemperie. Si hay vapor, no se libera.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Espacio confinado con permiso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LOTO de quemadores y carro; O₂ 19.5–23.5 %, LEL &lt; 10 %, CO &lt; 25 ppm, ≤ 45 °C; vigía y rescate (MS-ACE-05).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Carga suspendida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Distribuidor vacío de 30–40 t solo con grúa de 50 t; nadie bajo la carga ni a ± 5 m de su proyección.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Quemadores de gas natural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Purga y prueba de flama antes de encender. 10 % LEL: sal y corta gas; 20 % LEL: evacuar el sector.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949440" y="1463040"/>
            <a:ext cx="4709160" cy="4754880"/>
          </a:xfrm>
          <a:prstGeom prst="roundRect">
            <a:avLst>
              <a:gd name="adj" fmla="val 1553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7223760" y="164592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OBLIGATORIO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7223760" y="2029968"/>
            <a:ext cx="4206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Casco con barboquejo, lentes y ropa FR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Botas con metatarsal y guantes de carnaza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Aluminizado y careta IR junto al distribuidor caliente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Respirador P100 para MgO y fibra cerámica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Protección auditiva si hay ≥ 85 dB(A)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de Acería: protege contra calor y proyección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MO-CC1-01 v0.1 (Borrador para validación) y FT-ACE-001 v0.3. Material de capacitación; no sustituye al manual. Figura: ms-epp-acería.svg.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  <p:pic>
        <p:nvPicPr>
          <p:cNvPr id="7" name="Image 1" descr="/home/user/HR/10-plantas/01-steelmaking/img/png/ms-epp-acerí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970" y="1417320"/>
            <a:ext cx="6057900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ropa FR o de algodón es la base; el sintético está prohibido.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Junto al distribuidor caliente se agregan aluminizado y careta con filtro IR.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respirador P100 es obligatorio al manejar masa seca y fibra.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07 · CALIDAD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 distribuidor mal armado da inclusiones y clogging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MO-CC1-01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3017520"/>
                <a:gridCol w="2697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Variable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y cuándo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 falla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Limpieza del distribuidor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restos sueltos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Visual, cada distribuidor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Inclusiones exógenas, SEN tapada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Posición de presa y dique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Plano de C-08 ± 20 mm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Cinta, cada distribuidor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Inclusiones por corto circuito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Alineación de la SEN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 1 mm; ± 2°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Plantilla, cada distribuidor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Flujo asimétrico, grietas longitudinales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Temperatura de SEN al arranque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1,000 °C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Pirómetro, cada arranque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Congelamiento o taponamiento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Canal de argón del tapón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Flujo libre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Rotámetro, cada distribuidor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Clogging por Al₂O₃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56235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Una SEN desalineada o fría no se corrige en colada: se paga en grietas, inclusiones y SEN tapada.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seis no admiten error (1/3)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MO-CC1-01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Recibe e inspecciona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Casco &lt; 100 °C [Validar con C-15]; orejas y casco sin grietas; permanente con desprendimiento ≤ 30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grietas pasantes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S-15 / S-24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Limpia el interior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Retira restos de casco, escoria y polvo con aspiradora o aire; nunca con agua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Limpio y seco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Entra solo con permiso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LOTO de quemadores y carro; mide O₂ → LEL → CO y temperatura ≤ 45 °C; vigía y rescate listos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Permiso firmado con lecturas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S-15 / 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Coloca el pad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Centrado bajo la posición del tubo protector ± 50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Asentado sin holgura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Arma el revestimiento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Coloca el former, vacía y vibra la masa seca de MgO; espesor 40–60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40 mm en 8 puntos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Cura el revestimiento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Calienta el former según la curva del proveedor (típico ≈ 250 °C) y retíralo [Validar con C-15]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zonas blandas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Instala presa y dique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Según el plano del grado (C-08); sella las ranuras con mortero seco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Posición ± 20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seis no admiten error (2/3)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MO-CC1-01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Instala buza y tapón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Asienta la buza con mortero; monta el tapón en el mecanismo; conecta el argón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Centrado ± 1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el asiento del tapón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 el tapón y aplica prueba de luz o de aire [Validar con OEM / Ingeniería de Proceso]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paso de luz ni fuga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el argón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Abre argón a presión nominal y confirma el flujo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3–8 NL/min estable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Instala la SEN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Verticalidad ± 1 mm; puertos hacia caras angostas ± 2°; registra el lote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Dentro de tolerancia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 que todo esté seco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 mortero, sellos, pad y SEN; nada mojado ni almacenado a la intemperie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Registro firmado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Lleva a precalentamiento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Izaje con grúa de 50 t; nadie bajo la carga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Colocado y asegurado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Grúa / S-15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Enciende los quemadores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Purga, prueba del detector de flama y encendido según la secuencia de la estación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Flama estable, sin alarma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seis no admiten error (3/3)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MO-CC1-01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Precalienta y libera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Curva etapas 1–4; registra T cada 30 min; vapor = 0; C-06 firma listo para colar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1,100 ± 50 °C; SEN ≥ 1,000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S-15 / 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Traslada, centra y entrega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10 min sin fuego antes de abrir la olla; SEN centrada ± 5 mm [Validar con OEM]; registra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Registro completo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09 · CONDICIONES ANORMALES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hay vapor, el distribuidor no se libera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MO-CC1-01 v0.1 (Borrador para validación) y FT-ACE-001 v0.3. Material de capacitación; no sustituye al manual. Serie MS-ACE-09 para emergencias.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400800"/>
                <a:gridCol w="19659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Síntoma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 inmediata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Avisar 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Vapor o humedad visible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liberar; regresar al quemador; repetir etapa 1 de la curva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Pérdida de flama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Corte automático; purga antes de reencender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S-21, 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Olor a gas o detector en alarma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 la válvula o ESD; ≥ 10 % LEL sal; ≥ 20 % LEL evacuar; sin flama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C-16, S-21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Cara caliente no sube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Ajusta relación aire–gas; revisa el quemador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S-21, C-08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Temperatura &gt; 1,200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Baja el fuego; registra; C-15 evalúa el daño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Grieta en SEN o tapón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Cambia la pieza y repite su precalentamiento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Falla la prueba de asiento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Recentrar; si persiste, cambiar tapón o buza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Olla retrasada &gt; 6 h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Mantén 1,050–1,100 °C; C-15 decide si se usa o se rearma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Certificación nivel U: demostrar, no asistir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MO-CC1-01 v0.1 (Borrador para validación) y FT-ACE-001 v0.3. Material de capacitación; no sustituye al manual. TD-P07. ILUO: I Introducción · L Práctica supervisada · U Ejecución autónoma · O Dominio e instrucción.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Introducción y Conocimiento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2121408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21408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670048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Aprendizaje y Práctica Supervisada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3694176" y="1554480"/>
            <a:ext cx="502920" cy="502920"/>
          </a:xfrm>
          <a:prstGeom prst="ellipse">
            <a:avLst/>
          </a:prstGeom>
          <a:solidFill>
            <a:srgbClr val="E8551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94176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242816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Ejecución Autónoma y Habilitada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266944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266944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815584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Dominio, Optimización e Instrucción</a:t>
            </a:r>
            <a:endParaRPr lang="en-US" sz="7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65836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94360"/>
                <a:gridCol w="1097280"/>
                <a:gridCol w="1737360"/>
                <a:gridCol w="1051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ILUO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Teoría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OJT supervisado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Vigencia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S-15 Preparador de Distribuidores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80 h / 10 distribuidores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meses; confinado e izaje 12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 Operador de Plataforma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 recepciones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 Supervisor de CC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 (evaluador)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 h + evaluador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Operador de grúa de CC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Curso NOM-006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Según MS-ACE-04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7406640" y="1463040"/>
            <a:ext cx="4251960" cy="4754880"/>
          </a:xfrm>
          <a:prstGeom prst="roundRect">
            <a:avLst>
              <a:gd name="adj" fmla="val 1720"/>
            </a:avLst>
          </a:prstGeom>
          <a:solidFill>
            <a:srgbClr val="F4F5F9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680960" y="1645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★ QUE SE EVALÚAN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680960" y="2029968"/>
            <a:ext cx="3749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Mide gases y temperatura y aplica LOTO antes de entrar al distribuidor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Explica y aplica la curva de curado; reconoce señales de humedad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Ejecuta la prueba de asiento del tapón e interpreta el resultado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Verifica que todos los materiales estén secos y lo registra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Da señales correctas al izaje y se mantiene fuera de la zona bajo la carga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Enciende quemadores con purga y prueba de flama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 la teoría a la certificación en seis pasos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MO-CC1-01 v0.1 (Borrador para validación) y FT-ACE-001 v0.3. Material de capacitación; no sustituye al manual. Registro de competencia en IMaS; constancia DC-3/SIRCE (obligación STPS).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1474470" y="1920240"/>
            <a:ext cx="9258300" cy="0"/>
          </a:xfrm>
          <a:prstGeom prst="line">
            <a:avLst/>
          </a:prstGeom>
          <a:noFill/>
          <a:ln w="12700">
            <a:solidFill>
              <a:srgbClr val="D6D8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91590" y="1737360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15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 h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143250" y="1737360"/>
            <a:ext cx="365760" cy="36576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4325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44602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44602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80 %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994910" y="1737360"/>
            <a:ext cx="365760" cy="36576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99491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supervisado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429768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80 h / 10 distribuidores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846570" y="1737360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4657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14934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Evaluación práctica ★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14934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100 % pasos ★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698230" y="1737360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69823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00100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Registro IMaS y DC-3/SIRCE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10 días hábiles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0549890" y="1737360"/>
            <a:ext cx="365760" cy="365760"/>
          </a:xfrm>
          <a:prstGeom prst="ellipse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5498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8526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Recertificación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98526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meses; confinado e izaje 12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48640" y="3429000"/>
            <a:ext cx="11109960" cy="2788920"/>
          </a:xfrm>
          <a:prstGeom prst="roundRect">
            <a:avLst>
              <a:gd name="adj" fmla="val 2623"/>
            </a:avLst>
          </a:prstGeom>
          <a:solidFill>
            <a:srgbClr val="F4F5F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22960" y="361188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CERTIFICACIÓN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3995928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certificación vale solo para el proceso y el rol evaluados; se suspende tras un incidente grave hasta reevaluar.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trabajador con experiencia puede solicitar la evaluación directa como examen de suficiencia (LFT art. 153-U).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certificación vigente no se ejecuta la tarea crítica: el permiso de trabajo lo bloquea.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AUTOEVALUACIÓN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Autoevaluación: cinco preguntas antes del OJT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MO-CC1-01 v0.1 (Borrador para validación) y FT-ACE-001 v0.3. Material de capacitación; no sustituye al manual. Respuestas en las notas del orador.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8" name="Shape 5"/>
          <p:cNvSpPr/>
          <p:nvPr/>
        </p:nvSpPr>
        <p:spPr>
          <a:xfrm>
            <a:off x="731520" y="1645920"/>
            <a:ext cx="457200" cy="45720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844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1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¿Qué temperatura de cara caliente se busca al terminar el precalentamiento?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800 ± 50 °C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1,100 ± 50 °C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1,300 ± 50 °C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80560" y="1645920"/>
            <a:ext cx="457200" cy="45720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2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Ves vapor en el distribuidor al 90 % de la curva. ¿Qué haces?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Liberarlo si ya pasó 3 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No liberar y repetir la etapa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Subir el fuego al máximo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4672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8" name="Shape 15"/>
          <p:cNvSpPr/>
          <p:nvPr/>
        </p:nvSpPr>
        <p:spPr>
          <a:xfrm>
            <a:off x="8229600" y="1645920"/>
            <a:ext cx="457200" cy="45720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79652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3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¿Cuánto tiempo máximo puede estar el distribuidor sin quemador antes de abrir la olla?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10 min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30 min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60 min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864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3" name="Shape 20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29844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4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73152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¿Qué tolerancia tiene el centrado del tapón sobre la buza interior?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± 1 mm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± 5 mm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± 20 mm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29768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8" name="Shape 25"/>
          <p:cNvSpPr/>
          <p:nvPr/>
        </p:nvSpPr>
        <p:spPr>
          <a:xfrm>
            <a:off x="4480560" y="4069080"/>
            <a:ext cx="457200" cy="457200"/>
          </a:xfrm>
          <a:prstGeom prst="ellipse">
            <a:avLst/>
          </a:prstGeom>
          <a:solidFill>
            <a:srgbClr val="C8136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04748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5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48056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¿Con qué se limpia el interior del distribuidor?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48056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Con agua a presión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Con aspiradora o aire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Con vapor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04672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33" name="Shape 30"/>
          <p:cNvSpPr/>
          <p:nvPr/>
        </p:nvSpPr>
        <p:spPr>
          <a:xfrm>
            <a:off x="8229600" y="4069080"/>
            <a:ext cx="457200" cy="457200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472" y="4187952"/>
            <a:ext cx="219456" cy="219456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879652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3F6FD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CRITERIO</a:t>
            </a:r>
            <a:endParaRPr lang="en-US" sz="800" dirty="0"/>
          </a:p>
        </p:txBody>
      </p:sp>
      <p:sp>
        <p:nvSpPr>
          <p:cNvPr id="36" name="Text 32"/>
          <p:cNvSpPr txBox="1"/>
          <p:nvPr/>
        </p:nvSpPr>
        <p:spPr>
          <a:xfrm>
            <a:off x="822960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Mínimo 4 de 5 correctas</a:t>
            </a:r>
            <a:endParaRPr lang="en-US" sz="1250" dirty="0"/>
          </a:p>
        </p:txBody>
      </p:sp>
      <p:sp>
        <p:nvSpPr>
          <p:cNvPr id="37" name="Text 33"/>
          <p:cNvSpPr txBox="1"/>
          <p:nvPr/>
        </p:nvSpPr>
        <p:spPr>
          <a:xfrm>
            <a:off x="822960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4 o más pasas al OJT supervisado. Con menos, repasa el manual con tu instructor y repite la autoevaluación.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 · CIERRE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del distribuidor que no se negocian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paso: OJT supervisado y evaluación práctica (TD-P07); registro en IMaS y DC-3/SIRCE. Validación: visto bueno técnica (pendientes: seguridad, laboral, diseño instruccional).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2029968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vapor no se libera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Humedad + acero líquido = explosión (MS-ACE-03).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12648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09360" y="2029968"/>
            <a:ext cx="365760" cy="36576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0936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permiso no se entra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Espacio confinado: LOTO, gases medidos, vigía y rescate listos.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1520" y="3401568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Nadie bajo el distribuidor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Izaje solo con grúa de 50 t; ± 5 m de la proyección libre.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09360" y="3401568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0936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85800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purga no se enciende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Purga y prueba de flama antes de cada encendido de quemadores.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ArcelorMittal México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MO-CC1-01 — Preparación y precalentamiento del distribuidor · Capacitación</dc:title>
  <dc:subject>PptxGenJS Presentation</dc:subject>
  <dc:creator>Gerencia de Capacitación y Desarrollo</dc:creator>
  <cp:lastModifiedBy>Gerencia de Capacitación y Desarrollo</cp:lastModifiedBy>
  <cp:revision>1</cp:revision>
  <dcterms:created xsi:type="dcterms:W3CDTF">2026-09-25T19:42:26Z</dcterms:created>
  <dcterms:modified xsi:type="dcterms:W3CDTF">2026-09-25T19:42:26Z</dcterms:modified>
</cp:coreProperties>
</file>