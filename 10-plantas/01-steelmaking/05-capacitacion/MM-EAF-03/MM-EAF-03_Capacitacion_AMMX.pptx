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Espesor suficiente para no perforar el horno y un EBT que vacía limpio, con material seco y nadie bajo el EBT. Principio rector: Material seco, horno bloqueado y espesor medido: si falta uno, no se trabaja.
PUNTOS A CERRAR: Presentar a los participantes, el objetivo y la ruta de certificación (teoría → OJT → evaluación práctica).
[POR CONFIRMAR] Espesores nuevos y mínimos de solera, bancos y capa de seguridad con el proveedor y C-15 · Vida de camisas y bloque de asiento; tiempo de cambio de camisas · Curvas de secado y parámetros de la máquina de gunning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Espesores nuevos, vida de camisas (150–250) y del bloque (400–600 coladas), consumo de gunning y curvas de secado: [Validar con OEM / C-15].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≥ 230 mm — Nuevo 150–180 mm; con Ø ≥ 230 mm o vaciado &lt; 2.5 min se cambian camisas.
2) b) No cargar, vaciar y avisar — Más de 400 °C es espesor crítico: no se carga, se vacía y se hace gunning o paro. Nunca agua.
3) a) 0.5 % — Arriba de 0.5 % no se usa: la humedad en contacto con el acero provoca explosión de vapor.
4) c) Basculado hacia la puerta de escoria — Hacia la puerta de escoria, con el talón lejos del EBT y el perno de basculamiento puesto.
5) b) 0.8–1.5 m — 0.8–1.5 m, capas ≤ 50 mm, con cara ≥ 800 °C y nunca sobre metal líquido.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Espesores nuevos y mínimos de solera, bancos y capa de seguridad con el proveedor y C-15 · Vida de camisas y bloque de asiento; tiempo de cambio de camisas · Curvas de secado y parámetros de la máquina de gunning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MANTENIMIENTO · MM-EAF-03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Refractario EAF y EBT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Espesor suficiente para no perforar el horno y un EBT que vacía limpio, con material seco y nadie bajo el EBT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(S-24 Refractarista)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3 cambios de EBT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Medir espesores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Material seco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Horno basculado y LOTO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Cambiar camisas EBT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Llenar y gunning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Liberación C-15 + C-05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S-24 Refractarista · S-03 Ayudante de Horno · S-01 Primer Hornero · S-19 Mecánico · S-20 Electricista · S-04 Grúa de Carga · C-15 · C-05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MM-EAF-03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reparas sin humedad y sin perforar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MM-EAF-03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Medir y decidir la reparación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Láser, sondeo y termografía: solera ≥ 300 mm, bancos ≥ 150 mm, coraza ≤ 300 °C.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Trabajar bajo el EBT sin riesgo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Horno basculado hacia la puerta de escoria y bloqueado; LOTO y prueba de energía cero antes de abrir.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Cambiar camisas y llenar el EBT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Camisas alineadas (≤ 5 mm), Ø nuevo 150–180 mm, placa plana y arena ≤ 0.5 % de humedad con cono.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Proyectar sin humedad sobre metal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Gunning con cara ≥ 800 °C, a 0.8–1.5 m, capas ≤ 50 mm y nunca sobre metal líquido.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el espesor cae al mínimo, el horno se perfora: metal fuera de la coraza y contacto con paneles de agua, que es explosión. La humedad en arena o refractario también explota. Un EBT erosionado arrastra escoria: reversión de P, más Al y cal, e inclusiones.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Material seco, horno bloqueado y espesor medido: si falta uno, no se trabaja.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C-15 decide la reparación; C-05 libera la operación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MM-EAF-03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el refractario del EAF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C-15 Especialista de Refractarios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Dueño; define reparación, materiales y espesor mínimo; libera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S-24 Refractarista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Gunning, reparación de solera, cambio de EBT y reline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S-03 Ayudante de Horno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Apoyo en gunning y llenado del EBT; limpieza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Operador de Púlpito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Posiciona y bloquea el horno; programa de sinterizado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Supervisor de Hornos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 paro y reinicio; firma la liberación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(operación)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 Operador de Grúa de Carga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Iza materiales, camisas y bloques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 / S-19 Mecánica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Tapa del EBT y máquina de gunning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Especialista de Seguridad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Espacio confinado, calor y polvo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espesor medido decide: gunning, parcheo o reline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MM-EAF-03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307592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Medir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Láser, sondeo, termografía, t de vaciado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783080" y="1691640"/>
            <a:ext cx="1307592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9476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Decidir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Gunning, parcheo, reline o cambio EBT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017520" y="1691640"/>
            <a:ext cx="1307592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821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Preparar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Material seco y precalentado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51960" y="1691640"/>
            <a:ext cx="1307592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4165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Bascular y LOTO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Hacia puerta de escoria; perno puesto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48640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5099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Energía cero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53212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Arco y basculamiento rechazados; gases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72084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854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Cambiar EBT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Camisas, bloque de salida, Ø 150–180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55280" y="1691640"/>
            <a:ext cx="1307592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198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Llenar y proyectar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Arena ≤ 0.5 %; gunning con cara caliente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9189720" y="1691640"/>
            <a:ext cx="1307592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543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Secar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Curva del proveedor o calor del horno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424160" y="1691640"/>
            <a:ext cx="1307592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5887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Liberar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4698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Firma C-15 y C-05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Nada entra al horno ni al EBT húmedo: la humedad sobre el acero es explosión de vapor.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Material seco, horno bloqueado y espesor medido: si falta uno, no se trabaja.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Ø ≥ 230 mm o vaciado &lt; 2.5 min: se cambian camisas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MM-EAF-03 v0.2 (Borrador para validación) y FT-ACE-001 v0.3. Material de capacitación; no sustituye al manual. Figura: mm-ebt-cambio.svg.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mm-ebt-camb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43990"/>
            <a:ext cx="6766560" cy="47929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EBT tiene bloque de asiento, camisas del tubo, bloque de salida y placa de cierre.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 cambian camisas con Ø ≥ 230 mm, vaciado &lt; 2.5 min, escalón &gt; 20 mm o 150–250 coladas.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arena de llenado va seca (≤ 0.5 %) y forma un cono de 50–100 mm sobre el canal.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capa de seguridad nunca debe quedar expuesta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MM-EAF-03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Solera (masa seca MgO)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Contener baño y talón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Nueva ≈ 650 mm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Residual ≥ 300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Bancos y línea de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Resistir escoria FeO 25–35 %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MgO-C nuevo 450 mm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Residual ≥ 150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Capa de seguridad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Última barrera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Magnesia 115–230 mm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Nunca expuesta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Bloque de asiento EBT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Entrada del canal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MgO-C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Erosión ≤ 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Camisas del tubo EBT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Canal de vaciado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Ø interior nuevo 150–180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Ø ≤ 230 mm; vaciado ≥ 2.5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Máquina de gunning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Proyectar masa de MgO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Aire 4–6 bar; agua 10–15 %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Boquilla libre; dosificación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Escáner láser y termografía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Medir perfil y puntos calientes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±10 mm [Validar]; 0–500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Calibrados; referencias en coraza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Solera &lt; 200 mm o coraza &gt; 400 °C: no se opera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MM-EAF-03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Tolerancia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Límite / rechazo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Frecuencia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Espesor de solera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450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300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300 reparar; &lt; 200 parar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Semanal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Espesor de bancos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250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150 gunning; &lt; 100 parar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 cada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de coraza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300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300 investigar; &gt; 400 parar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Diario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Ø del canal EBT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150–180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210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230 mm: cambiar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Semanal y cada 50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Tiempo de vaciado 150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3–5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2.5 cambiar; &gt; 6 revisar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Apertura libre del EBT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98 %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95 %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Humedad de arena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0.3 %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0.5 %: no usar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lote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Rebote de gunning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20 %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Mensual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Espesores nuevos, vida de camisas (150–250) y del bloque (400–600 coladas), consumo de gunning y curvas de secado: [Validar con OEM / C-15].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Humedad y espesor bajo: los dos que perforan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MM-EAF-03 v0.2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LOTO con el horno basculado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E1 MT, E2 HPU con perno de basculamiento, E3 O₂/GN purgados, E4 DRI y carbono, E6 bóveda asegurada; agua de paneles en servicio.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Prueba de energía cero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Arco y basculamiento rechazados, gases a 0 bar; O₂ 19.5–23.5 %, CO &lt; 25 ppm, &lt; 10 % LEL; ≤ 1 % de lectura para oxicortar.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Nadie bajo el EBT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roja bajo el EBT y la trayectoria de la escoria hasta confirmar zona sin metal (MS-ACE-01).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Cero humedad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Arena ≤ 0.5 %, materiales secos y precalentados, secado obligatorio; nunca proyectar sobre metal líquido (MS-ACE-03).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aluminizada y careta con visor dorado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 con cubrenuca y guantes largos aluminizados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Botas metatarsales con polainas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Respirador P100 y protección auditiva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Entrada al horno: arnés con línea de rescate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Detector de 4 gases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horno se bloquea basculado, no a nivel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MM-EAF-03 v0.2 (Borrador para validación) y FT-ACE-001 v0.3. Material de capacitación; no sustituye al manual. Figura: ms-loto-puntos-eaf.svg.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pic>
        <p:nvPicPr>
          <p:cNvPr id="7" name="Image 1" descr="/home/user/HR/10-plantas/01-steelmaking/img/png/ms-loto-puntos-ea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47" y="1417320"/>
            <a:ext cx="591014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pasador de basculamiento fija el horno hacia la puerta de escoria, con el talón lejos del EBT.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Interruptor de AT extraído, unidad hidráulica a 0 bar y O₂/GN con doble bloqueo y purga.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cualquier lectura de energía cero no cumple, no se trabaja y se avisa a C-04.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EBT erosionado arrastra escoria y fósforo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MM-EAF-03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Arrastre de escoria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Vaciado ≥ 2.5 min, sin vórtice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Tiempo de vaciado cada colada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Reversión de P (&gt; 0.015 %), inclusiones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Apertura libre del EBT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95 % (meta 98 %)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colada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Lanceo con O₂: reoxidación y 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Limpieza del canal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costras ni escalón &gt; 20 mm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Semanal con plantilla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Chorro abierto: reoxidación y 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MgO de escoria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8–10 %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Análisis de escoria (C-07)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Desgaste acelerado del MgO-C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canal ancho vacía rápido y deja pasar escoria: el fósforo regresa al acero.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Catorce pasos; once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MM-EAF-03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Prepara materiales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Camisas, bloque, mortero, arena (≤ 0.5 %), herramienta de izaje; todo seco y precalentado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Material seco verificado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S-24,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Vacía y posiciona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Tras el vaciado, bascula el horno hacia la puerta de escoria; talón lejos del EBT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Zona EBT sin metal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S-01,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Aplica LOTO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E1, E2 con perno de basculamiento, E3, E4 y E6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Candados puestos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S-20, 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energía 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Arco y basculamiento rechazados; O₂ 19.5–23.5 %, CO &lt; 25 ppm, &lt; 10 % LEL (≤ 1 % si hay oxicorte)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energía; gases en rango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la placa de cierre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Desde el puesto de mando local, con la zona despejada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Abierta sin salida de metal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camisas y bloque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Extractor o empujador OEM; limpia restos con barra y oxicorte si hay costra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escalón &gt; 10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S-24, S-03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el bloque de asiento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Plantilla en la boca del canal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Erosión ≤ 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Catorce pasos; once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MM-EAF-03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camisas nuevas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Método OEM; mortero en juntas ≤ 3 mm; relleno con masa apisonada sin huecos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Desalineación ≤ 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bloque de salida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Asienta y fija; verifica que la placa cierre plana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Cierre sin luz visible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S-24, 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el Ø nuevo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Calibrador en 3 alturas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150–180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y llena el EBT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la placa; llena con arena seca hasta formar un cono de 50–100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Canal lleno, cono visible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Gunning de bancos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Cara ≥ 800 °C, a 0.8–1.5 m, capas ≤ 50 mm; nunca sobre metal líquido ni formando charcos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Cubierto; rebote ≤ 15 %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LOTO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Orden inverso; personal fuera de la zona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Candados retirados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Checklist firmado por C-15 y C-05; primera colada vigilando el tiempo de vaciado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Firmado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C-15,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Coraza &gt; 400 °C: no se carga, se vacía y se avisa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MM-EAF-03 v0.2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Coraza &gt; 400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cargar; vaciar; gunning o paro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Metal o escoria por la coraza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Emergencia MS-ACE-09; arco fuera; evacuar a ≥ 25 m; nunca 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brigada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 en alarma en el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Sal; detén el trabajo en caliente; ventila; a CO ≥ 200 ppm evacúa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C-16,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EBT no abre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Lanceo con O₂ solo por personal autorizado y con EPP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Vaciado &lt; 2.5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Programar cambio antes de la siguiente colada crítica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C-15,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Tapa del EBT no cierra plana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llenar; limpiar o reparar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S-19,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Solera con hoyo o metal infiltrado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Parcheo con masa seca en el siguiente paro; vigilar termografía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C-15,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Línea de escoria &gt; 2× tendencia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práctica de escoria (MgO, FeO, arco)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C-07,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MM-EAF-03 v0.2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S-24 Refractarista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60 h / 3 cambios de EBT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meses; confinado 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S-03 Ayudante de Horno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 Electricista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NOM-029 + MT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bloqueos E1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 Grúa de Carga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NOM-006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izajes de camisas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C-15 Especialista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Proveedor + 16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meses; emisor 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Quien entra al horno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NOM-033 (8 h) + NOM-015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Simulacro de rescate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Usa materiales secos y precalentados; arena de llenado ≤ 0.5 % de humedad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Bascula y bloquea el horno antes de trabajar bajo el EBT; LOTO completo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energía cero y gases: &lt; 10 % LEL para entrar, ≤ 1 % para oxicortar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Abre la placa con la zona despejada; coloca camisas alineadas y placa cerrando plana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Forma el cono de arena y no proyecta gunning sobre metal líquido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Retira candados con conteo, registra Ø y espesores y libera con C-15 y C-05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MM-EAF-03 v0.2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60 h / 3 cambios de EBT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meses; confinado 12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MM-EAF-03 v0.2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¿Con qué Ø interior del canal se cambian las camisas del EBT?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≥ 180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≥ 230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≥ 300 mm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termografía marca 420 °C en la coraza. ¿Qué haces?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Seguir y medir mañana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No cargar, vaciar y avisar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Enfriar con agua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¿Cuál es la humedad máxima de la arena de llenado?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0.5 %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2 %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5 %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¿Cómo se posiciona el horno para cambiar el EBT en caliente?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A nivel (0°)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Basculado hacia el EBT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Basculado hacia la puerta de escoria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¿A qué distancia se proyecta el gunning?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0.2–0.5 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0.8–1.5 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3–4 m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refractario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técnica, seguridad, laboral, diseño instruccional.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Material húmedo no entra al horno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Arena ≤ 0.5 %; secado obligatorio tras reparación húmeda.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el EBT sin horno bloqueado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Horno basculado a la puerta de escoria, perno puesto y LOTO.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Coraza &gt; 400 °C: no se carga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 vacía y se repara; solera &lt; 200 mm o bancos &lt; 100 mm: no se opera.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LOTO y energía cero no se toca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Arco y basculamiento rechazados; gases en rango antes de entrar.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MM-EAF-03 — Reparación de refractario del EAF: solera, bancos, EBT y gunning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2026-09-25T20:02:37Z</dcterms:created>
  <dcterms:modified xsi:type="dcterms:W3CDTF">2026-09-25T20:02:37Z</dcterms:modified>
</cp:coreProperties>
</file>