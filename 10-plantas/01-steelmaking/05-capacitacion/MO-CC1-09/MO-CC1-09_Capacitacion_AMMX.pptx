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Objetivo del curso: Que ningún planchón defectuoso llegue a Laminación sin disposición: detectar, medir, decidir y retroalimentar. Principio rector: Ningún planchón con evento se libera sin inspección, y ninguno se despacha sin disposición en el MES.
PUNTOS A CERRAR: Presentar a los participantes, el objetivo y la ruta de certificación (teoría → OJT → evaluación práctica).
[POR CONFIRMAR] Criterios de aceptación, profundidades, clases de segregación y tolerancias con el OEM y Laminación · Asignación del escarpador en CAT-ACE-001 y metas de tasas de escarpeo, degradación y rechazo [Supuesto]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objetivo como una conducta observable que se evaluará en campo.
PUNTOS A CERRAR: Confirmar que cada participante sabe en qué rol ejecutará el proceso.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R = ejecuta · A = dueño y responsable final · C = consultado · I = informado.
PUNTOS A CERRAR: Cada participante identifica su renglón y a quién escala.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Recorrer el flujo de izquierda a derecha; señalar las compuertas de decisión.
PUNTOS A CERRAR: Qué pasa si una condición previa no se cumple: no se avanza.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Usar la figura para ubicar cada componente en planta.
PUNTOS A CERRAR: Pedir a un participante que explique la figura con sus palabras.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La columna resaltada es lo que se verifica ANTES de operar.
PUNTOS A CERRAR: Equipo que no pasa la verificación = no se opera; se reporta.
[POR CONFIRMAR] Especificaciones marcadas en la tabla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renglón: objetivo, rango normal, alarma y la acción (columna resaltada).
PUNTOS A CERRAR: Ejercicio: dar un valor fuera de rango y pedir la acción correcta.
[POR CONFIRMAR] Superficial ≤ 5 mm se escarpa; &gt; 10 mm o grieta &gt; 1 m se rechaza. Criterios, clases y tolerancias: [Validar con OEM / Ingeniería de Proceso] y Laminación.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Los controles con ★ son críticos: si fallan puede haber una fatalidad. Se evalúan en la certificación.
PUNTOS A CERRAR: Cualquier persona puede y debe detener el trabajo si un control crítico no está.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Ubicar en la figura dónde está cada persona durante el proceso.
PUNTOS A CERRAR: Distancias y rutas de escape: preguntar a cada participante la suya.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Relacionar cada variable con el defecto que causa aguas abajo.
PUNTOS A CERRAR: Quién registra cada variable y dónde.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paso y demostrar en campo o simulador los pasos ★ (renglones resaltados).
PUNTOS A CERRAR: Los pasos ★ no se omiten ni se cambian de orden.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paso y demostrar en campo o simulador los pasos ★ (renglones resaltados).
PUNTOS A CERRAR: Los pasos ★ no se omiten ni se cambian de orden.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Leer cada paso y demostrar en campo o simulador los pasos ★ (renglones resaltados).
PUNTOS A CERRAR: Los pasos ★ no se omiten ni se cambian de orden.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Practicar cada renglón como simulacro de mesa: síntoma → acción → a quién avisar.
PUNTOS A CERRAR: Nadie improvisa: si no está aquí, se detiene y se escala al supervisor.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Nivel requerido: U (Ejecución Autónoma y Habilitada). La evaluación es práctica, ante evaluador certificado, sobre los pasos ★.
PUNTOS A CERRAR: Quien no demuestra todos los pasos ★ queda "aún no competente" y repite OJT dirigido.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Explicar la ruta completa y los tiempos.
PUNTOS A CERRAR: Aclarar que la evaluación no es sanción: es la evidencia de que la persona puede trabajar segura.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RESPUESTAS:
1) b) Escarpear y re-inspeccionar — ≤ 5 mm se escarpa (1–2 pasadas); 5–10 mm solo con autorización de C-09; &gt; 10 mm o &gt; 1 m se rechaza.
2) b) 220 mm — 3–5 mm por pasada, ≤ 10 mm por cara y espesor final ≥ 220 mm, con transición suave.
3) a) Enderezado a 700–900 °C — HSLA con Nb/V/N enderezado en la zona de baja ductilidad y marcas de oscilación profundas.
4) b) El metalurgista C-09 — S-18 envía evidencia (foto, medida, macro); la decisión documentada es de C-09.
5) b) Retener la colada y avisar a CC1 — Es una señal de proceso (nivel, polvo, SEN, peritéctico): retén la colada completa y avisa de inmediato.
CÓMO EXPLICARLA: dar 5 minutos; revisar en grupo. PUNTOS A CERRAR: mínimo 4 de 5 correctas para pasar a OJT.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CÓMO EXPLICARLA: Cerrar con las reglas que no se negocian; cada participante repite la regla más importante para su rol.
PUNTOS A CERRAR: Agendar OJT con el supervisor y el evaluador.
[POR CONFIRMAR] Criterios de aceptación, profundidades, clases de segregación y tolerancias con el OEM y Laminación · Asignación del escarpador en CAT-ACE-001 y metas de tasas de escarpeo, degradación y rechazo [Supuesto]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HR/2e49314e-011f-5c3a-b225-07e067b46c12/scratchpad/ammx/assets/am_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20040"/>
            <a:ext cx="960120" cy="3965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914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CAPACITACIÓN TÉCNICA · OPERACIÓN · MO-CC1-09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298448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Inspección de planchón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28600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Que ningún planchón defectuoso llegue a Laminación sin disposición: detectar, medir, decidir y retroalimentar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32 h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teoría (S-18)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56032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69748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160 h</a:t>
            </a:r>
            <a:endParaRPr lang="en-US" sz="3200" dirty="0"/>
          </a:p>
        </p:txBody>
      </p:sp>
      <p:sp>
        <p:nvSpPr>
          <p:cNvPr id="11" name="Text 8"/>
          <p:cNvSpPr txBox="1"/>
          <p:nvPr/>
        </p:nvSpPr>
        <p:spPr>
          <a:xfrm>
            <a:off x="269748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OJT · 300 planchones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57200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70916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3200" dirty="0"/>
          </a:p>
        </p:txBody>
      </p:sp>
      <p:sp>
        <p:nvSpPr>
          <p:cNvPr id="14" name="Text 11"/>
          <p:cNvSpPr txBox="1"/>
          <p:nvPr/>
        </p:nvSpPr>
        <p:spPr>
          <a:xfrm>
            <a:off x="470916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pasos críticos ★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583680" y="352044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10000"/>
            </a:srgbClr>
          </a:solidFill>
          <a:ln w="9525">
            <a:solidFill>
              <a:srgbClr val="FFFFFF">
                <a:alpha val="25000"/>
              </a:srgb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720840" y="361188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≥ 90%</a:t>
            </a:r>
            <a:endParaRPr lang="en-US" sz="3200" dirty="0"/>
          </a:p>
        </p:txBody>
      </p:sp>
      <p:sp>
        <p:nvSpPr>
          <p:cNvPr id="17" name="Text 14"/>
          <p:cNvSpPr txBox="1"/>
          <p:nvPr/>
        </p:nvSpPr>
        <p:spPr>
          <a:xfrm>
            <a:off x="6720840" y="42976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concordancia con el catálogo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9208008" y="1325880"/>
            <a:ext cx="0" cy="3505200"/>
          </a:xfrm>
          <a:prstGeom prst="line">
            <a:avLst/>
          </a:prstGeom>
          <a:noFill/>
          <a:ln w="12700">
            <a:solidFill>
              <a:srgbClr val="8A8CA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025128" y="1143000"/>
            <a:ext cx="365760" cy="365760"/>
          </a:xfrm>
          <a:prstGeom prst="ellipse">
            <a:avLst/>
          </a:prstGeom>
          <a:solidFill>
            <a:srgbClr val="FF8C47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25128" y="1143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9528048" y="112471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Condición segura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9025128" y="1844040"/>
            <a:ext cx="365760" cy="365760"/>
          </a:xfrm>
          <a:prstGeom prst="ellipse">
            <a:avLst/>
          </a:prstGeom>
          <a:solidFill>
            <a:srgbClr val="FC6A45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025128" y="1844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9528048" y="182575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 = MES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9025128" y="2545080"/>
            <a:ext cx="365760" cy="365760"/>
          </a:xfrm>
          <a:prstGeom prst="ellipse">
            <a:avLst/>
          </a:prstGeom>
          <a:solidFill>
            <a:srgbClr val="FA4642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025128" y="2545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9528048" y="252679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Visual y dimensional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9025128" y="3246120"/>
            <a:ext cx="365760" cy="365760"/>
          </a:xfrm>
          <a:prstGeom prst="ellipse">
            <a:avLst/>
          </a:prstGeom>
          <a:solidFill>
            <a:srgbClr val="DB2259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9025128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9528048" y="322783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Clasificar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9025128" y="3947160"/>
            <a:ext cx="365760" cy="365760"/>
          </a:xfrm>
          <a:prstGeom prst="ellipse">
            <a:avLst/>
          </a:prstGeom>
          <a:solidFill>
            <a:srgbClr val="C8136C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025128" y="3947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9528048" y="392887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Escarpear o decidir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9025128" y="4648200"/>
            <a:ext cx="365760" cy="365760"/>
          </a:xfrm>
          <a:prstGeom prst="ellipse">
            <a:avLst/>
          </a:prstGeom>
          <a:solidFill>
            <a:srgbClr val="AA0582"/>
          </a:solidFill>
          <a:ln w="19050">
            <a:solidFill>
              <a:srgbClr val="2A2A40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9025128" y="4648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9528048" y="462991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Liberar y retroalimentar</a:t>
            </a:r>
            <a:endParaRPr lang="en-US" sz="1150" dirty="0"/>
          </a:p>
        </p:txBody>
      </p:sp>
      <p:sp>
        <p:nvSpPr>
          <p:cNvPr id="37" name="Text 34"/>
          <p:cNvSpPr txBox="1"/>
          <p:nvPr/>
        </p:nvSpPr>
        <p:spPr>
          <a:xfrm>
            <a:off x="548640" y="5349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Para: S-18 Inspector de Calidad de Semiterminado · Escarpador · S-11 Muestrero / Analista · S-17 Mesa · C-09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48640" y="6446520"/>
            <a:ext cx="10058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MO-CC1-09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39" name="Text 36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· OBJETIVOS DE APRENDIZAJE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Al terminar, clasificas y dispones cada planchón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MO-CC1-09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66928" cy="566928"/>
          </a:xfrm>
          <a:prstGeom prst="ellipse">
            <a:avLst/>
          </a:prstGeom>
          <a:solidFill>
            <a:srgbClr val="FF8C47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700784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1517904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Inspeccionar con seguridad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1325880" y="1883664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Solo con el planchón asentado, la grúa fuera y nadie junto al volteador durante movimientos.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2724912"/>
            <a:ext cx="566928" cy="566928"/>
          </a:xfrm>
          <a:prstGeom prst="ellipse">
            <a:avLst/>
          </a:prstGeom>
          <a:solidFill>
            <a:srgbClr val="FA4642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2871216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25880" y="2688336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Detectar y medir</a:t>
            </a:r>
            <a:endParaRPr lang="en-US" sz="1350" dirty="0"/>
          </a:p>
        </p:txBody>
      </p:sp>
      <p:sp>
        <p:nvSpPr>
          <p:cNvPr id="14" name="Text 9"/>
          <p:cNvSpPr txBox="1"/>
          <p:nvPr/>
        </p:nvSpPr>
        <p:spPr>
          <a:xfrm>
            <a:off x="1325880" y="3054096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Caras, cantos, esquinas y extremos; espesor 230 ± 3 mm, abultamiento ≤ 3 mm, cuña ≤ 2 mm; profundidad con galga.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48640" y="3895344"/>
            <a:ext cx="566928" cy="566928"/>
          </a:xfrm>
          <a:prstGeom prst="ellipse">
            <a:avLst/>
          </a:prstGeom>
          <a:solidFill>
            <a:srgbClr val="DB2259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4041648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325880" y="3858768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Disponer correctamente</a:t>
            </a:r>
            <a:endParaRPr lang="en-US" sz="1350" dirty="0"/>
          </a:p>
        </p:txBody>
      </p:sp>
      <p:sp>
        <p:nvSpPr>
          <p:cNvPr id="18" name="Text 12"/>
          <p:cNvSpPr txBox="1"/>
          <p:nvPr/>
        </p:nvSpPr>
        <p:spPr>
          <a:xfrm>
            <a:off x="1325880" y="4224528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Aceptar, escarpear (≤ 5 mm), degradar (decide C-09) o rechazar; espesor final tras escarpeo ≥ 220 mm.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548640" y="5065776"/>
            <a:ext cx="566928" cy="566928"/>
          </a:xfrm>
          <a:prstGeom prst="ellipse">
            <a:avLst/>
          </a:prstGeom>
          <a:solidFill>
            <a:srgbClr val="AA0582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5212080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325880" y="5029200"/>
            <a:ext cx="4983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Retroalimentar al proceso</a:t>
            </a:r>
            <a:endParaRPr lang="en-US" sz="1350" dirty="0"/>
          </a:p>
        </p:txBody>
      </p:sp>
      <p:sp>
        <p:nvSpPr>
          <p:cNvPr id="22" name="Text 15"/>
          <p:cNvSpPr txBox="1"/>
          <p:nvPr/>
        </p:nvSpPr>
        <p:spPr>
          <a:xfrm>
            <a:off x="1325880" y="5394960"/>
            <a:ext cx="4983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Registro en MES, Pareto y SPC; aviso inmediato a CC1 ante defectos repetidos para corregir la causa.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6675120" y="1463040"/>
            <a:ext cx="4983480" cy="4754880"/>
          </a:xfrm>
          <a:prstGeom prst="roundRect">
            <a:avLst>
              <a:gd name="adj" fmla="val 1538"/>
            </a:avLst>
          </a:prstGeom>
          <a:solidFill>
            <a:srgbClr val="F4F5F9"/>
          </a:solidFill>
          <a:ln/>
        </p:spPr>
      </p:sp>
      <p:sp>
        <p:nvSpPr>
          <p:cNvPr id="24" name="Text 17"/>
          <p:cNvSpPr txBox="1"/>
          <p:nvPr/>
        </p:nvSpPr>
        <p:spPr>
          <a:xfrm>
            <a:off x="6949440" y="164592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POR QUÉ IMPORTA</a:t>
            </a:r>
            <a:endParaRPr lang="en-US" sz="1000" dirty="0"/>
          </a:p>
        </p:txBody>
      </p:sp>
      <p:sp>
        <p:nvSpPr>
          <p:cNvPr id="25" name="Text 18"/>
          <p:cNvSpPr txBox="1"/>
          <p:nvPr/>
        </p:nvSpPr>
        <p:spPr>
          <a:xfrm>
            <a:off x="6949440" y="2029968"/>
            <a:ext cx="4434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inspector es la última barrera antes de Laminación y de clientes automotrices y de tubería. Un planchón mal liberado se convierte en reclamo; uno mal rechazado, en pérdida de rendimiento. Y cada defecto bien clasificado le dice a CC1 qué variable del proceso corregir.</a:t>
            </a:r>
            <a:endParaRPr lang="en-US" sz="1200" dirty="0"/>
          </a:p>
        </p:txBody>
      </p:sp>
      <p:sp>
        <p:nvSpPr>
          <p:cNvPr id="26" name="Text 19"/>
          <p:cNvSpPr txBox="1"/>
          <p:nvPr/>
        </p:nvSpPr>
        <p:spPr>
          <a:xfrm>
            <a:off x="6949440" y="4681728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Ningún planchón con evento se libera sin inspección, y ninguno se despacha sin disposición en el MES.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· ROLES Y RESPONSABILIDADES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S-18 inspecciona y dispone; C-09 decide la degradación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MO-CC1-09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6720840"/>
                <a:gridCol w="100584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Qué hace en la inspección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RACI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C-09 Metalurgista de Producto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Dueño de criterios; decide degradación y rechazo; analiza tendencias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S-18 Inspector de Calidad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Visual y dimensional, clasificación, marcado, registro y re-inspección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S-11 Muestrero / Analista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Prepara y ataca muestras (macroataque / Baumann)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S-17 Mesa de Enfriamiento y Despacho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Mueve, voltea y separa planchones; ejecuta la disposición física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Escarpador [Supuesto]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Escarpeo manual con O₂ (S-18 o contratista REPSE)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C-08 Ingeniero de Proceso de CC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Recibe la retroalimentación y corrige el proceso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 Supervisor de Colada Continua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Informado de defectos por turno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</a:t>
                      </a:r>
                      <a:endParaRPr lang="en-US" sz="11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· EL PROCESO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Todo planchón con evento se retiene y revisa al 100 %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MO-CC1-09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1461897" cy="640080"/>
          </a:xfrm>
          <a:prstGeom prst="homePlate">
            <a:avLst/>
          </a:prstGeom>
          <a:solidFill>
            <a:srgbClr val="FF8C47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13232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Lista del turno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IDs, grado, eventos y retenciones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1937385" y="1691640"/>
            <a:ext cx="1461897" cy="640080"/>
          </a:xfrm>
          <a:prstGeom prst="chevron">
            <a:avLst/>
          </a:prstGeom>
          <a:solidFill>
            <a:srgbClr val="FC6A45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101977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Condición segura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983105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Asentado, grúa fuera, pila estable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326130" y="1691640"/>
            <a:ext cx="1461897" cy="640080"/>
          </a:xfrm>
          <a:prstGeom prst="chevron">
            <a:avLst/>
          </a:prstGeom>
          <a:solidFill>
            <a:srgbClr val="FA464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490722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Inspección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3371850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Estándar o reforzada si hay evento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4714875" y="1691640"/>
            <a:ext cx="1461897" cy="640080"/>
          </a:xfrm>
          <a:prstGeom prst="chevron">
            <a:avLst/>
          </a:prstGeom>
          <a:solidFill>
            <a:srgbClr val="EA345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879467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Medir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4760595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Dimensiones y profundidad de defectos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6103620" y="1691640"/>
            <a:ext cx="1461897" cy="640080"/>
          </a:xfrm>
          <a:prstGeom prst="chevron">
            <a:avLst/>
          </a:prstGeom>
          <a:solidFill>
            <a:srgbClr val="DB2259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268212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Clasificar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6149340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Aceptar, escarpear, degradar, rechazar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7492365" y="1691640"/>
            <a:ext cx="1461897" cy="640080"/>
          </a:xfrm>
          <a:prstGeom prst="chevron">
            <a:avLst/>
          </a:prstGeom>
          <a:solidFill>
            <a:srgbClr val="C8136C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7656957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Escarpear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7538085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3–5 mm por pasada; final ≥ 220 mm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8881110" y="1691640"/>
            <a:ext cx="1461897" cy="640080"/>
          </a:xfrm>
          <a:prstGeom prst="chevron">
            <a:avLst/>
          </a:prstGeom>
          <a:solidFill>
            <a:srgbClr val="AA0582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9045702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Re-inspeccionar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8926830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Sin defecto remanente o rechazo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10269855" y="1691640"/>
            <a:ext cx="1461897" cy="640080"/>
          </a:xfrm>
          <a:prstGeom prst="chevron">
            <a:avLst/>
          </a:prstGeom>
          <a:solidFill>
            <a:srgbClr val="5B2A86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10434447" y="1691640"/>
            <a:ext cx="113271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MES y tendencias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10315575" y="2441448"/>
            <a:ext cx="129730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Liberar o retener; Pareto a C-08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548640" y="3703320"/>
            <a:ext cx="11109960" cy="2514600"/>
          </a:xfrm>
          <a:prstGeom prst="roundRect">
            <a:avLst>
              <a:gd name="adj" fmla="val 2909"/>
            </a:avLst>
          </a:prstGeom>
          <a:solidFill>
            <a:srgbClr val="F4F5F9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822960" y="3886200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PRINCIPIO DEL PROCESO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822960" y="431596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Eventos que retienen: nivel ± 8 mm, sticker, SEN, unión, arranque, fin, transición y SH &gt; 35 °C.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822960" y="5138928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Ningún planchón con evento se libera sin inspección, y ninguno se despacha sin disposición en el MES.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· EL PROCESO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Cada defecto tiene una causa en el proceso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MO-CC1-09 v0.1 (Borrador para validación) y FT-ACE-001 v0.3. Material de capacitación; no sustituye al manual. Figura: cc1-defectos-planchon.svg.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50" dirty="0"/>
          </a:p>
        </p:txBody>
      </p:sp>
      <p:pic>
        <p:nvPicPr>
          <p:cNvPr id="7" name="Image 1" descr="/home/user/HR/10-plantas/01-steelmaking/img/png/cc1-defectos-planch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847" y="1417320"/>
            <a:ext cx="5910146" cy="48463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543800" y="1463040"/>
            <a:ext cx="4114800" cy="4754880"/>
          </a:xfrm>
          <a:prstGeom prst="roundRect">
            <a:avLst>
              <a:gd name="adj" fmla="val 1778"/>
            </a:avLst>
          </a:prstGeom>
          <a:solidFill>
            <a:srgbClr val="F4F5F9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818120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LECTURA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7772400" y="2029968"/>
            <a:ext cx="3657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Grieta longitudinal: peritéctico, nivel inestable, polvo o flujo asimétrico; escarpeo o rechazo según profundidad.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Grieta transversal en HSLA: enderezado a 700–900 °C y marcas profundas.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Segregación central: SH alto, abultamiento o gap fuera en la punta del cráter; se califica por macroataque.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Abultamiento ≤ 3 mm y cuña ≤ 2 mm; la romboidad no aplica a planchón.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· EQUIPOS Y MAQUINARIA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Luz, galga y volteador hacen confiable la inspección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MO-CC1-09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743200"/>
                <a:gridCol w="3291840"/>
                <a:gridCol w="26974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Equipo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Función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Especificación clave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Verificar antes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Área de inspección y volteador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Acceso a las 4 caras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Planchones hasta 33 t [Validar]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Enclavamientos y exclusión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Iluminación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Detección visual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≥ 1,000 lux [Validar con C-16]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Medición con luxómetro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Calibrador, cinta, regla, escuadra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Dimensional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Calibrados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Certificado vigente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Galga de profundidad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Profundidad de defectos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Resolución 0.1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Calibrada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Pirómetro de contacto o IR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 antes de inspección o escarpeo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0–1,000 °C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Calibrado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Equipo de escarpeo (O₂ + gas)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Remueve defectos superficiales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Soplete de escarpeo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Arrestaflamas, mangueras, válvulas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Laboratorio de macroataque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Calidad interna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Ácido caliente o Baumann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Ventilación y EPP químico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· PARÁMETROS DE OPERACIÓN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Espesor, abultamiento y cuña delatan la máquina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MO-CC1-09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1737360"/>
                <a:gridCol w="2057400"/>
                <a:gridCol w="2103120"/>
                <a:gridCol w="288036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Parámetro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Objetivo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Rango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Alarma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Acción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Espesor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230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227–233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Fuera de ± 3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Rechazo o degradación; C-08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Abultamiento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1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3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3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Degradar o rechazar; C-08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Cuña (lado A − lado B)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1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2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2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C-08 revisa segmentos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Ancho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Pedido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−5 / +15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Fuera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Rechazo o reasignar (C-09)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Longitud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Pedida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± 15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Fuera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Recorte o reasignación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Sable (camber)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10 mm en 10 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15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&gt; 15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Rechazo o reasignación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Escarpeo por pasada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3–5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10 mm por cara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Final &lt; 220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No escarpear más; C-09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Escarpeo de HSLA con Nb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≥ 150 °C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≥ 150 °C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&lt; 150 °C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No escarpear en frío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5897880"/>
            <a:ext cx="11109960" cy="365760"/>
          </a:xfrm>
          <a:prstGeom prst="rect">
            <a:avLst/>
          </a:prstGeom>
          <a:solidFill>
            <a:srgbClr val="FFF4D6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640080" y="5897880"/>
            <a:ext cx="10927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A5A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POR CONFIRMAR  </a:t>
            </a:r>
            <a:pPr indent="0" marL="0">
              <a:buNone/>
            </a:pPr>
            <a:r>
              <a:rPr lang="en-US" sz="950" dirty="0">
                <a:solidFill>
                  <a:srgbClr val="8A5A0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Superficial ≤ 5 mm se escarpa; &gt; 10 mm o grieta &gt; 1 m se rechaza. Criterios, clases y tolerancias: [Validar con OEM / Ingeniería de Proceso] y Laminación.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· SEGURIDAD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Pilas, volteador y escarpeo: los riesgos del inspector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MO-CC1-09 v0.1 (Borrador para validación) y FT-ACE-001 v0.3. Material de capacitación; no sustituye al manual. Serie MS-ACE.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66928" cy="566928"/>
          </a:xfrm>
          <a:prstGeom prst="ellipse">
            <a:avLst/>
          </a:prstGeom>
          <a:solidFill>
            <a:srgbClr val="FA464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1700784"/>
            <a:ext cx="274320" cy="2743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1517904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Planchón asentado, grúa fuera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1325880" y="1883664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Nadie entre pilas ni junto al volteador durante movimientos; inspección solo con el planchón asentado (MS-ACE-04).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48640" y="2724912"/>
            <a:ext cx="566928" cy="566928"/>
          </a:xfrm>
          <a:prstGeom prst="ellipse">
            <a:avLst/>
          </a:prstGeom>
          <a:solidFill>
            <a:srgbClr val="DB2259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2871216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25880" y="2688336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Escarpeo con permiso</a:t>
            </a:r>
            <a:endParaRPr lang="en-US" sz="1350" dirty="0"/>
          </a:p>
        </p:txBody>
      </p:sp>
      <p:sp>
        <p:nvSpPr>
          <p:cNvPr id="14" name="Text 9"/>
          <p:cNvSpPr txBox="1"/>
          <p:nvPr/>
        </p:nvSpPr>
        <p:spPr>
          <a:xfrm>
            <a:off x="1325880" y="3054096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Permiso de trabajo en caliente, arrestaflamas, área sin combustibles y EPP de escarpeo (NOM-027).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48640" y="3895344"/>
            <a:ext cx="566928" cy="566928"/>
          </a:xfrm>
          <a:prstGeom prst="ellipse">
            <a:avLst/>
          </a:prstGeom>
          <a:solidFill>
            <a:srgbClr val="AA0582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4041648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325880" y="3858768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Humos y ácidos</a:t>
            </a:r>
            <a:endParaRPr lang="en-US" sz="1350" dirty="0"/>
          </a:p>
        </p:txBody>
      </p:sp>
      <p:sp>
        <p:nvSpPr>
          <p:cNvPr id="18" name="Text 12"/>
          <p:cNvSpPr txBox="1"/>
          <p:nvPr/>
        </p:nvSpPr>
        <p:spPr>
          <a:xfrm>
            <a:off x="1325880" y="4224528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Extracción o respirador para humos metálicos; macroataque en campana con regadera y lavaojos.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548640" y="5065776"/>
            <a:ext cx="566928" cy="566928"/>
          </a:xfrm>
          <a:prstGeom prst="ellipse">
            <a:avLst/>
          </a:prstGeom>
          <a:solidFill>
            <a:srgbClr val="3F6FD1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5212080"/>
            <a:ext cx="274320" cy="27432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325880" y="5029200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★ Superficies y tránsito</a:t>
            </a:r>
            <a:endParaRPr lang="en-US" sz="1350" dirty="0"/>
          </a:p>
        </p:txBody>
      </p:sp>
      <p:sp>
        <p:nvSpPr>
          <p:cNvPr id="22" name="Text 15"/>
          <p:cNvSpPr txBox="1"/>
          <p:nvPr/>
        </p:nvSpPr>
        <p:spPr>
          <a:xfrm>
            <a:off x="1325880" y="5394960"/>
            <a:ext cx="5257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Medir temperatura antes de tocar; usar escaleras y plataformas; no brincar entre planchones.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6949440" y="1463040"/>
            <a:ext cx="4709160" cy="4754880"/>
          </a:xfrm>
          <a:prstGeom prst="roundRect">
            <a:avLst>
              <a:gd name="adj" fmla="val 1553"/>
            </a:avLst>
          </a:prstGeom>
          <a:solidFill>
            <a:srgbClr val="F4F5F9"/>
          </a:solidFill>
          <a:ln/>
        </p:spPr>
      </p:sp>
      <p:sp>
        <p:nvSpPr>
          <p:cNvPr id="24" name="Text 17"/>
          <p:cNvSpPr txBox="1"/>
          <p:nvPr/>
        </p:nvSpPr>
        <p:spPr>
          <a:xfrm>
            <a:off x="7223760" y="164592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EPP OBLIGATORIO</a:t>
            </a:r>
            <a:endParaRPr lang="en-US" sz="1000" dirty="0"/>
          </a:p>
        </p:txBody>
      </p:sp>
      <p:sp>
        <p:nvSpPr>
          <p:cNvPr id="25" name="Text 18"/>
          <p:cNvSpPr txBox="1"/>
          <p:nvPr/>
        </p:nvSpPr>
        <p:spPr>
          <a:xfrm>
            <a:off x="7223760" y="2029968"/>
            <a:ext cx="42062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Casco, lentes, ropa FR y chaleco de alta visibilidad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Guantes y botas con metatarsal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Escarpeo: careta sombra 5–6, cuero o aluminizado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Escarpeo: doble protección auditiva y respirador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Laboratorio: careta, guantes y mandil químico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· SEGURIDAD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EPP cambia entre inspección, escarpeo y laboratorio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MO-CC1-09 v0.1 (Borrador para validación) y FT-ACE-001 v0.3. Material de capacitación; no sustituye al manual. Figura: ms-epp-acería.svg.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50" dirty="0"/>
          </a:p>
        </p:txBody>
      </p:sp>
      <p:pic>
        <p:nvPicPr>
          <p:cNvPr id="7" name="Image 1" descr="/home/user/HR/10-plantas/01-steelmaking/img/png/ms-epp-acerí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970" y="1417320"/>
            <a:ext cx="6057900" cy="48463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543800" y="1463040"/>
            <a:ext cx="4114800" cy="4754880"/>
          </a:xfrm>
          <a:prstGeom prst="roundRect">
            <a:avLst>
              <a:gd name="adj" fmla="val 1778"/>
            </a:avLst>
          </a:prstGeom>
          <a:solidFill>
            <a:srgbClr val="F4F5F9"/>
          </a:solidFill>
          <a:ln/>
        </p:spPr>
      </p:sp>
      <p:sp>
        <p:nvSpPr>
          <p:cNvPr id="9" name="Text 5"/>
          <p:cNvSpPr txBox="1"/>
          <p:nvPr/>
        </p:nvSpPr>
        <p:spPr>
          <a:xfrm>
            <a:off x="7818120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LECTURA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7772400" y="2029968"/>
            <a:ext cx="3657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 pilas, la ropa FR, las botas con metatarsal y el chaleco son la base.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escarpeo supera 100 dB(A): tapones más orejeras.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En el laboratorio se agrega protección química contra ácidos.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· CALIDAD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Las tasas de escarpeo y rechazo miden el proceso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MO-CC1-09 v0.1 (Borrador para validación) y FT-ACE-001 v0.3. Material de capacitación; no sustituye al manual.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5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834640"/>
                <a:gridCol w="3017520"/>
                <a:gridCol w="26974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Variable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Especificación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y cuándo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 falla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Planchones con evento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100 % antes de liberar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MES bloquea el despacho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Defecto al cliente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Concordancia entre inspectores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≥ 90 % [Supuesto]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Prueba trimestral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Liberación errónea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Tasa de escarpeo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5 % [Supuesto]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SPC semanal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Costo y rendimiento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Tasa de degradación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1 % [Supuesto]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SPC semanal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Pérdida de margen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Tasa de rechazo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≤ 0.3 % [Supuesto]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SPC semanal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Pérdida de rendimiento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Cpk de espesor y ancho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≥ 1.33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Mensual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Variación dimensional</a:t>
                      </a:r>
                      <a:endParaRPr lang="en-US" sz="10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48640" y="5623560"/>
            <a:ext cx="11109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Grieta longitudinal: revisar nivel, polvo, ΔT y SEN. Segregación: SH y gap en la punta del cráter.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· PASO A PASO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Dieciséis pasos; tres no admiten error (1/3)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MO-CC1-09 v0.1 (Borrador para validación) y FT-ACE-001 v0.3. Material de capacitación; no sustituye al manual. ★ = paso crítico, se evalúa en la certificación.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7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2148840"/>
                <a:gridCol w="5074920"/>
                <a:gridCol w="2057400"/>
                <a:gridCol w="12344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#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Paso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hacerlo y qué medir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Criterio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Revisa la lista de planchones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En el MES: IDs, grado, eventos y retenciones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Lista del turno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S-18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Confirma condición segura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Planchón asentado, grúa fuera de la zona, pila estable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Confirmado con S-17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S-18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Verifica la ID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Marcado legible e igual al MES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Coincide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S-18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Inspecciona la cara superior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Recorrido completo con luz: grietas, depresiones, inclusiones, poros, marcas profundas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Defectos marcados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S-18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Revisa cantos y extremos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Grietas de esquina, rechupe en extremos, rebaba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Registrado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S-18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Inspecciona la cara inferior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Volteo según frecuencia; nadie junto al volteador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Registrado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S-17 / S-18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7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Mide dimensiones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Espesor 3 puntos por extremo; ancho cabeza, centro y cola; largo, sable y escuadra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Dentro de tabla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S-18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· PASO A PASO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Dieciséis pasos; tres no admiten error (2/3)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MO-CC1-09 v0.1 (Borrador para validación) y FT-ACE-001 v0.3. Material de capacitación; no sustituye al manual. ★ = paso crítico, se evalúa en la certificación.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7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2148840"/>
                <a:gridCol w="5074920"/>
                <a:gridCol w="2057400"/>
                <a:gridCol w="12344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#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Paso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hacerlo y qué medir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Criterio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8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Mide la profundidad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Galga o escarpeo de prueba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Profundidad registrada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S-18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9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Clasifica y dispone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Aplica la tabla de disposición: aceptar, escarpear, degradar o rechazar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Disposición en MES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S-18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★ 10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Escarpea (si aplica)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Permiso de trabajo en caliente; 3–5 mm por pasada; ≤ 10 mm por cara; final ≥ 220 mm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Defecto eliminado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Escarpador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Re-inspecciona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Tras escarpear, sin defecto remanente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Liberado o rechazo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S-18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12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Solicita la degradación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Envía evidencia (foto, medida, macro) a C-09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Decisión documentada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S-18 / C-09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13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Toma muestras internas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Rebanada según frecuencia; S-11 prepara macroataque o Baumann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Segregación clasificada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S-11 / C-09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14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Marca la disposición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Código de colores en el planchón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Coincide con MES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S-18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· PASO A PASO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Dieciséis pasos; tres no admiten error (3/3)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MO-CC1-09 v0.1 (Borrador para validación) y FT-ACE-001 v0.3. Material de capacitación; no sustituye al manual. ★ = paso crítico, se evalúa en la certificación.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7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594360"/>
                <a:gridCol w="2148840"/>
                <a:gridCol w="5074920"/>
                <a:gridCol w="2057400"/>
                <a:gridCol w="123444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#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Paso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Cómo hacerlo y qué medir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Criterio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15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Libera o retiene en MES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Solo planchones liberados pueden despacharse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MES actualizado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S-18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Reporta tendencias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Resumen de turno a C-06 y semanal a C-08 (Pareto de defectos)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Reporte emitido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C-09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09 · CONDICIONES ANORMALES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Dos grietas longitudinales seguidas: retén la colada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MO-CC1-09 v0.1 (Borrador para validación) y FT-ACE-001 v0.3. Material de capacitación; no sustituye al manual. Serie MS-ACE-09 para emergencias.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7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1099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6400800"/>
                <a:gridCol w="196596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Síntoma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Acción inmediata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Avisar 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≥ 2 grietas longitudinales seguidas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Retén la colada completa; avisa de inmediato a CC1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C-06, C-08, C-09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Grietas transversales en HSLA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Retén; revisa la temperatura de enderezado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C-08, C-09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Espesor fuera de tolerancia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Retén; C-08 solicita medición de gap (MM-CC-02)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C-08, C-11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Ancho fuera de tolerancia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Retén; avisa a CC1 para verificar el ancho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C-06, C-09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Segregación central sobre límite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Degradar; análisis de SH y gap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C-08, C-09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ID ilegible o duplicada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Retén hasta identificar por colada y posición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C-06, C-09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Defecto tras 2 pasadas de escarpeo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Rechazo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C-09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Planchón inestable en pila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Aléjate; avisa a la grúa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3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S-17, C-16</a:t>
                      </a:r>
                      <a:endParaRPr lang="en-US" sz="10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· COMPETENCIA Y CERTIFICACIÓN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Certificación nivel U con prueba de concordancia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MO-CC1-09 v0.1 (Borrador para validación) y FT-ACE-001 v0.3. Material de capacitación; no sustituye al manual. TD-P07. ILUO: I Introducción · L Práctica supervisada · U Ejecución autónoma · O Dominio e instrucción.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02920" cy="502920"/>
          </a:xfrm>
          <a:prstGeom prst="ellipse">
            <a:avLst/>
          </a:prstGeom>
          <a:solidFill>
            <a:srgbClr val="D6D8E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4864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097280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Introducción y Conocimiento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2121408" y="1554480"/>
            <a:ext cx="502920" cy="502920"/>
          </a:xfrm>
          <a:prstGeom prst="ellipse">
            <a:avLst/>
          </a:prstGeom>
          <a:solidFill>
            <a:srgbClr val="D6D8E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121408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2670048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Aprendizaje y Práctica Supervisada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3694176" y="1554480"/>
            <a:ext cx="502920" cy="502920"/>
          </a:xfrm>
          <a:prstGeom prst="ellipse">
            <a:avLst/>
          </a:prstGeom>
          <a:solidFill>
            <a:srgbClr val="E8551B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3694176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4242816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Ejecución Autónoma y Habilitada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5266944" y="1554480"/>
            <a:ext cx="502920" cy="502920"/>
          </a:xfrm>
          <a:prstGeom prst="ellipse">
            <a:avLst/>
          </a:prstGeom>
          <a:solidFill>
            <a:srgbClr val="D6D8EA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266944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5815584" y="1517904"/>
            <a:ext cx="960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Dominio, Optimización e Instrucción</a:t>
            </a:r>
            <a:endParaRPr lang="en-US" sz="7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65836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594360"/>
                <a:gridCol w="1097280"/>
                <a:gridCol w="1737360"/>
                <a:gridCol w="10515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Rol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ILUO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Teoría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OJT supervisado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Vigencia</a:t>
                      </a:r>
                      <a:endParaRPr lang="en-US" sz="9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S-18 Inspector de Calidad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32 h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160 h / 300 planchones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Escarpador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16 h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40 h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S-11 Muestrero / Analista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16 h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20 muestras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C-09 Metalurgista de Producto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O (evaluador)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h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—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2E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24 meses</a:t>
                      </a:r>
                      <a:endParaRPr lang="en-US" sz="95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9"/>
                    </a:solidFill>
                  </a:tcPr>
                </a:tc>
              </a:tr>
            </a:tbl>
          </a:graphicData>
        </a:graphic>
      </p:graphicFrame>
      <p:sp>
        <p:nvSpPr>
          <p:cNvPr id="20" name="Shape 16"/>
          <p:cNvSpPr/>
          <p:nvPr/>
        </p:nvSpPr>
        <p:spPr>
          <a:xfrm>
            <a:off x="7406640" y="1463040"/>
            <a:ext cx="4251960" cy="4754880"/>
          </a:xfrm>
          <a:prstGeom prst="roundRect">
            <a:avLst>
              <a:gd name="adj" fmla="val 1720"/>
            </a:avLst>
          </a:prstGeom>
          <a:solidFill>
            <a:srgbClr val="F4F5F9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7680960" y="164592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PASOS ★ QUE SE EVALÚAN</a:t>
            </a:r>
            <a:endParaRPr 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7680960" y="2029968"/>
            <a:ext cx="37490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Inspecciona solo con el planchón asentado y la grúa o el volteador fuera de su zona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Clasifica correctamente 10 casos del catálogo fotográfico (≥ 9 correctos)</a:t>
            </a:r>
            <a:endParaRPr lang="en-US" sz="1050" dirty="0"/>
          </a:p>
          <a:p>
            <a:pPr marL="186690" indent="-186690">
              <a:spcAft>
                <a:spcPts val="63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Escarpea con permiso y arrestaflamas: 3–5 mm por pasada y espesor final ≥ 220 mm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· COMPETENCIA Y CERTIFICACIÓN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 la teoría a la certificación en seis pasos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MO-CC1-09 v0.1 (Borrador para validación) y FT-ACE-001 v0.3. Material de capacitación; no sustituye al manual. Registro de competencia en IMaS; constancia DC-3/SIRCE (obligación STPS).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1474470" y="1920240"/>
            <a:ext cx="9258300" cy="0"/>
          </a:xfrm>
          <a:prstGeom prst="line">
            <a:avLst/>
          </a:prstGeom>
          <a:noFill/>
          <a:ln w="12700">
            <a:solidFill>
              <a:srgbClr val="D6D8E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91590" y="1737360"/>
            <a:ext cx="365760" cy="365760"/>
          </a:xfrm>
          <a:prstGeom prst="ellipse">
            <a:avLst/>
          </a:prstGeom>
          <a:solidFill>
            <a:srgbClr val="FF8C4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29159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Teoría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32 h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143250" y="1737360"/>
            <a:ext cx="365760" cy="365760"/>
          </a:xfrm>
          <a:prstGeom prst="ellipse">
            <a:avLst/>
          </a:prstGeom>
          <a:solidFill>
            <a:srgbClr val="FC6A45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14325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244602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Autoevaluación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244602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≥ 80 %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994910" y="1737360"/>
            <a:ext cx="365760" cy="365760"/>
          </a:xfrm>
          <a:prstGeom prst="ellipse">
            <a:avLst/>
          </a:prstGeom>
          <a:solidFill>
            <a:srgbClr val="EA3450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499491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429768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OJT supervisado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429768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160 h / 300 planchones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846570" y="1737360"/>
            <a:ext cx="365760" cy="365760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684657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614934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Evaluación práctica ★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614934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100 % pasos ★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8698230" y="1737360"/>
            <a:ext cx="365760" cy="365760"/>
          </a:xfrm>
          <a:prstGeom prst="ellipse">
            <a:avLst/>
          </a:prstGeom>
          <a:solidFill>
            <a:srgbClr val="AA0582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869823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800100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Registro IMaS y DC-3/SIRCE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800100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≤ 10 días hábiles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10549890" y="1737360"/>
            <a:ext cx="365760" cy="365760"/>
          </a:xfrm>
          <a:prstGeom prst="ellipse">
            <a:avLst/>
          </a:prstGeom>
          <a:solidFill>
            <a:srgbClr val="5B2A86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1054989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Text 27"/>
          <p:cNvSpPr txBox="1"/>
          <p:nvPr/>
        </p:nvSpPr>
        <p:spPr>
          <a:xfrm>
            <a:off x="9852660" y="2194560"/>
            <a:ext cx="17602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Recertificación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9852660" y="2651760"/>
            <a:ext cx="17602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24 meses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548640" y="3429000"/>
            <a:ext cx="11109960" cy="2788920"/>
          </a:xfrm>
          <a:prstGeom prst="roundRect">
            <a:avLst>
              <a:gd name="adj" fmla="val 2623"/>
            </a:avLst>
          </a:prstGeom>
          <a:solidFill>
            <a:srgbClr val="F4F5F9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822960" y="3611880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REGLAS DE LA CERTIFICACIÓN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822960" y="3995928"/>
            <a:ext cx="10515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certificación vale solo para el proceso y el rol evaluados; se suspende tras un incidente grave hasta reevaluar.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trabajador con experiencia puede solicitar la evaluación directa como examen de suficiencia (LFT art. 153-U).</a:t>
            </a:r>
            <a:endParaRPr lang="en-US" sz="1100" dirty="0"/>
          </a:p>
          <a:p>
            <a:pPr marL="195580" indent="-195580">
              <a:spcAft>
                <a:spcPts val="66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Sin certificación vigente no se ejecuta la tarea crítica: el permiso de trabajo lo bloquea.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10 · AUTOEVALUACIÓN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Autoevaluación: cinco preguntas antes del OJT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manual MO-CC1-09 v0.1 (Borrador para validación) y FT-ACE-001 v0.3. Material de capacitación; no sustituye al manual. Respuestas en las notas del orador.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8A8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8" name="Shape 5"/>
          <p:cNvSpPr/>
          <p:nvPr/>
        </p:nvSpPr>
        <p:spPr>
          <a:xfrm>
            <a:off x="731520" y="1645920"/>
            <a:ext cx="457200" cy="457200"/>
          </a:xfrm>
          <a:prstGeom prst="ellipse">
            <a:avLst/>
          </a:prstGeom>
          <a:solidFill>
            <a:srgbClr val="FC6A45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298448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1</a:t>
            </a:r>
            <a:endParaRPr lang="en-US" sz="8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Una grieta longitudinal mide 4 mm de profundidad. ¿Qué disposición aplica?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271576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Aceptar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Escarpear y re-inspeccionar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Rechazar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29768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13" name="Shape 10"/>
          <p:cNvSpPr/>
          <p:nvPr/>
        </p:nvSpPr>
        <p:spPr>
          <a:xfrm>
            <a:off x="4480560" y="1645920"/>
            <a:ext cx="457200" cy="457200"/>
          </a:xfrm>
          <a:prstGeom prst="ellipse">
            <a:avLst/>
          </a:prstGeom>
          <a:solidFill>
            <a:srgbClr val="FA464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047488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2</a:t>
            </a:r>
            <a:endParaRPr lang="en-US" sz="800" dirty="0"/>
          </a:p>
        </p:txBody>
      </p:sp>
      <p:sp>
        <p:nvSpPr>
          <p:cNvPr id="15" name="Text 12"/>
          <p:cNvSpPr txBox="1"/>
          <p:nvPr/>
        </p:nvSpPr>
        <p:spPr>
          <a:xfrm>
            <a:off x="4480560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¿Cuál es el espesor mínimo del planchón después de escarpear?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4480560" y="271576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200 mm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220 mm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227 mm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8046720" y="146304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18" name="Shape 15"/>
          <p:cNvSpPr/>
          <p:nvPr/>
        </p:nvSpPr>
        <p:spPr>
          <a:xfrm>
            <a:off x="8229600" y="1645920"/>
            <a:ext cx="457200" cy="457200"/>
          </a:xfrm>
          <a:prstGeom prst="ellipse">
            <a:avLst/>
          </a:prstGeom>
          <a:solidFill>
            <a:srgbClr val="EA3450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796528" y="17373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3</a:t>
            </a:r>
            <a:endParaRPr lang="en-US" sz="800" dirty="0"/>
          </a:p>
        </p:txBody>
      </p:sp>
      <p:sp>
        <p:nvSpPr>
          <p:cNvPr id="20" name="Text 17"/>
          <p:cNvSpPr txBox="1"/>
          <p:nvPr/>
        </p:nvSpPr>
        <p:spPr>
          <a:xfrm>
            <a:off x="8229600" y="22402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¿Qué causa típica tienen las grietas transversales en HSLA?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8229600" y="271576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Enderezado a 700–900 °C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Argón alto en el tapón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Oxicorte lento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48640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23" name="Shape 20"/>
          <p:cNvSpPr/>
          <p:nvPr/>
        </p:nvSpPr>
        <p:spPr>
          <a:xfrm>
            <a:off x="731520" y="4069080"/>
            <a:ext cx="457200" cy="457200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1298448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4</a:t>
            </a:r>
            <a:endParaRPr lang="en-US" sz="800" dirty="0"/>
          </a:p>
        </p:txBody>
      </p:sp>
      <p:sp>
        <p:nvSpPr>
          <p:cNvPr id="25" name="Text 22"/>
          <p:cNvSpPr txBox="1"/>
          <p:nvPr/>
        </p:nvSpPr>
        <p:spPr>
          <a:xfrm>
            <a:off x="731520" y="4663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¿Quién decide degradar un planchón a un grado menos exigente?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731520" y="513892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El inspector S-18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El metalurgista C-09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El supervisor C-06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297680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28" name="Shape 25"/>
          <p:cNvSpPr/>
          <p:nvPr/>
        </p:nvSpPr>
        <p:spPr>
          <a:xfrm>
            <a:off x="4480560" y="4069080"/>
            <a:ext cx="457200" cy="457200"/>
          </a:xfrm>
          <a:prstGeom prst="ellipse">
            <a:avLst/>
          </a:prstGeom>
          <a:solidFill>
            <a:srgbClr val="C8136C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5047488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FA464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PREGUNTA 5</a:t>
            </a:r>
            <a:endParaRPr lang="en-US" sz="800" dirty="0"/>
          </a:p>
        </p:txBody>
      </p:sp>
      <p:sp>
        <p:nvSpPr>
          <p:cNvPr id="30" name="Text 27"/>
          <p:cNvSpPr txBox="1"/>
          <p:nvPr/>
        </p:nvSpPr>
        <p:spPr>
          <a:xfrm>
            <a:off x="4480560" y="4663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Salen 2 planchones seguidos con grieta longitudinal. ¿Qué haces?</a:t>
            </a:r>
            <a:endParaRPr lang="en-US" sz="1250" dirty="0"/>
          </a:p>
        </p:txBody>
      </p:sp>
      <p:sp>
        <p:nvSpPr>
          <p:cNvPr id="31" name="Text 28"/>
          <p:cNvSpPr txBox="1"/>
          <p:nvPr/>
        </p:nvSpPr>
        <p:spPr>
          <a:xfrm>
            <a:off x="4480560" y="513892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a) Escarpear y seguir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b) Retener la colada y avisar a CC1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c) Esperar al reporte semanal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8046720" y="3886200"/>
            <a:ext cx="3611880" cy="2286000"/>
          </a:xfrm>
          <a:prstGeom prst="roundRect">
            <a:avLst>
              <a:gd name="adj" fmla="val 3200"/>
            </a:avLst>
          </a:prstGeom>
          <a:solidFill>
            <a:srgbClr val="F4F5F9"/>
          </a:solidFill>
          <a:ln/>
        </p:spPr>
      </p:sp>
      <p:sp>
        <p:nvSpPr>
          <p:cNvPr id="33" name="Shape 30"/>
          <p:cNvSpPr/>
          <p:nvPr/>
        </p:nvSpPr>
        <p:spPr>
          <a:xfrm>
            <a:off x="8229600" y="4069080"/>
            <a:ext cx="457200" cy="457200"/>
          </a:xfrm>
          <a:prstGeom prst="ellipse">
            <a:avLst/>
          </a:prstGeom>
          <a:solidFill>
            <a:srgbClr val="3F6FD1"/>
          </a:solidFill>
          <a:ln/>
        </p:spPr>
      </p:sp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48472" y="4187952"/>
            <a:ext cx="219456" cy="219456"/>
          </a:xfrm>
          <a:prstGeom prst="rect">
            <a:avLst/>
          </a:prstGeom>
        </p:spPr>
      </p:pic>
      <p:sp>
        <p:nvSpPr>
          <p:cNvPr id="35" name="Text 31"/>
          <p:cNvSpPr txBox="1"/>
          <p:nvPr/>
        </p:nvSpPr>
        <p:spPr>
          <a:xfrm>
            <a:off x="8796528" y="416052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3F6FD1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CRITERIO</a:t>
            </a:r>
            <a:endParaRPr lang="en-US" sz="800" dirty="0"/>
          </a:p>
        </p:txBody>
      </p:sp>
      <p:sp>
        <p:nvSpPr>
          <p:cNvPr id="36" name="Text 32"/>
          <p:cNvSpPr txBox="1"/>
          <p:nvPr/>
        </p:nvSpPr>
        <p:spPr>
          <a:xfrm>
            <a:off x="8229600" y="4663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A1A2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Mínimo 4 de 5 correctas</a:t>
            </a:r>
            <a:endParaRPr lang="en-US" sz="1250" dirty="0"/>
          </a:p>
        </p:txBody>
      </p:sp>
      <p:sp>
        <p:nvSpPr>
          <p:cNvPr id="37" name="Text 33"/>
          <p:cNvSpPr txBox="1"/>
          <p:nvPr/>
        </p:nvSpPr>
        <p:spPr>
          <a:xfrm>
            <a:off x="8229600" y="5138928"/>
            <a:ext cx="3246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A5A6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 4 o más pasas al OJT supervisado. Con menos, repasa el manual con tu instructor y repite la autoevaluación.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8C47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11 · CIERRE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Reglas de la inspección que no se negocian</a:t>
            </a:r>
            <a:endParaRPr lang="en-US" sz="2400" dirty="0"/>
          </a:p>
        </p:txBody>
      </p:sp>
      <p:pic>
        <p:nvPicPr>
          <p:cNvPr id="4" name="Image 0" descr="/tmp/claude-0/-home-user-HR/2e49314e-011f-5c3a-b225-07e067b46c12/scratchpad/ammx/assets/am_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6382512"/>
            <a:ext cx="566928" cy="2341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44652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 paso: OJT supervisado y evaluación práctica (TD-P07); registro en IMaS y DC-3/SIRCE. Validación: visto bueno técnica, seguridad, laboral, diseño instruccional.</a:t>
            </a:r>
            <a:endParaRPr lang="en-US" sz="750" dirty="0"/>
          </a:p>
        </p:txBody>
      </p:sp>
      <p:sp>
        <p:nvSpPr>
          <p:cNvPr id="6" name="Text 3"/>
          <p:cNvSpPr txBox="1"/>
          <p:nvPr/>
        </p:nvSpPr>
        <p:spPr>
          <a:xfrm>
            <a:off x="11247120" y="644652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rgbClr val="B8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1520" y="2029968"/>
            <a:ext cx="365760" cy="365760"/>
          </a:xfrm>
          <a:prstGeom prst="ellipse">
            <a:avLst/>
          </a:prstGeom>
          <a:solidFill>
            <a:srgbClr val="FF8C4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31520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280160" y="19933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Sin planchón asentado no hay inspección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280160" y="23957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Grúa fuera; nadie entre pilas ni junto al volteador.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126480" y="18288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09360" y="2029968"/>
            <a:ext cx="365760" cy="365760"/>
          </a:xfrm>
          <a:prstGeom prst="ellipse">
            <a:avLst/>
          </a:prstGeom>
          <a:solidFill>
            <a:srgbClr val="FA464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309360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6858000" y="19933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Sin permiso no hay escarpeo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6858000" y="23957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Trabajo en caliente, arrestaflamas y EPP de escarpeo.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48640" y="32004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31520" y="3401568"/>
            <a:ext cx="365760" cy="365760"/>
          </a:xfrm>
          <a:prstGeom prst="ellipse">
            <a:avLst/>
          </a:prstGeom>
          <a:solidFill>
            <a:srgbClr val="DB2259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31520" y="3401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1280160" y="33649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 evento se inspecciona al 100 %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1280160" y="37673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MES bloquea el despacho hasta la disposición.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6126480" y="3200400"/>
            <a:ext cx="5394960" cy="1188720"/>
          </a:xfrm>
          <a:prstGeom prst="roundRect">
            <a:avLst>
              <a:gd name="adj" fmla="val 4615"/>
            </a:avLst>
          </a:prstGeom>
          <a:solidFill>
            <a:srgbClr val="FFFFFF">
              <a:alpha val="10000"/>
            </a:srgbClr>
          </a:solidFill>
          <a:ln w="635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309360" y="3401568"/>
            <a:ext cx="365760" cy="365760"/>
          </a:xfrm>
          <a:prstGeom prst="ellipse">
            <a:avLst/>
          </a:prstGeom>
          <a:solidFill>
            <a:srgbClr val="AA058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6309360" y="34015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6858000" y="336499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Defecto repetido: aviso inmediato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6858000" y="3767328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6D8E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Retén y avisa a CC1 para corregir la causa en línea.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ArcelorMittal México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MO-CC1-09 — Inspección de calidad y disposición de defectos del planchón · Capacitación</dc:title>
  <dc:subject>PptxGenJS Presentation</dc:subject>
  <dc:creator>Gerencia de Capacitación y Desarrollo</dc:creator>
  <cp:lastModifiedBy>Gerencia de Capacitación y Desarrollo</cp:lastModifiedBy>
  <cp:revision>1</cp:revision>
  <dcterms:created xsi:type="dcterms:W3CDTF">2026-09-25T20:02:38Z</dcterms:created>
  <dcterms:modified xsi:type="dcterms:W3CDTF">2026-09-25T20:02:38Z</dcterms:modified>
</cp:coreProperties>
</file>