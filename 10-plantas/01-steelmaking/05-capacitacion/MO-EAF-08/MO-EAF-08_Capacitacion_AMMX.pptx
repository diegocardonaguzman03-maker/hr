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Objetivo del curso: Agregar electrodos de 610 mm con el torque del fabricante y sin holgura, para evitar roturas y caídas. Principio rector: Caras en contacto total: si la laina de 0.1 mm entra, la junta no sirve.
PUNTOS A CERRAR: Presentar a los participantes, el objetivo y la ruta de certificación (teoría → OJT → evaluación práctica).
[POR CONFIRMAR] Tabla de torque, peso del electrodo, capacidad del tapón, velocidad de bajada y posición de junta con el OEM · Apertura de mordaza con personal en la plataforma: confirmar con OEM / C-12 que el sistema de llaves lo permite · Deslizamiento, frecuencia de adición, tiempo del método A y calibración de la llave (supuestos)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objetivo como una conducta observable que se evaluará en campo.
PUNTOS A CERRAR: Confirmar que cada participante sabe en qué rol ejecutará el proceso.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 = ejecuta · A = dueño y responsable final · C = consultado · I = informado.
PUNTOS A CERRAR: Cada participante identifica su renglón y a quién escala.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Recorrer el flujo de izquierda a derecha; señalar las compuertas de decisión.
PUNTOS A CERRAR: Qué pasa si una condición previa no se cumple: no se avanza.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Usar la figura para ubicar cada componente en planta.
PUNTOS A CERRAR: Pedir a un participante que explique la figura con sus palabras.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Usar la figura para ubicar cada componente en planta.
PUNTOS A CERRAR: Pedir a un participante que explique la figura con sus palabras.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La columna resaltada es lo que se verifica ANTES de operar.
PUNTOS A CERRAR: Equipo que no pasa la verificación = no se opera; se reporta.
[POR CONFIRMAR] Especificaciones marcadas en la tabla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renglón: objetivo, rango normal, alarma y la acción (columna resaltada).
PUNTOS A CERRAR: Ejercicio: dar un valor fuera de rango y pedir la acción correcta.
[POR CONFIRMAR] Torque, velocidad y posición de junta según tabla del fabricante [Validar con OEM / Ingeniería de Proceso]. Electrodo y niple: mismo fabricante y grado.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Los controles con ★ son críticos: si fallan puede haber una fatalidad. Se evalúan en la certificación.
PUNTOS A CERRAR: Cualquier persona puede y debe detener el trabajo si un control crítico no está.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Ubicar en la figura dónde está cada persona durante el proceso.
PUNTOS A CERRAR: Distancias y rutas de escape: preguntar a cada participante la suya.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Relacionar cada variable con el defecto que causa aguas abajo.
PUNTOS A CERRAR: Quién registra cada variable y dónde.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Practicar cada renglón como simulacro de mesa: síntoma → acción → a quién avisar.
PUNTOS A CERRAR: Nadie improvisa: si no está aquí, se detiene y se escala al supervisor.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Nivel requerido: U (Ejecución Autónoma y Habilitada). La evaluación es práctica, ante evaluador certificado, sobre los pasos ★.
PUNTOS A CERRAR: Quien no demuestra todos los pasos ★ queda "aún no competente" y repite OJT dirigido.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Explicar la ruta completa y los tiempos.
PUNTOS A CERRAR: Aclarar que la evaluación no es sanción: es la evidencia de que la persona puede trabajar segura.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RESPUESTAS:
1) b) La laina de 0.1 mm no entra — Caras en contacto total: si la laina entra en algún punto, aflojar, limpiar y re-apretar.
2) c) 100 % — Con menos del 100 % de las roscas enganchadas el electrodo puede caer.
3) b) Llave cautiva, una por persona — Método A: interruptor abierto y llave cautiva por persona. Método B o destrabe: LOTO completo.
4) b) ≥ 300 mm bajo la mordaza — Fuera de la mordaza y del delta [Validar con OEM]; en la mordaza la junta se calienta y se afloja.
5) b) Usar llave de respaldo calibrada — Nunca a estimación: poco torque afloja la junta; demasiado rompe el niple.
CÓMO EXPLICARLA: dar 5 minutos; revisar en grupo. PUNTOS A CERRAR: mínimo 4 de 5 correctas para pasar a OJT.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Cerrar con las reglas que no se negocian; cada participante repite la regla más importante para su rol.
PUNTOS A CERRAR: Agendar OJT con el supervisor y el evaluador.
[POR CONFIRMAR] Tabla de torque, peso del electrodo, capacidad del tapón, velocidad de bajada y posición de junta con el OEM · Apertura de mordaza con personal en la plataforma: confirmar con OEM / C-12 que el sistema de llaves lo permite · Deslizamiento, frecuencia de adición, tiempo del método A y calibración de la llave (supuestos)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960120" cy="3965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CAPACITACIÓN TÉCNICA · OPERACIÓN · MO-EAF-08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9844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Empalme de electrodos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8600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Agregar electrodos de 610 mm con el torque del fabricante y sin holgura, para evitar roturas y caídas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12 h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 (S-02)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56032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9748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30 h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269748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OJT · 10 empalmes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0916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470916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críticos ★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58368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72084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0.1</a:t>
            </a:r>
            <a:endParaRPr lang="en-US" sz="3200" dirty="0"/>
          </a:p>
        </p:txBody>
      </p:sp>
      <p:sp>
        <p:nvSpPr>
          <p:cNvPr id="17" name="Text 14"/>
          <p:cNvSpPr txBox="1"/>
          <p:nvPr/>
        </p:nvSpPr>
        <p:spPr>
          <a:xfrm>
            <a:off x="672084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mm: la laina no debe entrar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208008" y="1325880"/>
            <a:ext cx="0" cy="3505200"/>
          </a:xfrm>
          <a:prstGeom prst="line">
            <a:avLst/>
          </a:prstGeom>
          <a:noFill/>
          <a:ln w="12700">
            <a:solidFill>
              <a:srgbClr val="8A8CA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025128" y="1143000"/>
            <a:ext cx="365760" cy="365760"/>
          </a:xfrm>
          <a:prstGeom prst="ellipse">
            <a:avLst/>
          </a:prstGeom>
          <a:solidFill>
            <a:srgbClr val="FF8C47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25128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9528048" y="11247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Bloqueo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9025128" y="1844040"/>
            <a:ext cx="365760" cy="365760"/>
          </a:xfrm>
          <a:prstGeom prst="ellipse">
            <a:avLst/>
          </a:prstGeom>
          <a:solidFill>
            <a:srgbClr val="FC6A45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025128" y="1844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9528048" y="182575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Columna al soporte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9025128" y="2545080"/>
            <a:ext cx="365760" cy="365760"/>
          </a:xfrm>
          <a:prstGeom prst="ellipse">
            <a:avLst/>
          </a:prstGeom>
          <a:solidFill>
            <a:srgbClr val="FA464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025128" y="2545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9528048" y="252679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Tapón al 100 %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9025128" y="3246120"/>
            <a:ext cx="365760" cy="365760"/>
          </a:xfrm>
          <a:prstGeom prst="ellipse">
            <a:avLst/>
          </a:prstGeom>
          <a:solidFill>
            <a:srgbClr val="DB2259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025128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9528048" y="322783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Torque OEM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9025128" y="3947160"/>
            <a:ext cx="365760" cy="365760"/>
          </a:xfrm>
          <a:prstGeom prst="ellipse">
            <a:avLst/>
          </a:prstGeom>
          <a:solidFill>
            <a:srgbClr val="C8136C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025128" y="3947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9528048" y="392887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Laina 0.1 mm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9025128" y="4648200"/>
            <a:ext cx="365760" cy="365760"/>
          </a:xfrm>
          <a:prstGeom prst="ellipse">
            <a:avLst/>
          </a:prstGeom>
          <a:solidFill>
            <a:srgbClr val="AA058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025128" y="4648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9528048" y="46299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Junta fuera de mordaza</a:t>
            </a:r>
            <a:endParaRPr lang="en-US" sz="1150" dirty="0"/>
          </a:p>
        </p:txBody>
      </p:sp>
      <p:sp>
        <p:nvSpPr>
          <p:cNvPr id="37" name="Text 34"/>
          <p:cNvSpPr txBox="1"/>
          <p:nvPr/>
        </p:nvSpPr>
        <p:spPr>
          <a:xfrm>
            <a:off x="548640" y="5349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Para: S-02 Segundo Hornero · S-03 Tercer Hornero · S-04 Grúa de Carga · S-01 Primer Hornero · C-05 Supervisor de Hornos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6446520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MO-EAF-08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39" name="Text 36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· OBJETIVOS DE APRENDIZAJE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 terminar, empalmas sin holgura y sin exponer a nadie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MO-EAF-08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F8C4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Bloquear antes de subir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Interruptor abierto e hidráulica bloqueada; llave cautiva por persona (método A) o LOTO completo (método B).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Izar sin riesgo de caída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Tapón de izaje con el 100 % de las roscas; grúa en modo fino ≤ 50 mm/s; nadie bajo la carga.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Apretar y verificar la junta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Torque ≈ 4,500 N·m ± 10 % [Validar con OEM] con llave calibrada; la laina de 0.1 mm no entra.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Dejar la columna en posición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Junta ≥ 300 mm bajo la mordaza; al retirar bloqueos, conteo de personas = llaves devueltas.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675120" y="1463040"/>
            <a:ext cx="4983480" cy="4754880"/>
          </a:xfrm>
          <a:prstGeom prst="roundRect">
            <a:avLst>
              <a:gd name="adj" fmla="val 1538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6949440" y="164592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QUÉ IMPORTA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6949440" y="2029968"/>
            <a:ext cx="4434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Cada electrodo pesa ≈ 1.4 t [Validar con OEM] y la columna conduce la corriente del arco. Una junta floja se calienta, se oxida y se rompe: la punta cae al baño y sube el C. Un tapón mal roscado deja caer el electrodo, y energizar con alguien en la plataforma es una fatalidad.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6949440" y="4681728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Caras en contacto total: si la laina de 0.1 mm entra, la junta no sirve.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· ROLES Y RESPONSABILIDADES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S-02 aprieta y verifica; C-05 autoriza y revisa el LOTO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MO-EAF-08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6720840"/>
                <a:gridCol w="10058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Qué hace en el empalme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RACI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C-05 Supervisor de Hornos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Dueño; autoriza el método B y trabajos con columna dañada; verifica el LOTO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S-02 Segundo Hornero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Prepara, rosca el niple, aplica torque, verifica holgura; señalero de grúa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S-03 Tercer Hornero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Limpia caras y roscas, coloca el tapón de izaje, apoya la maniobra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S-04 Operador de Grúa de Carga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Iza y baja electrodos y columnas (120/40 t, gancho auxiliar)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 Primer Hornero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Desenergiza, bloquea y libera; desliza la columna desde el púlpito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S-19 Mecánico / S-22 Técnico Hidráulico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Atienden fallas de mordaza o de la llave de torque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bloqueo no se sube; sin laina no se cierra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MO-EAF-08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1461897" cy="640080"/>
          </a:xfrm>
          <a:prstGeom prst="homePlate">
            <a:avLst/>
          </a:prstGeom>
          <a:solidFill>
            <a:srgbClr val="FF8C4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13232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Programar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Entre coladas (MO-EAF-01)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937385" y="1691640"/>
            <a:ext cx="1461897" cy="640080"/>
          </a:xfrm>
          <a:prstGeom prst="chevron">
            <a:avLst/>
          </a:prstGeom>
          <a:solidFill>
            <a:srgbClr val="FC6A4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101977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Bloquear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983105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Interruptor abierto; llave o LOTO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326130" y="1691640"/>
            <a:ext cx="1461897" cy="640080"/>
          </a:xfrm>
          <a:prstGeom prst="chevron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490722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 soporte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3371850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grúa lleva la columna (método A)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714875" y="1691640"/>
            <a:ext cx="1461897" cy="640080"/>
          </a:xfrm>
          <a:prstGeom prst="chevron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879467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Limpiar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4760595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Caja y niple con aire seco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103620" y="1691640"/>
            <a:ext cx="1461897" cy="640080"/>
          </a:xfrm>
          <a:prstGeom prst="chevron">
            <a:avLst/>
          </a:prstGeom>
          <a:solidFill>
            <a:srgbClr val="DB2259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268212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Tapón y bajar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6149340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100 % roscado; ≤ 50 mm/s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7492365" y="1691640"/>
            <a:ext cx="1461897" cy="640080"/>
          </a:xfrm>
          <a:prstGeom prst="chevron">
            <a:avLst/>
          </a:prstGeom>
          <a:solidFill>
            <a:srgbClr val="C8136C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656957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Apretar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7538085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Torque OEM ± 10 %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8881110" y="1691640"/>
            <a:ext cx="1461897" cy="640080"/>
          </a:xfrm>
          <a:prstGeom prst="chevron">
            <a:avLst/>
          </a:prstGeom>
          <a:solidFill>
            <a:srgbClr val="AA058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9045702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Laina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8926830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0.1 mm no entra; si entra, repetir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10269855" y="1691640"/>
            <a:ext cx="1461897" cy="640080"/>
          </a:xfrm>
          <a:prstGeom prst="chevron">
            <a:avLst/>
          </a:prstGeom>
          <a:solidFill>
            <a:srgbClr val="5B2A86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0434447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Deslizar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10315575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Junta ≥ 300 mm bajo mordaza; conteo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548640" y="3703320"/>
            <a:ext cx="11109960" cy="2514600"/>
          </a:xfrm>
          <a:prstGeom prst="roundRect">
            <a:avLst>
              <a:gd name="adj" fmla="val 2909"/>
            </a:avLst>
          </a:prstGeom>
          <a:solidFill>
            <a:srgbClr val="F4F5F9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822960" y="388620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PRINCIPIO DEL PROCESO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822960" y="43159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método A en el soporte es el preferente; el B, en el horno y con arnés, solo con autorización de C-05.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822960" y="513892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Caras en contacto total: si la laina de 0.1 mm entra, la junta no sirve.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niple une dos electrodos con caras en contacto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MO-EAF-08 v0.1 (Borrador para validación) y FT-ACE-001 v0.3. Material de capacitación; no sustituye al manual. Figura: eaf-empalme-electrodo.svg.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pic>
        <p:nvPicPr>
          <p:cNvPr id="7" name="Image 1" descr="/home/user/HR/10-plantas/01-steelmaking/img/png/eaf-empalme-electrod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420" y="1417320"/>
            <a:ext cx="6731000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A: la junta queda ≥ 300 mm bajo la mordaza [Validar con OEM].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B: caras en contacto; la laina de 0.1 mm no entra; torque ≈ 4,500 N·m ± 10 %.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C: secuencia en el soporte, de la limpieza con aire seco al registro de torque y serie.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Tres columnas de 610 mm sostenidas por mordazas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MO-EAF-08 v0.1 (Borrador para validación) y FT-ACE-001 v0.3. Material de capacitación; no sustituye al manual. Figura: eaf-corte-horno.svg.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pic>
        <p:nvPicPr>
          <p:cNvPr id="7" name="Image 1" descr="/home/user/HR/10-plantas/01-steelmaking/img/png/eaf-corte-horn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420" y="1417320"/>
            <a:ext cx="6731000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Tres electrodos de grafito UHP de 610 mm (7) llevan la corriente al arco.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Brazos y mordazas (8) sujetan la columna; los mástiles (9) la mueven con hidráulica.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 consumen ≈ 140 mm de columna por colada [Supuesto].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· EQUIPOS Y MAQUINARIA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Siete equipos; tapón y llave calibrada son la clave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MO-EAF-08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3291840"/>
                <a:gridCol w="26974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Equipo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Función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 clave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Verificar antes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Electrodo de grafito UHP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Conduce la corriente al arco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610 mm; ≈ 1.4 t [Validar con OEM]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grietas; seco; cajas limpias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Niple cónico 4TPI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Une los electrodos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Mismo fabricante y grado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Roscas sin daño ni polvo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Tapón de izaje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Iza el electrodo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Capacidad ≥ columna [Validar con OEM]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Roscas sin desgaste; inspección vigente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Soporte de adición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Sostiene la columna vertical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 mordaza de sujeción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Mordaza cierra; base limpia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Llave de torque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Aprieta la junta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Cubre el torque OEM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Calibración ≤ 12 meses [Supuesto]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Laina de 0.1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 holgura entre caras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Íntegra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Grúa de carga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Maniobra electrodos y columnas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120/40 t; gancho auxiliar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Inspección previa al uso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· PARÁMETROS DE OPERACIÓN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Torque y holgura deciden si la junta aguanta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MO-EAF-08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1737360"/>
                <a:gridCol w="2057400"/>
                <a:gridCol w="2103120"/>
                <a:gridCol w="28803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Parámetro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Objetivo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Rango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Alarma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Torque de apriete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≈ 4,500 N·m [Validar con OEM]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± 10 %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90 % o &gt; 110 %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Re-apretar; no exceder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Holgura entre caras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0.1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La laina de 0.1 mm entra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Aflojar, limpiar, re-apretar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Velocidad de bajada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50 mm/s [Validar con OEM]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Golpe entre electrodos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Detener; revisar roscas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Posición de la junta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300 mm [Validar con OEM]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Bajo la mordaza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 mordaza o en el delta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Deslizar a posición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Deslizamiento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≈ 140 mm [Supuesto]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120–170 mm/colada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200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Revisar roturas y oxidación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Consumo de electrodo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1.4 kg/t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1.3–1.6 kg/t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1.7 kg/t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Analizar con C-07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Adición por columna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≈ 18–20 coladas [Supuesto]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12 coladas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Investigar el consumo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Tiempo (método A)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10 min [Supuesto]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15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Registrar la demora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897880"/>
            <a:ext cx="11109960" cy="365760"/>
          </a:xfrm>
          <a:prstGeom prst="rect">
            <a:avLst/>
          </a:prstGeom>
          <a:solidFill>
            <a:srgbClr val="FFF4D6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640080" y="5897880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CONFIRMAR  </a:t>
            </a:r>
            <a:pPr indent="0" marL="0">
              <a:buNone/>
            </a:pPr>
            <a:r>
              <a:rPr lang="en-US" sz="95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Torque, velocidad y posición de junta según tabla del fabricante [Validar con OEM / Ingeniería de Proceso]. Electrodo y niple: mismo fabricante y grado.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· SEGURIDAD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Energía, carga suspendida y altura: cero tolerancia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MO-EAF-08 v0.1 (Borrador para validación) y FT-ACE-001 v0.3. Material de capacitación; no sustituye al manual. Serie MS-ACE.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Bloqueo antes de subir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Interruptor abierto; brazos y bóveda bloqueados. Método A: llave cautiva por persona. Método B o destrabe: LOTO completo.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Nadie bajo la carga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Tapón roscado al 100 %; grúa en modo fino; señalero; nadie bajo la trayectoria ni junto al soporte (MS-ACE-04).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Altura en el método B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Arnés con doble cola 100 % conectado, línea de vida y permiso de trabajo en altura (NOM-009, MS-ACE-10).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Mordaza con personas arriba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Único movimiento permitido: abrir la mordaza con la columna sujeta por la grúa [Validar con OEM / C-12].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949440" y="1463040"/>
            <a:ext cx="4709160" cy="4754880"/>
          </a:xfrm>
          <a:prstGeom prst="roundRect">
            <a:avLst>
              <a:gd name="adj" fmla="val 1553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7223760" y="16459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EPP OBLIGATORIO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7223760" y="2029968"/>
            <a:ext cx="4206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Casco con barbiquejo y lentes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Careta si la columna está caliente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Guantes de carnaza o aluminizados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Ropa ignífuga y botas metatarsales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Arnés con doble cola en el método B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Protección auditiva y detector multigás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· SEGURIDAD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Puntos de bloqueo antes de subir a la plataforma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MO-EAF-08 v0.1 (Borrador para validación) y FT-ACE-001 v0.3. Material de capacitación; no sustituye al manual. Figura: ms-loto-puntos-eaf.svg.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50" dirty="0"/>
          </a:p>
        </p:txBody>
      </p:sp>
      <p:pic>
        <p:nvPicPr>
          <p:cNvPr id="7" name="Image 1" descr="/home/user/HR/10-plantas/01-steelmaking/img/png/ms-loto-puntos-ea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47" y="1417320"/>
            <a:ext cx="5910146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interruptor de AT se abre y se bloquea: sin energía en los electrodos.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unidad hidráulica de brazos y bóveda se bloquea antes de acercarse.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Caja grupal: un candado personal y tarjeta por trabajador.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· CALIDAD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Una junta floja termina en rotura y C fuera de rango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MO-EAF-08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834640"/>
                <a:gridCol w="3017520"/>
                <a:gridCol w="2697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Variable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y cuándo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 falla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Torque y holgura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Torque OEM ± 10 %; laina no entra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Cada empalme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Junta floja: rotura, punta al baño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Trazabilidad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Serie de electrodo y niple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Cada adición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reclamo posible al proveedor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Consumo de electrodo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1.3–1.6 kg/t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Nivel 2, por turno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Costo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 por rotura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La punta rota en el baño sube el C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Muestra después de la rotura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 fuera de rango en bajo carbono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62356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Registrar serie, torque y laina en cada empalme es lo que permite reclamar al proveedor.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Catorce pasos; ocho no admiten error (1/2)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MO-EAF-08 v0.1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Prepara el electrodo nuevo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 el soporte: revisa grietas y roscas; limpia la caja con aire seco sin aceite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daño ni polvo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Rosca el niple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 mano, en la caja superior del electrodo nuevo, hasta el tope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Niple asentado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Desenergiza y bloquea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Arco apagado, interruptor abierto, hidráulica bloqueada; A: llave cautiva por persona; B: LOTO completo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Una llave o candado por persona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 / C-05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Retira la columna (A)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La grúa toma la columna con el tapón; S-01 abre la mordaza; la columna va al soporte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Columna sujeta en el soporte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S-04 / S-02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Limpia la columna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Caja superior de la columna con aire seco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Rosca limpia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Coloca el tapón de izaje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Rosca el tapón al electrodo nuevo con el 100 % de las roscas enganchadas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Tapón a fondo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Baja y rosca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Grúa en modo fino ≤ 50 mm/s; alinea el niple con la caja de la columna; rosca sin forzar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Roscado sin golpe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S-04 / S-02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Catorce pasos; ocho no admiten error (2/2)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MO-EAF-08 v0.1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Aprieta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Aplica el torque OEM con la llave calibrada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Torque ± 10 %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 la holgura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Pasa la laina de 0.1 mm alrededor de toda la junta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entra en ningún punto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Marca y registra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Pinta la marca de deslizamiento; registra serie de electrodo y niple, torque y hora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Registro completo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Regresa la columna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La grúa lleva la columna a la mordaza; S-01 cierra la mordaza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Columna sujeta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S-04 / S-01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Desliza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Junta ≥ 300 mm bajo la mordaza; punta a la altura de trabajo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Junta fuera de mordaza y delta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Retira bloqueos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Todos bajan; personas = llaves devueltas; cada quien retira su propio candado o llave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Plataforma vacía; tablero completo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S-02 / C-05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Método B (alterno)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Pasos 1–3, 6–10 y 12–13 con LOTO completo, arnés 100 % conectado y permiso de altura (MS-ACE-10)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Mismos criterios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S-02 / S-03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09 · CONDICIONES ANORMALES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Junta floja o tapón dudoso: no se iza ni se energiza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MO-EAF-08 v0.1 (Borrador para validación) y FT-ACE-001 v0.3. Material de capacitación; no sustituye al manual. Serie MS-ACE-09 para emergencias.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6400800"/>
                <a:gridCol w="19659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Síntoma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Acción inmediata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Avisar 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Rotura de electrodo en operación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Abrir interruptor; la punta en el baño se funde (vigilar C); retirar la columna (método A)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C-05, C-07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Junta al rojo, chispas o arco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Abrir interruptor; re-apretar en frío o cambiar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Laina entra tras re-apretar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Cambiar niple o electrodo; registrar el lote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C-05, proveedor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Tapón de izaje no rosca completo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izar; cambiar tapón o electrodo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Arco en la mordaza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Detener; mantenimiento con LOTO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S-19, S-22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Columna muy corta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energizar esa fase; adición inmediata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Electrodo con grieta visible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usar; separar; reclamo al proveedor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Falla de la llave de torque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apretar a estimación; usar llave de respaldo calibrada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Certificación nivel U: demostrar, no asistir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MO-EAF-08 v0.1 (Borrador para validación) y FT-ACE-001 v0.3. Material de capacitación; no sustituye al manual. TD-P07. ILUO: I Introducción · L Práctica supervisada · U Ejecución autónoma · O Dominio e instrucción.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Introducción y Conocimiento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2121408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121408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2670048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Aprendizaje y Práctica Supervisada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694176" y="1554480"/>
            <a:ext cx="502920" cy="502920"/>
          </a:xfrm>
          <a:prstGeom prst="ellipse">
            <a:avLst/>
          </a:prstGeom>
          <a:solidFill>
            <a:srgbClr val="E8551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694176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242816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Ejecución Autónoma y Habilitada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266944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266944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815584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Dominio, Optimización e Instrucción</a:t>
            </a:r>
            <a:endParaRPr lang="en-US" sz="7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65836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94360"/>
                <a:gridCol w="1097280"/>
                <a:gridCol w="1737360"/>
                <a:gridCol w="10515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ILUO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Teoría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OJT supervisado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Vigencia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S-02 Segundo Hornero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30 h / 10 empalmes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meses; altura y señalero 12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S-03 Tercer Hornero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20 h / 10 empalmes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meses; altura e izaje 12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S-04 Grúa de Carga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NOM-006 + grúa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 maniobras de electrodo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C-05 Supervisor de Hornos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 (evaluador)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 h + evaluador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  <p:sp>
        <p:nvSpPr>
          <p:cNvPr id="20" name="Shape 16"/>
          <p:cNvSpPr/>
          <p:nvPr/>
        </p:nvSpPr>
        <p:spPr>
          <a:xfrm>
            <a:off x="7406640" y="1463040"/>
            <a:ext cx="4251960" cy="4754880"/>
          </a:xfrm>
          <a:prstGeom prst="roundRect">
            <a:avLst>
              <a:gd name="adj" fmla="val 1720"/>
            </a:avLst>
          </a:prstGeom>
          <a:solidFill>
            <a:srgbClr val="F4F5F9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680960" y="16459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★ QUE SE EVALÚAN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7680960" y="2029968"/>
            <a:ext cx="37490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Aplica llave cautiva (A) o LOTO completo (B) según MS-ACE-02 §6.4 y verifica cero energía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Rosca el tapón de izaje al 100 % y mantiene a todos fuera de la trayectoria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Aprieta al torque OEM con llave calibrada y verifica con la laina de 0.1 mm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Deja la junta fuera de la zona de la mordaza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Retira bloqueos con personas = llaves devueltas; en método B trabaja 100 % conectado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 la teoría a la certificación en seis pasos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MO-EAF-08 v0.1 (Borrador para validación) y FT-ACE-001 v0.3. Material de capacitación; no sustituye al manual. Registro de competencia en IMaS; constancia DC-3/SIRCE (obligación STPS).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1474470" y="1920240"/>
            <a:ext cx="9258300" cy="0"/>
          </a:xfrm>
          <a:prstGeom prst="line">
            <a:avLst/>
          </a:prstGeom>
          <a:noFill/>
          <a:ln w="12700">
            <a:solidFill>
              <a:srgbClr val="D6D8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91590" y="1737360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15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12 h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143250" y="1737360"/>
            <a:ext cx="365760" cy="36576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14325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244602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244602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≥ 80 %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994910" y="1737360"/>
            <a:ext cx="365760" cy="36576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99491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29768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OJT supervisado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429768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30 h / 10 empalmes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846570" y="1737360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84657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14934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Evaluación práctica ★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614934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100 % pasos ★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8698230" y="1737360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69823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800100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Registro IMaS y DC-3/SIRCE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≤ 10 días hábiles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10549890" y="1737360"/>
            <a:ext cx="365760" cy="36576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05498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98526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Recertificación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98526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 meses; altura y señalero 12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48640" y="3429000"/>
            <a:ext cx="11109960" cy="2788920"/>
          </a:xfrm>
          <a:prstGeom prst="roundRect">
            <a:avLst>
              <a:gd name="adj" fmla="val 2623"/>
            </a:avLst>
          </a:prstGeom>
          <a:solidFill>
            <a:srgbClr val="F4F5F9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822960" y="361188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 LA CERTIFICACIÓN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822960" y="3995928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certificación vale solo para el proceso y el rol evaluados; se suspende tras un incidente grave hasta reevaluar.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trabajador con experiencia puede solicitar la evaluación directa como examen de suficiencia (LFT art. 153-U).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certificación vigente no se ejecuta la tarea crítica: el permiso de trabajo lo bloquea.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AUTOEVALUACIÓN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Autoevaluación: cinco preguntas antes del OJT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MO-EAF-08 v0.1 (Borrador para validación) y FT-ACE-001 v0.3. Material de capacitación; no sustituye al manual. Respuestas en las notas del orador.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8" name="Shape 5"/>
          <p:cNvSpPr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844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1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¿Cómo verificas que la junta quedó bien apretada?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Golpeando la junta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La laina de 0.1 mm no entra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Por el ruido de la llave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9768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3" name="Shape 10"/>
          <p:cNvSpPr/>
          <p:nvPr/>
        </p:nvSpPr>
        <p:spPr>
          <a:xfrm>
            <a:off x="4480560" y="1645920"/>
            <a:ext cx="457200" cy="45720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04748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2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448056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¿Cuánto del tapón de izaje debe quedar roscado?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448056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50 %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75 %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100 %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04672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8" name="Shape 15"/>
          <p:cNvSpPr/>
          <p:nvPr/>
        </p:nvSpPr>
        <p:spPr>
          <a:xfrm>
            <a:off x="8229600" y="1645920"/>
            <a:ext cx="457200" cy="45720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79652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3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¿Qué necesitas para subir en el método A de rutina?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822960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Solo avisar a S-01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Llave cautiva, una por persona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Permiso de trabajo en altura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864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3" name="Shape 20"/>
          <p:cNvSpPr/>
          <p:nvPr/>
        </p:nvSpPr>
        <p:spPr>
          <a:xfrm>
            <a:off x="731520" y="4069080"/>
            <a:ext cx="457200" cy="45720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129844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4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73152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¿Dónde debe quedar la junta al deslizar la columna?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73152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Dentro de la mordaza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≥ 300 mm bajo la mordaza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A la altura del delta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29768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8" name="Shape 25"/>
          <p:cNvSpPr/>
          <p:nvPr/>
        </p:nvSpPr>
        <p:spPr>
          <a:xfrm>
            <a:off x="4480560" y="4069080"/>
            <a:ext cx="457200" cy="457200"/>
          </a:xfrm>
          <a:prstGeom prst="ellipse">
            <a:avLst/>
          </a:prstGeom>
          <a:solidFill>
            <a:srgbClr val="C8136C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04748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5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448056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Falla la llave de torque. ¿Qué haces?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448056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Apretar a estimación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Usar llave de respaldo calibrada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Dejar la junta apretada a mano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804672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33" name="Shape 30"/>
          <p:cNvSpPr/>
          <p:nvPr/>
        </p:nvSpPr>
        <p:spPr>
          <a:xfrm>
            <a:off x="8229600" y="4069080"/>
            <a:ext cx="457200" cy="457200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472" y="4187952"/>
            <a:ext cx="219456" cy="219456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879652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3F6FD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CRITERIO</a:t>
            </a:r>
            <a:endParaRPr lang="en-US" sz="800" dirty="0"/>
          </a:p>
        </p:txBody>
      </p:sp>
      <p:sp>
        <p:nvSpPr>
          <p:cNvPr id="36" name="Text 32"/>
          <p:cNvSpPr txBox="1"/>
          <p:nvPr/>
        </p:nvSpPr>
        <p:spPr>
          <a:xfrm>
            <a:off x="822960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Mínimo 4 de 5 correctas</a:t>
            </a:r>
            <a:endParaRPr lang="en-US" sz="1250" dirty="0"/>
          </a:p>
        </p:txBody>
      </p:sp>
      <p:sp>
        <p:nvSpPr>
          <p:cNvPr id="37" name="Text 33"/>
          <p:cNvSpPr txBox="1"/>
          <p:nvPr/>
        </p:nvSpPr>
        <p:spPr>
          <a:xfrm>
            <a:off x="822960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 4 o más pasas al OJT supervisado. Con menos, repasa el manual con tu instructor y repite la autoevaluación.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 · CIERRE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del empalme que no se negocian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paso: OJT supervisado y evaluación práctica (TD-P07); registro en IMaS y DC-3/SIRCE. Validación: visto bueno técnica, seguridad, laboral, diseño instruccional.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2029968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bloqueo nadie sube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Interruptor abierto; llave cautiva por persona o LOTO completo.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2648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09360" y="2029968"/>
            <a:ext cx="365760" cy="36576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30936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Tapón al 100 % o no se iza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 nadie bajo la trayectoria de la grúa.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4864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1520" y="3401568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3152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28016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 la laina entra, la junta no sirve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28016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Aflojar, limpiar y re-apretar; si persiste, cambiar niple o electrodo.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12648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09360" y="3401568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30936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685800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Personas = llaves antes de energizar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Conteo completo al retirar los bloqueos.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ArcelorMittal México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MO-EAF-08 — Adición y empalme de electrodos · Capacitación</dc:title>
  <dc:subject>PptxGenJS Presentation</dc:subject>
  <dc:creator>Gerencia de Capacitación y Desarrollo</dc:creator>
  <cp:lastModifiedBy>Gerencia de Capacitación y Desarrollo</cp:lastModifiedBy>
  <cp:revision>1</cp:revision>
  <dcterms:created xsi:type="dcterms:W3CDTF">2026-09-25T20:02:41Z</dcterms:created>
  <dcterms:modified xsi:type="dcterms:W3CDTF">2026-09-25T20:02:41Z</dcterms:modified>
</cp:coreProperties>
</file>