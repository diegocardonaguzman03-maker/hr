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Dejar el horno sin fugas, con refractario reparado y EBT lleno de arena seca en ≤ 5 min. Principio rector: Si hay duda de agua, el horno no se inclina ni se carga.
PUNTOS A CERRAR: Presentar a los participantes, el objetivo y la ruta de certificación (teoría → OJT → evaluación práctica).
[POR CONFIRMAR] Material de solera, arena del EBT, rango de inclinación y corona de arena con el OEM · T de panel, humedad de arena, proyección, T de coraza y reparto de los 5 min (supuestos)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Presión del horno −5 a −15 Pa (&gt; 0 Pa: no cargar). Solera, arena, inclinación y corona del EBT: [Validar con OEM / Ingeniería de Proceso].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c) &gt; 4 % — &gt; 2 % es alarma: no inclinar ni cargar. &gt; 4 % dispara el arco en automático.
2) b) No inclinar ni mover; evacuar — Inclinar atrapa el agua bajo el metal: explosión. Arco bloqueado y evacuación a ≥ 25 m.
3) b) 20–30 t — Talón 20–30 t. Bajo: fusión lenta del DRI. Alto: sobrellenado en la siguiente colada.
4) b) Corona de 50–100 mm — Corona de 50–100 mm con arena ≤ 0.5 % de humedad; si no, el EBT puede no abrir.
5) b) Tu propia llave cautiva — Rutina: una llave cautiva por persona y confirmación en HMI. Intervenir equipo: LOTO completo.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Material de solera, arena del EBT, rango de inclinación y corona de arena con el OEM · T de panel, humedad de arena, proyección, T de coraza y reparto de los 5 min (supuestos)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MO-EAF-01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Preparación del horno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Dejar el horno sin fugas, con refractario reparado y EBT lleno de arena seca en ≤ 5 min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(S-01 / S-02)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30 preparaciones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(TD-P07)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Fin de vaciado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OK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Refractario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Proyección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EBT lleno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Horno liberado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S-01 Primer Hornero · S-02 Segundo Hornero · S-03 Tercer Hornero · C-05 Supervisor de Hornos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dejas el horno listo y seguro en 5 min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Verificar el agua antes de mover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Leer Δ caudal ≤ 2 %, T de panel ≤ 60 °C y P ≥ 3 bar; revisar vapor y manchas. Con duda, el horno no se mueve.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Reparar el refractario sin riesgo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Inspeccionar solera, bancos y zona del EBT; proyectar 150–300 kg de MgO sin tocar el baño ni formar charcos.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Dejar el EBT listo para abrir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Compuerta cerrada y enclavada; agujero limpio y lleno de arena seca hasta corona de 50–100 mm.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Liberar en ≤ 5 min sin exponer a nadie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Llave cautiva por persona al subir, conteo de llaves al bajar y aviso de horno listo para carga.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los 5 min de preparación se decide si la siguiente colada es segura. Una fuga de agua bajo 20–30 t de talón líquido es una explosión; un EBT mal llenado o un banco adelgazado se convierten en lanceo, retraso o perforación de coraza.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hay duda de agua, el horno no se inclina ni se carga.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S-01 libera; C-05 decide ante cualquier desviación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la preparación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Supervisor de Hornos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Dueño; autoriza liberar con desviación; decide parar por agua o refractario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Primer Hornero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Balance de agua y presiones en HMI; inclina, mueve bóveda y libera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 Segundo Hornero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 solera, bancos, puerta y EBT; proyecta y llena el EBT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S-03 Tercer Hornero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Limpia puerta, prepara arena y mezcla; apoya el llenado del EBT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C-15 Especialista de Refractarios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Define la práctica de proyección y el criterio de reparación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 Ingeniero de Proceso EAF / LF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Define límites de proceso; analiza desviaciones repetitivas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S-04 Operador de Grúa de Carga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el aviso de horno listo para traer la canasta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Primero el agua, después el refractario y el EBT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461897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Fin de vaciado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EBT cerrado, horno a −3°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37385" y="1691640"/>
            <a:ext cx="1461897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0197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¿Agua OK?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8310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Δ ≤ 2 %, T ≤ 60 °C, P ≥ 3 bar, sin vapor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26130" y="1691640"/>
            <a:ext cx="1461897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9072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Inspección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37185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Solera, bancos, puerta, zona EBT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14875" y="1691640"/>
            <a:ext cx="1461897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7946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Proyección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76059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Puntos calientes y bancos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03620" y="1691640"/>
            <a:ext cx="1461897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821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Bloqueo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14934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Llave cautiva antes de subir al EBT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492365" y="1691640"/>
            <a:ext cx="1461897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5695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EBT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53808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Limpiar, cerrar y llenar con arena seca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881110" y="1691640"/>
            <a:ext cx="1461897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4570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Revisión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2683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Electrodos, quemadores, 4.º agujero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0269855" y="1691640"/>
            <a:ext cx="1461897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43444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31557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Horno a 0°, llaves completas, aviso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hay duda de agua, el horno no se mueve: todo lo demás espera.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hay duda de agua, el horno no se inclina ni se carga.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talón líquido queda bajo paneles con agua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MO-EAF-01 v0.1 (Borrador para validación) y FT-ACE-001 v0.3. Material de capacitación; no sustituye al manual. Figura: eaf-corte-horno.svg.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eaf-corte-horn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20" y="1417320"/>
            <a:ext cx="673100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talón de 20–30 t queda en la solera, contenido por los bancos refractarios.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Paneles y bóveda se enfrían con agua a 4–6 bar: una fuga cae sobre el metal.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EBT (16) se cierra por abajo con la compuerta y se llena de arena por arriba.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4.º agujero (11) mantiene el horno entre −5 y −15 Pa.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preparación tiene 5 de los 55 min del tap-to-tap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MO-EAF-01 v0.1 (Borrador para validación) y FT-ACE-001 v0.3. Material de capacitación; no sustituye al manual. Figura: eaf-ciclo-colada.svg.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eaf-ciclo-cola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5181"/>
            <a:ext cx="6766560" cy="433059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preparación es la última etapa del ciclo: 5 min con el arco apagado.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Reparto típico [Supuesto]: agua 0.5, inspección 1, proyección 1.5, EBT 1.5 y liberación 0.5 min.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Proyección y EBT pueden ir en paralelo con dos personas certificadas y bloqueos independientes.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Siete equipos se verifican antes de liberar el horno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de paneles y bóveda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Enfría coraza superior y bóveda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≈ 2,200 m³/h a 4–6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Δ ≤ 2 %, T ≤ 60 °C, P ≥ 3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Solera y bancos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Contienen el talón y el baño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MgO apisonada / MgO-C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cavidades; coraza sin punto caliente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EBT y compuerta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Vaciado por el fondo sin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Tubo y bloque reemplazables; flap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Cerrada y enclavada; agujero limpio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Tolva de arena del EBT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Llena el agujero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Olivino/magnesia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Tolva cerrada; humedad ≤ 0.5 %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Máquina de proyección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Repara puntos calientes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Mezcla de MgO; agua dosificada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Boquilla libre; agua según proveedor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Sistema de inclinación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Inclina a EBT (+) y a puerta (−)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−10° a +15°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Enclavamiento de 0°; sin fugas de aceite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4.º agujero y quemadores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Humos; O₂ y gas natural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−5 a −15 Pa; 4 × 2,500 Nm³/h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Damper en automático; boquillas libres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Agua, talón y refractario definen si se carga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 caudal agua ent–sal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0–2 %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2 % alarma; &gt; 4 % disparo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inclinar; C-05 y Mtto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salida de panel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50 °C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35–55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60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caudal; aísla panel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Presión de 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4–6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3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cargar ni energizar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Talón líquido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25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20–30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20 t o &gt; 30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20: C-07; &gt; 30: menos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Tiempo de preparación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4–6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8 min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Registrar demora y causa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Proyección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150–300 kg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1–2 kg/t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450 kg en 3 coladas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C-15 evalúa reparación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Humedad arena EBT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0.3 %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0.5 %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usar; cambiar lote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coraza inferior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250 °C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300 °C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cargar; C-05 +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Presión del horno −5 a −15 Pa (&gt; 0 Pa: no cargar). Solera, arena, inclinación y corona del EBT: [Validar con OEM / Ingeniería de Proceso].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bajo metal líquido: el riesgo que no perdona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MO-EAF-01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Llave cautiva o LOTO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Llave cautiva, una por persona, para la rutina en la plataforma del EBT. Para intervenir equipo: LOTO completo (MS-ACE-02 §6.4).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Agua: con duda no se mueve el horno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Balance y visual antes de inclinar. Δ &gt; 2 % o vapor: arco bloqueado, no inclinar, evacuar a ≥ 25 m (MS-ACE-03).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Arena y proyección secas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Arena en tolva cerrada. Proyección solo sobre refractario caliente, nunca sobre el baño ni formando charcos.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CO en la plataforma superior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Detector multigás: CO 25 ppm salir, 200 ppm evacuar el sector; O₂ fuera de 19.5–23.5 % salir (MS-ACE-06).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 con barbiquejo y careta con visor dorado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Chaqueta, polainas y guantes aluminizados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ignífuga FR, nada sintético; botas metatarsales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auditiva: &gt; 100 dB(A) con arco encendido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Detector personal de CO; arnés si no hay barandal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Fuga de agua en el EAF: no mover, evacuar, esperar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MO-EAF-01 v0.1 (Borrador para validación) y FT-ACE-001 v0.3. Material de capacitación; no sustituye al manual. Figura: ms-emergencia-arbol-decision.svg.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emergencia-arbol-deci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Δ caudal &gt; 2 % es alarma y &gt; 4 % dispara el arco: no inclinar ni mover electrodos.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Evacuar la plataforma y la zona ≤ 25 m; nadie frente a la puerta ni al EBT.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Esperar sin vapor ≥ 30 min [Supuesto]; reanudar solo con OK de C-05 y C-07.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EBT mal llenado se paga en el vaciado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Llenado del EBT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Corona 50–100 mm [Validar con OEM]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Visual, cada colada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EBT no abre: lanceo, retraso, reoxidación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Talón líquido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20–30 t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Balance de masa, cada colada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Bajo: fusión lenta; alto: sobrellenado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Escoria remanente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Mínima, sin costras en la puerta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Visual; bitácora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Arrastre de P a la siguiente colada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Línea de escoria y bancos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cavidad; proyección según C-15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 + IR, cada colada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Perforación de coraza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Cavidad &gt; 100 mm [Supuesto] se proyecta hoy; si se repite 3 coladas, reparación programada.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ocho no admiten error (1/3)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MO-EAF-01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Confirma fin de vaciado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HMI: EBT cerrado, horno retroinclinado a −3°, carro de olla fuera de la fosa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Vaciado terminado en nivel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el agua en HMI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 Δ caudal por circuito, T de salida por panel y presión; registra los tres valores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 ≤ 2 %, T ≤ 60 °C, P 4–6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el agua a la vista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Bóveda cerrada, desde posición protegida: vapor, manchas húmedas en la escoria, llama anormal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evidencia de 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Decide si mueve el horno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 duda en los pasos 2 o 3: no inclines, no gires bóveda, arco bloqueado; aplica condiciones anormales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duda de fuga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/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Nivela a 0°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Inclina a 0° lentamente para la inspección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Enclavamiento de 0° activo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 el refractario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Desde la puerta con careta: solera, bancos, línea de escoria, jambas y zona del EBT; revisa la termografía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cavidades; coraza ≤ 300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Estima el talón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Balance en nivel 2: carga metálica menos peso vaciado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20–30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ocho no admiten error (2/3)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MO-EAF-01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Proyecta puntos calientes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Mezcla de MgO sobre puntos desgastados, desde la puerta; nunca sobre el baño ni formando charcos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150–300 kg; superficie cubierta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Rellena bancos, limpia puerta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Dolomita/MgO granular en bancos [Supuesto: 0.5–1 t]; costras con la máquina, nadie en la trayectoria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Banco continuo; umbral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 / S-03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Bloquea antes de subir al EBT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Interruptor abierto; inclinación y bóveda con llave cautiva, una por persona; S-01 confirma en HMI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Una llave por persona; OK 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 / 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Limpia el agujero del EBT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diámetro y costras; costra: lanza de O₂ desde arriba con EPP aluminizado; registra coladas del tubo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Agujero libre; tubo &lt; límite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la compuerta del EBT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Acciona el cierre desde el mando local; confirma el indicador de cerrado y enclavado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Indicador cerrado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Llena el EBT con arena seca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Arena de la tolva cerrada hasta corona de 50–100 mm; seca y sin grumos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Corona uniforme; arena ≤ 0.5 %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 / S-03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electrodos y quemadores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Longitud bajo mordaza, grietas y juntas (MO-EAF-08); boquillas libres; presión −5 a −15 Pa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alarmas; longitud suficiente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ocho no admiten error (3/3)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MO-EAF-01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el bloqueo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Bajan todos; cada persona devuelve su propia llave al tablero; personas = llaves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Plataforma vacía; llaves completas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 / 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 el horno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 la lista de preparación en nivel 2; avisa por radio a S-04 y S-05: “EAF-x listo para carga”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Lista sin pendientes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 fuga de agua: horno quieto, arco bloqueado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MO-EAF-01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Fuga: Δ &gt; 2 %, vapor o manchas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Arco bloqueado; no inclinar ni mover electrodos; cerrar el circuito; evacuar ≥ 25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C-04, C-16, Mtto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Punto caliente en coraza &gt; 300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cargar; evaluar con C-15; vaciar el talón solo con procedimiento de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Costra que no sale del EBT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Lanza de O₂ desde arriba con EPP; tras 2 intentos, C-05 decide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Compuerta no cierra o no enclava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llenar con arena ni cargar; Mantenimiento revisa con LOTO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Mtto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Arena húmeda o apelmazada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Cambiar el lote; no usar esa arena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C-17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Talón &lt; 20 t o &gt; 30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20 t: C-07 ajusta la siguiente colada; &gt; 30 t: reducir carga y vigilar la puerta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 /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Presión del horno positiva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cargar hasta restablecer damper del 4.º agujero y casa de bolsas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Mtto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Electrodo con grieta visible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energizar; cambiar o reparar según MO-EAF-08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MO-EAF-01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Primer Hornero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80 h / 30 preparaciones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 Segundo Hornero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80 h / 30 preparaciones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S-03 Tercer Hornero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 (U para suplir)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 / 15 preparaciones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Supervisor de Hornos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 (evaluador)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 + evaluador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Interpreta balance de agua, T de panel y presión: límites 2 % / 4 % / 60 °C / 3 bar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Explica por qué no se inclina con sospecha de fuga y ejecuta la respuesta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 a la vista que no hay agua y no mueve el horno si hay duda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Distingue llave cautiva de LOTO; bloquea al subir y retira con conteo de personas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 la compuerta cerrada y el EBT lleno con arena seca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Proyecta sin formar charcos ni proyectar sobre el baño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MO-EAF-01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 h / 30 preparaciones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MO-EAF-01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Δ de caudal de agua entrada–salida dispara el arco?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&gt; 1 %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&gt; 2 %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&gt; 4 %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Ves vapor y manchas húmedas en la escoria. ¿Qué haces?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Inclinar a la puerta para escoriar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No inclinar ni mover; evacuar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Proyectar MgO sobre la mancha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talón líquido debe quedar en el horno?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5–10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20–30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40–50 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¿Hasta dónde se llena el EBT con arena seca?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Hasta la mitad del tubo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Corona de 50–100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Al ras de la solera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necesitas para subir a llenar el EBT?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Aviso verbal a S-01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Tu propia llave cautiva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Nada si el arco está apagado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preparación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 (pendientes: seguridad, laboral, diseño instruccional).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duda de agua, el horno no se mueve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inclinar, no girar bóveda, arco bloqueado; reanudar solo con C-05 y C-07.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sube al EBT sin su llave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llave cautiva por persona; para intervenir equipo, LOTO completo.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Arena seca o no se llena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Humedad &gt; 0.5 %: cambiar el lote. Humedad + metal líquido = explosión.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Coraza &gt; 300 °C: no se carga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C-05 y C-15 evalúan antes de continuar [Supuesto].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MO-EAF-01 — Preparación del horno entre coladas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2026-09-25T19:42:29Z</dcterms:created>
  <dcterms:modified xsi:type="dcterms:W3CDTF">2026-09-25T19:42:29Z</dcterms:modified>
</cp:coreProperties>
</file>