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Objetivo del curso: Cubrir el arco con B2 1.8–2.2, FeO 25–35 % y MgO 8–10 %, y desescoriar sin exponer a nadie. Principio rector: Sin olla seca y zona libre, no se desescoria.
PUNTOS A CERRAR: Presentar a los participantes, el objetivo y la ruta de certificación (teoría → OJT → evaluación práctica).
[POR CONFIRMAR] Presiones de O₂ y gas, ángulo de desescoriado y altura de espuma con el OEM · Volumen de olla de escoria, cantidad de escoria, llenado ≤ 80 % y frecuencia de muestra (supuestos)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objetivo como una conducta observable que se evaluará en campo.
PUNTOS A CERRAR: Confirmar que cada participante sabe en qué rol ejecutará el proceso.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R = ejecuta · A = dueño y responsable final · C = consultado · I = informado.
PUNTOS A CERRAR: Cada participante identifica su renglón y a quién escala.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Recorrer el flujo de izquierda a derecha; señalar las compuertas de decisión.
PUNTOS A CERRAR: Qué pasa si una condición previa no se cumple: no se avanza.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Usar la figura para ubicar cada componente en planta.
PUNTOS A CERRAR: Pedir a un participante que explique la figura con sus palabras.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Usar la figura para ubicar cada componente en planta.
PUNTOS A CERRAR: Pedir a un participante que explique la figura con sus palabras.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La columna resaltada es lo que se verifica ANTES de operar.
PUNTOS A CERRAR: Equipo que no pasa la verificación = no se opera; se reporta.
[POR CONFIRMAR] Especificaciones marcadas en la tabla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renglón: objetivo, rango normal, alarma y la acción (columna resaltada).
PUNTOS A CERRAR: Ejercicio: dar un valor fuera de rango y pedir la acción correcta.
[POR CONFIRMAR] Lanza ≤ 2,500 Nm³/h. Espuma ≥ longitud de arco [Validar con OEM / Ingeniería de Proceso]; P₂O₅ según balance [Validar con Ingeniería de Proceso].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Los controles con ★ son críticos: si fallan puede haber una fatalidad. Se evalúan en la certificación.
PUNTOS A CERRAR: Cualquier persona puede y debe detener el trabajo si un control crítico no está.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Ubicar en la figura dónde está cada persona durante el proceso.
PUNTOS A CERRAR: Distancias y rutas de escape: preguntar a cada participante la suya.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Relacionar cada variable con el defecto que causa aguas abajo.
PUNTOS A CERRAR: Quién registra cada variable y dónde.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paso y demostrar en campo o simulador los pasos ★ (renglones resaltados).
PUNTOS A CERRAR: Los pasos ★ no se omiten ni se cambian de orden.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paso y demostrar en campo o simulador los pasos ★ (renglones resaltados).
PUNTOS A CERRAR: Los pasos ★ no se omiten ni se cambian de orden.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Practicar cada renglón como simulacro de mesa: síntoma → acción → a quién avisar.
PUNTOS A CERRAR: Nadie improvisa: si no está aquí, se detiene y se escala al supervisor.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Nivel requerido: U (Ejecución Autónoma y Habilitada). La evaluación es práctica, ante evaluador certificado, sobre los pasos ★.
PUNTOS A CERRAR: Quien no demuestra todos los pasos ★ queda "aún no competente" y repite OJT dirigido.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Explicar la ruta completa y los tiempos.
PUNTOS A CERRAR: Aclarar que la evaluación no es sanción: es la evidencia de que la persona puede trabajar segura.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RESPUESTAS:
1) b) CO del C que reduce el FeO — El O₂ forma FeO; el C inyectado lo reduce y forma CO, que hace crecer la espuma.
2) b) Más C y más cal — FeO alto o B2 baja: más carbono, más cal y bajar tap.
3) b) 1.8–2.2 — &lt; 1.6 ataca el refractario y no quita P; &gt; 2.5 da escoria seca, sin espuma.
4) b) No desescoriar; nivel con O₂/C — Escoria líquida sobre agua = explosión. No se desescoria hasta tener olla y fosa secas.
5) b) Cortar C, reducir O₂ y despejar — Es el inicio de una ebullición: cortar C, reducir O₂, detener DRI y todos fuera del frente.
CÓMO EXPLICARLA: dar 5 minutos; revisar en grupo. PUNTOS A CERRAR: mínimo 4 de 5 correctas para pasar a OJT.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Cerrar con las reglas que no se negocian; cada participante repite la regla más importante para su rol.
PUNTOS A CERRAR: Agendar OJT con el supervisor y el evaluador.
[POR CONFIRMAR] Presiones de O₂ y gas, ángulo de desescoriado y altura de espuma con el OEM · Volumen de olla de escoria, cantidad de escoria, llenado ≤ 80 % y frecuencia de muestra (supuestos)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HR/2e49314e-011f-5c3a-b225-07e067b46c12/scratchpad/ammx/assets/am_logo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20040"/>
            <a:ext cx="960120" cy="39652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91440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CAPACITACIÓN TÉCNICA · OPERACIÓN · MO-EAF-05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298448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Escoria espumosa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286000"/>
            <a:ext cx="7680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Cubrir el arco con B2 1.8–2.2, FeO 25–35 % y MgO 8–10 %, y desescoriar sin exponer a nadie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580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24 h</a:t>
            </a:r>
            <a:endParaRPr lang="en-US" sz="32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teoría (S-01)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256032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69748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120 h</a:t>
            </a:r>
            <a:endParaRPr lang="en-US" sz="3200" dirty="0"/>
          </a:p>
        </p:txBody>
      </p:sp>
      <p:sp>
        <p:nvSpPr>
          <p:cNvPr id="11" name="Text 8"/>
          <p:cNvSpPr txBox="1"/>
          <p:nvPr/>
        </p:nvSpPr>
        <p:spPr>
          <a:xfrm>
            <a:off x="269748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OJT · 50 coladas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57200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70916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3200" dirty="0"/>
          </a:p>
        </p:txBody>
      </p:sp>
      <p:sp>
        <p:nvSpPr>
          <p:cNvPr id="14" name="Text 11"/>
          <p:cNvSpPr txBox="1"/>
          <p:nvPr/>
        </p:nvSpPr>
        <p:spPr>
          <a:xfrm>
            <a:off x="470916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pasos críticos ★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58368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72084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2.0</a:t>
            </a:r>
            <a:endParaRPr lang="en-US" sz="3200" dirty="0"/>
          </a:p>
        </p:txBody>
      </p:sp>
      <p:sp>
        <p:nvSpPr>
          <p:cNvPr id="17" name="Text 14"/>
          <p:cNvSpPr txBox="1"/>
          <p:nvPr/>
        </p:nvSpPr>
        <p:spPr>
          <a:xfrm>
            <a:off x="672084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basicidad B2 objetivo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9208008" y="1325880"/>
            <a:ext cx="0" cy="3505200"/>
          </a:xfrm>
          <a:prstGeom prst="line">
            <a:avLst/>
          </a:prstGeom>
          <a:noFill/>
          <a:ln w="12700">
            <a:solidFill>
              <a:srgbClr val="8A8CA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9025128" y="1143000"/>
            <a:ext cx="365760" cy="365760"/>
          </a:xfrm>
          <a:prstGeom prst="ellipse">
            <a:avLst/>
          </a:prstGeom>
          <a:solidFill>
            <a:srgbClr val="FF8C47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25128" y="1143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9528048" y="112471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Modo quemador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9025128" y="1844040"/>
            <a:ext cx="365760" cy="365760"/>
          </a:xfrm>
          <a:prstGeom prst="ellipse">
            <a:avLst/>
          </a:prstGeom>
          <a:solidFill>
            <a:srgbClr val="FC6A45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025128" y="1844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9528048" y="182575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Modo lanza + C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9025128" y="2545080"/>
            <a:ext cx="365760" cy="365760"/>
          </a:xfrm>
          <a:prstGeom prst="ellipse">
            <a:avLst/>
          </a:prstGeom>
          <a:solidFill>
            <a:srgbClr val="FA4642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9025128" y="2545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9528048" y="252679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Espuma cubre el arco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9025128" y="3246120"/>
            <a:ext cx="365760" cy="365760"/>
          </a:xfrm>
          <a:prstGeom prst="ellipse">
            <a:avLst/>
          </a:prstGeom>
          <a:solidFill>
            <a:srgbClr val="DB2259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9025128" y="3246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9528048" y="322783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Olla seca</a:t>
            </a:r>
            <a:endParaRPr 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9025128" y="3947160"/>
            <a:ext cx="365760" cy="365760"/>
          </a:xfrm>
          <a:prstGeom prst="ellipse">
            <a:avLst/>
          </a:prstGeom>
          <a:solidFill>
            <a:srgbClr val="C8136C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9025128" y="3947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9528048" y="392887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Desescoriado</a:t>
            </a:r>
            <a:endParaRPr lang="en-US" sz="1150" dirty="0"/>
          </a:p>
        </p:txBody>
      </p:sp>
      <p:sp>
        <p:nvSpPr>
          <p:cNvPr id="34" name="Shape 31"/>
          <p:cNvSpPr/>
          <p:nvPr/>
        </p:nvSpPr>
        <p:spPr>
          <a:xfrm>
            <a:off x="9025128" y="4648200"/>
            <a:ext cx="365760" cy="365760"/>
          </a:xfrm>
          <a:prstGeom prst="ellipse">
            <a:avLst/>
          </a:prstGeom>
          <a:solidFill>
            <a:srgbClr val="AA0582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9025128" y="4648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</a:t>
            </a: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9528048" y="462991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Química en rango</a:t>
            </a:r>
            <a:endParaRPr lang="en-US" sz="1150" dirty="0"/>
          </a:p>
        </p:txBody>
      </p:sp>
      <p:sp>
        <p:nvSpPr>
          <p:cNvPr id="37" name="Text 34"/>
          <p:cNvSpPr txBox="1"/>
          <p:nvPr/>
        </p:nvSpPr>
        <p:spPr>
          <a:xfrm>
            <a:off x="548640" y="53492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Para: S-01 Primer Hornero · S-02 Segundo Hornero · S-10 Operador de Escoria · S-11 Muestrero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48640" y="6446520"/>
            <a:ext cx="10058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MO-EAF-05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39" name="Text 36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01 · OBJETIVOS DE APRENDIZAJE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Al terminar, cubres el arco y desescorias sin riesgo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MO-EAF-05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566928" cy="566928"/>
          </a:xfrm>
          <a:prstGeom prst="ellipse">
            <a:avLst/>
          </a:prstGeom>
          <a:solidFill>
            <a:srgbClr val="FF8C47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1700784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25880" y="1517904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Operar quemadores y lanzas</a:t>
            </a:r>
            <a:endParaRPr lang="en-US" sz="1350" dirty="0"/>
          </a:p>
        </p:txBody>
      </p:sp>
      <p:sp>
        <p:nvSpPr>
          <p:cNvPr id="10" name="Text 6"/>
          <p:cNvSpPr txBox="1"/>
          <p:nvPr/>
        </p:nvSpPr>
        <p:spPr>
          <a:xfrm>
            <a:off x="1325880" y="1883664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Modo quemador en la fusión (O₂:gas ≈ 2:1); modo lanza en baño plano; O₂ total 30–40 Nm³/t.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48640" y="2724912"/>
            <a:ext cx="566928" cy="566928"/>
          </a:xfrm>
          <a:prstGeom prst="ellipse">
            <a:avLst/>
          </a:prstGeom>
          <a:solidFill>
            <a:srgbClr val="FA4642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2871216"/>
            <a:ext cx="274320" cy="2743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325880" y="2688336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Formar y mantener la espuma</a:t>
            </a:r>
            <a:endParaRPr lang="en-US" sz="1350" dirty="0"/>
          </a:p>
        </p:txBody>
      </p:sp>
      <p:sp>
        <p:nvSpPr>
          <p:cNvPr id="14" name="Text 9"/>
          <p:cNvSpPr txBox="1"/>
          <p:nvPr/>
        </p:nvSpPr>
        <p:spPr>
          <a:xfrm>
            <a:off x="1325880" y="3054096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Carbono 8–12 kg/t, cal 30–45 kg/t y dolomita 10–15 kg/t para que la espuma cubra el arco.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548640" y="3895344"/>
            <a:ext cx="566928" cy="566928"/>
          </a:xfrm>
          <a:prstGeom prst="ellipse">
            <a:avLst/>
          </a:prstGeom>
          <a:solidFill>
            <a:srgbClr val="DB2259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4041648"/>
            <a:ext cx="274320" cy="2743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325880" y="3858768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Leer y corregir la escoria</a:t>
            </a:r>
            <a:endParaRPr lang="en-US" sz="1350" dirty="0"/>
          </a:p>
        </p:txBody>
      </p:sp>
      <p:sp>
        <p:nvSpPr>
          <p:cNvPr id="18" name="Text 12"/>
          <p:cNvSpPr txBox="1"/>
          <p:nvPr/>
        </p:nvSpPr>
        <p:spPr>
          <a:xfrm>
            <a:off x="1325880" y="4224528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B2 1.8–2.2, FeO 25–35 %, MgO 8–10 %: elegir la corrección con el análisis y con lo que se ve.</a:t>
            </a:r>
            <a:endParaRPr lang="en-US" sz="1100" dirty="0"/>
          </a:p>
        </p:txBody>
      </p:sp>
      <p:sp>
        <p:nvSpPr>
          <p:cNvPr id="19" name="Shape 13"/>
          <p:cNvSpPr/>
          <p:nvPr/>
        </p:nvSpPr>
        <p:spPr>
          <a:xfrm>
            <a:off x="548640" y="5065776"/>
            <a:ext cx="566928" cy="566928"/>
          </a:xfrm>
          <a:prstGeom prst="ellipse">
            <a:avLst/>
          </a:prstGeom>
          <a:solidFill>
            <a:srgbClr val="AA0582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944" y="5212080"/>
            <a:ext cx="274320" cy="27432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325880" y="5029200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Desescoriar sin exponer a nadie</a:t>
            </a:r>
            <a:endParaRPr lang="en-US" sz="1350" dirty="0"/>
          </a:p>
        </p:txBody>
      </p:sp>
      <p:sp>
        <p:nvSpPr>
          <p:cNvPr id="22" name="Text 15"/>
          <p:cNvSpPr txBox="1"/>
          <p:nvPr/>
        </p:nvSpPr>
        <p:spPr>
          <a:xfrm>
            <a:off x="1325880" y="5394960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Olla y fosa secas, zona libre frente a la puerta; ante ebullición, cortar C y reducir O₂.</a:t>
            </a:r>
            <a:endParaRPr lang="en-US" sz="1100" dirty="0"/>
          </a:p>
        </p:txBody>
      </p:sp>
      <p:sp>
        <p:nvSpPr>
          <p:cNvPr id="23" name="Shape 16"/>
          <p:cNvSpPr/>
          <p:nvPr/>
        </p:nvSpPr>
        <p:spPr>
          <a:xfrm>
            <a:off x="6675120" y="1463040"/>
            <a:ext cx="4983480" cy="4754880"/>
          </a:xfrm>
          <a:prstGeom prst="roundRect">
            <a:avLst>
              <a:gd name="adj" fmla="val 1538"/>
            </a:avLst>
          </a:prstGeom>
          <a:solidFill>
            <a:srgbClr val="F4F5F9"/>
          </a:solidFill>
          <a:ln/>
        </p:spPr>
      </p:sp>
      <p:sp>
        <p:nvSpPr>
          <p:cNvPr id="24" name="Text 17"/>
          <p:cNvSpPr txBox="1"/>
          <p:nvPr/>
        </p:nvSpPr>
        <p:spPr>
          <a:xfrm>
            <a:off x="6949440" y="1645920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POR QUÉ IMPORTA</a:t>
            </a:r>
            <a:endParaRPr lang="en-US" sz="1000" dirty="0"/>
          </a:p>
        </p:txBody>
      </p:sp>
      <p:sp>
        <p:nvSpPr>
          <p:cNvPr id="25" name="Text 18"/>
          <p:cNvSpPr txBox="1"/>
          <p:nvPr/>
        </p:nvSpPr>
        <p:spPr>
          <a:xfrm>
            <a:off x="6949440" y="2029968"/>
            <a:ext cx="4434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Sin espuma, el arco radia a paredes y bóveda: más kWh/t, paneles dañados y N alto. Con FeO y B2 fuera de rango se pierde hierro, se ataca el refractario y no sale el P. Y la escoria líquida que cae sobre agua o sale en una ebullición violenta mata.</a:t>
            </a:r>
            <a:endParaRPr lang="en-US" sz="1200" dirty="0"/>
          </a:p>
        </p:txBody>
      </p:sp>
      <p:sp>
        <p:nvSpPr>
          <p:cNvPr id="26" name="Text 19"/>
          <p:cNvSpPr txBox="1"/>
          <p:nvPr/>
        </p:nvSpPr>
        <p:spPr>
          <a:xfrm>
            <a:off x="6949440" y="4681728"/>
            <a:ext cx="4434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Sin olla seca y zona libre, no se desescoria.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02 · ROLES Y RESPONSABILIDADES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S-01 dosifica, S-02 vigila la puerta, S-10 la olla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MO-EAF-05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7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6720840"/>
                <a:gridCol w="100584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Qué hace con la escoria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RACI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C-07 Ingeniero de Proceso EAF / LF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Dueño; define programas de O₂/gas/C y la química objetivo de la escoria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S-01 Primer Hornero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Opera quemadores, lanzas e inyección de C; ajusta con espuma, T y análisis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S-02 Segundo Hornero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Vigila la puerta y el flujo de escoria; toma muestra; limpia la puerta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S-10 Operador de Manejo de Escoria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Coloca la olla de escoria seca, la retira llena y la vacía en el patio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S-11 Muestrero / Analista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Analiza CaO, SiO₂, FeO, MgO y P₂O₅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C-05 Supervisor de Hornos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Autoriza desviaciones; detiene el desescoriado ante riesgo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03 · EL PROCESO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espuma se ajusta con O₂, carbono y cal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MO-EAF-05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691640"/>
            <a:ext cx="1461897" cy="640080"/>
          </a:xfrm>
          <a:prstGeom prst="homePlate">
            <a:avLst/>
          </a:prstGeom>
          <a:solidFill>
            <a:srgbClr val="FF8C47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13232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Quemador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594360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Fusión de canasta: O₂:gas ≈ 2:1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1937385" y="1691640"/>
            <a:ext cx="1461897" cy="640080"/>
          </a:xfrm>
          <a:prstGeom prst="chevron">
            <a:avLst/>
          </a:prstGeom>
          <a:solidFill>
            <a:srgbClr val="FC6A4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2101977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Lanza + C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983105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Baño plano; C 40–60 kg/min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3326130" y="1691640"/>
            <a:ext cx="1461897" cy="640080"/>
          </a:xfrm>
          <a:prstGeom prst="chevron">
            <a:avLst/>
          </a:prstGeom>
          <a:solidFill>
            <a:srgbClr val="FA464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490722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Fundentes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3371850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Cal y dolomita con el DRI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4714875" y="1691640"/>
            <a:ext cx="1461897" cy="640080"/>
          </a:xfrm>
          <a:prstGeom prst="chevron">
            <a:avLst/>
          </a:prstGeom>
          <a:solidFill>
            <a:srgbClr val="EA3450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879467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¿Espuma?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4760595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Cubre el arco; panel ≤ 60 °C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6103620" y="1691640"/>
            <a:ext cx="1461897" cy="640080"/>
          </a:xfrm>
          <a:prstGeom prst="chevron">
            <a:avLst/>
          </a:prstGeom>
          <a:solidFill>
            <a:srgbClr val="DB2259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6268212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Olla seca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6149340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S-10 la coloca; S-02 confirma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7492365" y="1691640"/>
            <a:ext cx="1461897" cy="640080"/>
          </a:xfrm>
          <a:prstGeom prst="chevron">
            <a:avLst/>
          </a:prstGeom>
          <a:solidFill>
            <a:srgbClr val="C8136C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7656957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Zona libre</a:t>
            </a:r>
            <a:endParaRPr lang="en-US" sz="900" dirty="0"/>
          </a:p>
        </p:txBody>
      </p:sp>
      <p:sp>
        <p:nvSpPr>
          <p:cNvPr id="24" name="Text 21"/>
          <p:cNvSpPr txBox="1"/>
          <p:nvPr/>
        </p:nvSpPr>
        <p:spPr>
          <a:xfrm>
            <a:off x="7538085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Nadie frente a la puerta; bocina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8881110" y="1691640"/>
            <a:ext cx="1461897" cy="640080"/>
          </a:xfrm>
          <a:prstGeom prst="chevron">
            <a:avLst/>
          </a:prstGeom>
          <a:solidFill>
            <a:srgbClr val="AA0582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9045702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Desescoriar</a:t>
            </a:r>
            <a:endParaRPr lang="en-US" sz="900" dirty="0"/>
          </a:p>
        </p:txBody>
      </p:sp>
      <p:sp>
        <p:nvSpPr>
          <p:cNvPr id="27" name="Text 24"/>
          <p:cNvSpPr txBox="1"/>
          <p:nvPr/>
        </p:nvSpPr>
        <p:spPr>
          <a:xfrm>
            <a:off x="8926830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Flujo continuo, sin arrastrar metal</a:t>
            </a:r>
            <a:endParaRPr lang="en-US" sz="850" dirty="0"/>
          </a:p>
        </p:txBody>
      </p:sp>
      <p:sp>
        <p:nvSpPr>
          <p:cNvPr id="28" name="Shape 25"/>
          <p:cNvSpPr/>
          <p:nvPr/>
        </p:nvSpPr>
        <p:spPr>
          <a:xfrm>
            <a:off x="10269855" y="1691640"/>
            <a:ext cx="1461897" cy="640080"/>
          </a:xfrm>
          <a:prstGeom prst="chevron">
            <a:avLst/>
          </a:prstGeom>
          <a:solidFill>
            <a:srgbClr val="5B2A86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10434447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Muestra</a:t>
            </a:r>
            <a:endParaRPr lang="en-US" sz="900" dirty="0"/>
          </a:p>
        </p:txBody>
      </p:sp>
      <p:sp>
        <p:nvSpPr>
          <p:cNvPr id="30" name="Text 27"/>
          <p:cNvSpPr txBox="1"/>
          <p:nvPr/>
        </p:nvSpPr>
        <p:spPr>
          <a:xfrm>
            <a:off x="10315575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B2, FeO, MgO → corregir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548640" y="3703320"/>
            <a:ext cx="11109960" cy="2514600"/>
          </a:xfrm>
          <a:prstGeom prst="roundRect">
            <a:avLst>
              <a:gd name="adj" fmla="val 2909"/>
            </a:avLst>
          </a:prstGeom>
          <a:solidFill>
            <a:srgbClr val="F4F5F9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822960" y="3886200"/>
            <a:ext cx="10561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PRINCIPIO DEL PROCESO</a:t>
            </a:r>
            <a:endParaRPr lang="en-US" sz="1000" dirty="0"/>
          </a:p>
        </p:txBody>
      </p:sp>
      <p:sp>
        <p:nvSpPr>
          <p:cNvPr id="33" name="Text 30"/>
          <p:cNvSpPr txBox="1"/>
          <p:nvPr/>
        </p:nvSpPr>
        <p:spPr>
          <a:xfrm>
            <a:off x="822960" y="431596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Seca o plana, la escoria se corrige con O₂, C y cal; nunca con carbono en masa sobre escoria oxidada.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822960" y="5138928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Sin olla seca y zona libre, no se desescoria.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03 · EL PROCESO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Lanzas, inyector y puerta trabajan juntos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MO-EAF-05 v0.1 (Borrador para validación) y FT-ACE-001 v0.3. Material de capacitación; no sustituye al manual. Figura: eaf-corte-horno.svg.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750" dirty="0"/>
          </a:p>
        </p:txBody>
      </p:sp>
      <p:pic>
        <p:nvPicPr>
          <p:cNvPr id="7" name="Image 1" descr="/home/user/HR/10-plantas/01-steelmaking/img/png/eaf-corte-horn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420" y="1417320"/>
            <a:ext cx="6731000" cy="484632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7543800" y="1463040"/>
            <a:ext cx="4114800" cy="4754880"/>
          </a:xfrm>
          <a:prstGeom prst="roundRect">
            <a:avLst>
              <a:gd name="adj" fmla="val 1778"/>
            </a:avLst>
          </a:prstGeom>
          <a:solidFill>
            <a:srgbClr val="F4F5F9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7818120" y="16459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LECTURA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7772400" y="2029968"/>
            <a:ext cx="36576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Las lanzas (14) meten O₂ y el inyector (15) mete C: el CO hace crecer la espuma.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escoria espumosa (4) debe cubrir el arco de los electrodos.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escoria sale por la puerta (13) a la olla de escoria (17), que debe estar seca.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03 · EL PROCESO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O₂ se reparte por etapas: 35 Nm³/t en total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MO-EAF-05 v0.1 (Borrador para validación) y FT-ACE-001 v0.3. Material de capacitación; no sustituye al manual. Figura: eaf-ciclo-colada.svg.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750" dirty="0"/>
          </a:p>
        </p:txBody>
      </p:sp>
      <p:pic>
        <p:nvPicPr>
          <p:cNvPr id="7" name="Image 1" descr="/home/user/HR/10-plantas/01-steelmaking/img/png/eaf-ciclo-colad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75181"/>
            <a:ext cx="6766560" cy="4330598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7543800" y="1463040"/>
            <a:ext cx="4114800" cy="4754880"/>
          </a:xfrm>
          <a:prstGeom prst="roundRect">
            <a:avLst>
              <a:gd name="adj" fmla="val 1778"/>
            </a:avLst>
          </a:prstGeom>
          <a:solidFill>
            <a:srgbClr val="F4F5F9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7818120" y="16459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LECTURA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7772400" y="2029968"/>
            <a:ext cx="36576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Fusión de canasta: ≈ 8 Nm³/t en modo quemador.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Baño plano con DRI: la mayor parte del O₂, en modo lanza y con carbono.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Afino: flujo reducido, según el O activo.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04 · EQUIPOS Y MAQUINARIA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Siete equipos; olla y fosa secas son críticas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MO-EAF-05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7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743200"/>
                <a:gridCol w="3291840"/>
                <a:gridCol w="269748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Equipo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Función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Especificación clave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Verificar antes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Quemadores/lanzas (4)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Fundir y espumar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Hasta 2,500 Nm³/h de O₂ cada uno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Agua del bloque normal; boquilla libre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Válvulas de O₂ y gas natural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Regulan los flujos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Presiones [Validar con OEM]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Sin fugas; corte rápido probado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Inyectores de carbono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Inyectan finos de coque/antracita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8–12 kg/t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Silo con nivel; sin tapones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Tolvas de cal y dolomita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Fundentes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Cal 30–45 kg/t; dolomita 10–15 kg/t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Material seco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Puerta de escoria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Salida de escoria y medición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—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Umbral libre de costras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Olla de escoria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Recibe la escoria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≈ 20 m³ [Supuesto]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Seca, sin agua ni hielo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Fosa bajo la puerta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Aloja la olla de escoria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—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Seca, sin charcos ni fugas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05 · PARÁMETROS DE OPERACIÓN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B2, FeO y MgO definen si la espuma aguanta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MO-EAF-05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7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331720"/>
                <a:gridCol w="1737360"/>
                <a:gridCol w="2057400"/>
                <a:gridCol w="2103120"/>
                <a:gridCol w="288036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Parámetro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Objetivo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Rango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Alarma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Acción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Consumo de O₂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35 Nm³/t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30–40 Nm³/t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&gt; 42 Nm³/t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Revisar O activo y FeO; reducir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Carbono inyectado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10 kg/t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8–12 kg/t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&lt; 7 o &gt; 14 kg/t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Ajustar con espuma y FeO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38 kg/t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30–45 kg/t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&lt; 28 o &gt; 50 kg/t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Ajustar relación con el DRI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Dolomita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12 kg/t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10–15 kg/t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&lt; 8 kg/t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MgO bajo: agregar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Basicidad B2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2.0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1.8–2.2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&lt; 1.6 o &gt; 2.5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&lt; 1.6: más cal; &gt; 2.5: menos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FeO en escoria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30 %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25–35 %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&gt; 38 % o &lt; 20 %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&gt; 38: más C; &lt; 20: más O₂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MgO en escoria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9 %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8–10 %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&lt; 7 %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Más dolomita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Cantidad de escoria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110 kg/t [Supuesto]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100–130 kg/t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&gt; 150 kg/t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Revisar ganga del DRI y cal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48640" y="5897880"/>
            <a:ext cx="11109960" cy="365760"/>
          </a:xfrm>
          <a:prstGeom prst="rect">
            <a:avLst/>
          </a:prstGeom>
          <a:solidFill>
            <a:srgbClr val="FFF4D6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640080" y="5897880"/>
            <a:ext cx="10927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8A5A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POR CONFIRMAR  </a:t>
            </a:r>
            <a:pPr indent="0" marL="0">
              <a:buNone/>
            </a:pPr>
            <a:r>
              <a:rPr lang="en-US" sz="950" dirty="0">
                <a:solidFill>
                  <a:srgbClr val="8A5A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Lanza ≤ 2,500 Nm³/h. Espuma ≥ longitud de arco [Validar con OEM / Ingeniería de Proceso]; P₂O₅ según balance [Validar con Ingeniería de Proceso].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06 · SEGURIDAD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Escoria sobre agua y ebullición: riesgos de la puerta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MO-EAF-05 v0.1 (Borrador para validación) y FT-ACE-001 v0.3. Material de capacitación; no sustituye al manual. Serie MS-ACE.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566928" cy="566928"/>
          </a:xfrm>
          <a:prstGeom prst="ellipse">
            <a:avLst/>
          </a:prstGeom>
          <a:solidFill>
            <a:srgbClr val="FA4642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1700784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25880" y="1517904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Olla de escoria y fosa secas</a:t>
            </a:r>
            <a:endParaRPr lang="en-US" sz="1350" dirty="0"/>
          </a:p>
        </p:txBody>
      </p:sp>
      <p:sp>
        <p:nvSpPr>
          <p:cNvPr id="10" name="Text 6"/>
          <p:cNvSpPr txBox="1"/>
          <p:nvPr/>
        </p:nvSpPr>
        <p:spPr>
          <a:xfrm>
            <a:off x="1325880" y="1883664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S-10 y S-02 confirman olla seca y fosa sin agua antes de cada desescoriado. Si hay agua, no se desescoria (MS-ACE-03).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48640" y="2724912"/>
            <a:ext cx="566928" cy="566928"/>
          </a:xfrm>
          <a:prstGeom prst="ellipse">
            <a:avLst/>
          </a:prstGeom>
          <a:solidFill>
            <a:srgbClr val="DB2259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2871216"/>
            <a:ext cx="274320" cy="2743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325880" y="2688336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Ebullición violenta</a:t>
            </a:r>
            <a:endParaRPr lang="en-US" sz="1350" dirty="0"/>
          </a:p>
        </p:txBody>
      </p:sp>
      <p:sp>
        <p:nvSpPr>
          <p:cNvPr id="14" name="Text 9"/>
          <p:cNvSpPr txBox="1"/>
          <p:nvPr/>
        </p:nvSpPr>
        <p:spPr>
          <a:xfrm>
            <a:off x="1325880" y="3054096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Nunca C en masa sobre escoria oxidada. Ante subida súbita: cortar C, reducir O₂, detener DRI y despejar la puerta.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548640" y="3895344"/>
            <a:ext cx="566928" cy="566928"/>
          </a:xfrm>
          <a:prstGeom prst="ellipse">
            <a:avLst/>
          </a:prstGeom>
          <a:solidFill>
            <a:srgbClr val="AA0582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4041648"/>
            <a:ext cx="274320" cy="2743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325880" y="3858768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Zona de exclusión de la puerta</a:t>
            </a:r>
            <a:endParaRPr lang="en-US" sz="1350" dirty="0"/>
          </a:p>
        </p:txBody>
      </p:sp>
      <p:sp>
        <p:nvSpPr>
          <p:cNvPr id="18" name="Text 12"/>
          <p:cNvSpPr txBox="1"/>
          <p:nvPr/>
        </p:nvSpPr>
        <p:spPr>
          <a:xfrm>
            <a:off x="1325880" y="4224528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Roja ≤ 5 m de la puerta, amarilla 5–15 m; ≤ 15 m del volteo de la olla. Solo el portaollas en posición.</a:t>
            </a:r>
            <a:endParaRPr lang="en-US" sz="1100" dirty="0"/>
          </a:p>
        </p:txBody>
      </p:sp>
      <p:sp>
        <p:nvSpPr>
          <p:cNvPr id="19" name="Shape 13"/>
          <p:cNvSpPr/>
          <p:nvPr/>
        </p:nvSpPr>
        <p:spPr>
          <a:xfrm>
            <a:off x="548640" y="5065776"/>
            <a:ext cx="566928" cy="566928"/>
          </a:xfrm>
          <a:prstGeom prst="ellipse">
            <a:avLst/>
          </a:prstGeom>
          <a:solidFill>
            <a:srgbClr val="3F6FD1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944" y="5212080"/>
            <a:ext cx="274320" cy="27432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325880" y="5029200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O₂ y CO en la puerta</a:t>
            </a:r>
            <a:endParaRPr lang="en-US" sz="1350" dirty="0"/>
          </a:p>
        </p:txBody>
      </p:sp>
      <p:sp>
        <p:nvSpPr>
          <p:cNvPr id="22" name="Text 15"/>
          <p:cNvSpPr txBox="1"/>
          <p:nvPr/>
        </p:nvSpPr>
        <p:spPr>
          <a:xfrm>
            <a:off x="1325880" y="5394960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Ropa sin grasa y corte rápido de O₂. Detector multigás: CO 25 ppm salir, 200 ppm evacuar el sector (MS-ACE-06).</a:t>
            </a:r>
            <a:endParaRPr lang="en-US" sz="1100" dirty="0"/>
          </a:p>
        </p:txBody>
      </p:sp>
      <p:sp>
        <p:nvSpPr>
          <p:cNvPr id="23" name="Shape 16"/>
          <p:cNvSpPr/>
          <p:nvPr/>
        </p:nvSpPr>
        <p:spPr>
          <a:xfrm>
            <a:off x="6949440" y="1463040"/>
            <a:ext cx="4709160" cy="4754880"/>
          </a:xfrm>
          <a:prstGeom prst="roundRect">
            <a:avLst>
              <a:gd name="adj" fmla="val 1553"/>
            </a:avLst>
          </a:prstGeom>
          <a:solidFill>
            <a:srgbClr val="F4F5F9"/>
          </a:solidFill>
          <a:ln/>
        </p:spPr>
      </p:sp>
      <p:sp>
        <p:nvSpPr>
          <p:cNvPr id="24" name="Text 17"/>
          <p:cNvSpPr txBox="1"/>
          <p:nvPr/>
        </p:nvSpPr>
        <p:spPr>
          <a:xfrm>
            <a:off x="7223760" y="1645920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EPP OBLIGATORIO</a:t>
            </a:r>
            <a:endParaRPr lang="en-US" sz="1000" dirty="0"/>
          </a:p>
        </p:txBody>
      </p:sp>
      <p:sp>
        <p:nvSpPr>
          <p:cNvPr id="25" name="Text 18"/>
          <p:cNvSpPr txBox="1"/>
          <p:nvPr/>
        </p:nvSpPr>
        <p:spPr>
          <a:xfrm>
            <a:off x="7223760" y="2029968"/>
            <a:ext cx="420624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Careta con visor dorado y capucha aluminizada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Chaqueta, polainas y guantes aluminizados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Ropa ignífuga y botas metatarsales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Protección auditiva y detector multigás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S-10: cabina cerrada; fuera de ella, EPP como S-02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06 · SEGURIDAD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EPP completo para trabajar en la puerta de escoria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MO-EAF-05 v0.1 (Borrador para validación) y FT-ACE-001 v0.3. Material de capacitación; no sustituye al manual. Figura: ms-epp-acería.svg.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750" dirty="0"/>
          </a:p>
        </p:txBody>
      </p:sp>
      <p:pic>
        <p:nvPicPr>
          <p:cNvPr id="7" name="Image 1" descr="/home/user/HR/10-plantas/01-steelmaking/img/png/ms-epp-acerí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2970" y="1417320"/>
            <a:ext cx="6057900" cy="484632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7543800" y="1463040"/>
            <a:ext cx="4114800" cy="4754880"/>
          </a:xfrm>
          <a:prstGeom prst="roundRect">
            <a:avLst>
              <a:gd name="adj" fmla="val 1778"/>
            </a:avLst>
          </a:prstGeom>
          <a:solidFill>
            <a:srgbClr val="F4F5F9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7818120" y="16459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LECTURA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7772400" y="2029968"/>
            <a:ext cx="36576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Careta con visor dorado y capucha aluminizada frente a la puerta.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Chaquetón, polainas y guantes aluminizados sobre ropa FR; nada sintético.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Detector personal CO/O₂ cerca de nariz y boca.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07 · CALIDAD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escoria bien hecha se lleva el fósforo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MO-EAF-05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7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2834640"/>
                <a:gridCol w="3017520"/>
                <a:gridCol w="26974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Variable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Especificación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Cómo y cuándo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 falla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 al vaciado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≤ 0.015 %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Muestra (MO-EAF-06)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 fuera de especificación; fragilidad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Química de escoria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B2 1.8–2.2 · FeO 25–35 % · MgO 8–10 %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Muestra en el afino [Supuesto]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Refractario atacado; pérdida de Fe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 activo al vaciado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500–900 ppm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Sonda (MO-EAF-06)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Más Al en olla e inclusiones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Nitrógeno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Bajo con espuma estable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Muestra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 alto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548640" y="5623560"/>
            <a:ext cx="11109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Desescoriar con FeO y B2 en rango y sin T excesiva es lo que baja el P.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08 · PASO A PASO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Trece pasos; tres no admiten error (1/2)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MO-EAF-05 v0.1 (Borrador para validación) y FT-ACE-001 v0.3. Material de capacitación; no sustituye al manual. ★ = paso crítico, se evalúa en la certificación.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7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594360"/>
                <a:gridCol w="2148840"/>
                <a:gridCol w="5074920"/>
                <a:gridCol w="2057400"/>
                <a:gridCol w="12344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#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Paso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Cómo hacerlo y qué medir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Criterio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Verifica equipos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Agua de bloques normal; presiones de O₂, gas y aire de transporte de C; silos con nivel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Sin alarmas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Opera en modo quemador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Fusión de canasta: O₂:gas ≈ 2:1, 1,500–2,500 Nm³/h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Chatarra frente al quemador fundida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3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Cambia a modo lanza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 baño plano; lanzas al programa de la etapa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Sin retroceso de llama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4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Inicia carbono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Inyección de 40–60 kg/min total; ajusta según la espuma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Espuma visible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Agrega fundentes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Cal y dolomita junto con el DRI (MO-EAF-03)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B2 y MgO en rango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Verifica la olla de escoria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S-10 coloca la olla; S-02 confirma olla seca y fosa sin agua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“Olla seca” confirmada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S-10 / S-02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7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Despeja la zona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Frente y bajo la puerta sin personas; bocina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Zona libre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08 · PASO A PASO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Trece pasos; tres no admiten error (2/2)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MO-EAF-05 v0.1 (Borrador para validación) y FT-ACE-001 v0.3. Material de capacitación; no sustituye al manual. ★ = paso crítico, se evalúa en la certificación.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7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594360"/>
                <a:gridCol w="2148840"/>
                <a:gridCol w="5074920"/>
                <a:gridCol w="2057400"/>
                <a:gridCol w="12344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#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Paso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Cómo hacerlo y qué medir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Criterio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8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Desescoria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Inclina hacia la puerta (−3 a −8° [Validar con OEM]); flujo continuo sin arrastrar metal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Flujo controlado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9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Toma muestra de escoria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 cuchara o probador desde posición protegida, en el afino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Muestra enviada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S-02 / S-11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10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Corrige la química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FeO &gt; 38 %: más C y menos O₂; B2 &lt; 1.8: más cal; MgO &lt; 8 %: dolomita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En rango en la siguiente muestra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11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Vigila ebullición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Subida súbita de espuma, llama larga en la puerta, CO alto: aplica condiciones anormales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Sin ebullición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S-01 / S-02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Retira la olla de escoria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Llena ≤ 80 % [Supuesto]; S-10 la retira por la ruta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Sin derrame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S-10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13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Registra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O₂, C, cal, dolomita, análisis de escoria y eventos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Registro completo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09 · CONDICIONES ANORMALES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Ante ebullición: cortar carbono y alejarse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MO-EAF-05 v0.1 (Borrador para validación) y FT-ACE-001 v0.3. Material de capacitación; no sustituye al manual. Serie MS-ACE-09 para emergencias.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7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6400800"/>
                <a:gridCol w="196596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Síntoma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Acción inmediata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Avisar 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Ebullición violenta (boiling)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Cortar C, reducir O₂, detener DRI; todos fuera del frente; no inclinar más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C-05, C-04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Escoria plana, arco ruidoso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Más C, más cal; bajar tap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C-07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Escoria seca o espesa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Más O₂, menos cal; revisar la T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C-07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Olla húmeda o fosa con agua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No desescoriar; controlar el nivel con O₂/C; cambiar la olla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Escoria con metal (arrastre)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Reducir la inclinación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Retroceso de llama en quemador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Cortar ese quemador; purgar; mantenimiento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Fuga de agua de bloque de quemador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Cortar O₂ y agua del bloque; aplicar MO-EAF-01 §9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C-05, Mtto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 &gt; 0.015 % antes de vaciar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Más desescoriado, cal y O₂; C-05 decide si se vacía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C-05, C-09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 · COMPETENCIA Y CERTIFICACIÓN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Certificación nivel U: demostrar, no asistir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MO-EAF-05 v0.1 (Borrador para validación) y FT-ACE-001 v0.3. Material de capacitación; no sustituye al manual. TD-P07. ILUO: I Introducción · L Práctica supervisada · U Ejecución autónoma · O Dominio e instrucción.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502920" cy="502920"/>
          </a:xfrm>
          <a:prstGeom prst="ellipse">
            <a:avLst/>
          </a:prstGeom>
          <a:solidFill>
            <a:srgbClr val="D6D8E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4864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1097280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Introducción y Conocimiento</a:t>
            </a:r>
            <a:endParaRPr lang="en-US" sz="750" dirty="0"/>
          </a:p>
        </p:txBody>
      </p:sp>
      <p:sp>
        <p:nvSpPr>
          <p:cNvPr id="10" name="Shape 7"/>
          <p:cNvSpPr/>
          <p:nvPr/>
        </p:nvSpPr>
        <p:spPr>
          <a:xfrm>
            <a:off x="2121408" y="1554480"/>
            <a:ext cx="502920" cy="502920"/>
          </a:xfrm>
          <a:prstGeom prst="ellipse">
            <a:avLst/>
          </a:prstGeom>
          <a:solidFill>
            <a:srgbClr val="D6D8EA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2121408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2670048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Aprendizaje y Práctica Supervisada</a:t>
            </a:r>
            <a:endParaRPr lang="en-US" sz="750" dirty="0"/>
          </a:p>
        </p:txBody>
      </p:sp>
      <p:sp>
        <p:nvSpPr>
          <p:cNvPr id="13" name="Shape 10"/>
          <p:cNvSpPr/>
          <p:nvPr/>
        </p:nvSpPr>
        <p:spPr>
          <a:xfrm>
            <a:off x="3694176" y="1554480"/>
            <a:ext cx="502920" cy="502920"/>
          </a:xfrm>
          <a:prstGeom prst="ellipse">
            <a:avLst/>
          </a:prstGeom>
          <a:solidFill>
            <a:srgbClr val="E8551B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694176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4242816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Ejecución Autónoma y Habilitada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5266944" y="1554480"/>
            <a:ext cx="502920" cy="502920"/>
          </a:xfrm>
          <a:prstGeom prst="ellipse">
            <a:avLst/>
          </a:prstGeom>
          <a:solidFill>
            <a:srgbClr val="D6D8E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266944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5815584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Dominio, Optimización e Instrucción</a:t>
            </a:r>
            <a:endParaRPr lang="en-US" sz="7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377440"/>
          <a:ext cx="65836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594360"/>
                <a:gridCol w="1097280"/>
                <a:gridCol w="1737360"/>
                <a:gridCol w="10515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ILUO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Teoría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OJT supervisado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Vigencia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S-01 Primer Hornero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24 h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120 h / 50 coladas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24 meses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S-02 Segundo Hornero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12 h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60 h / 30 desescoriados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24 meses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S-10 Operador de Escoria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16 h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60 h / 40 ollas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24 meses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Shape 16"/>
          <p:cNvSpPr/>
          <p:nvPr/>
        </p:nvSpPr>
        <p:spPr>
          <a:xfrm>
            <a:off x="7406640" y="1463040"/>
            <a:ext cx="4251960" cy="4754880"/>
          </a:xfrm>
          <a:prstGeom prst="roundRect">
            <a:avLst>
              <a:gd name="adj" fmla="val 1720"/>
            </a:avLst>
          </a:prstGeom>
          <a:solidFill>
            <a:srgbClr val="F4F5F9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7680960" y="16459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PASOS ★ QUE SE EVALÚAN</a:t>
            </a:r>
            <a:endParaRPr lang="en-US" sz="1000" dirty="0"/>
          </a:p>
        </p:txBody>
      </p:sp>
      <p:sp>
        <p:nvSpPr>
          <p:cNvPr id="22" name="Text 18"/>
          <p:cNvSpPr txBox="1"/>
          <p:nvPr/>
        </p:nvSpPr>
        <p:spPr>
          <a:xfrm>
            <a:off x="7680960" y="2029968"/>
            <a:ext cx="374904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Confirma olla de escoria y fosa secas antes de desescoriar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Despeja la zona frente a la puerta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Reconoce una ebullición violenta y responde: cortar C, reducir O₂, retirar personas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Interpreta B2, FeO y MgO y elige la corrección correcta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 · COMPETENCIA Y CERTIFICACIÓN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 la teoría a la certificación en seis pasos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MO-EAF-05 v0.1 (Borrador para validación) y FT-ACE-001 v0.3. Material de capacitación; no sustituye al manual. Registro de competencia en IMaS; constancia DC-3/SIRCE (obligación STPS).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1474470" y="1920240"/>
            <a:ext cx="9258300" cy="0"/>
          </a:xfrm>
          <a:prstGeom prst="line">
            <a:avLst/>
          </a:prstGeom>
          <a:noFill/>
          <a:ln w="12700">
            <a:solidFill>
              <a:srgbClr val="D6D8E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291590" y="1737360"/>
            <a:ext cx="365760" cy="365760"/>
          </a:xfrm>
          <a:prstGeom prst="ellipse">
            <a:avLst/>
          </a:prstGeom>
          <a:solidFill>
            <a:srgbClr val="FF8C47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29159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Teoría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59436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24 h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143250" y="1737360"/>
            <a:ext cx="365760" cy="365760"/>
          </a:xfrm>
          <a:prstGeom prst="ellipse">
            <a:avLst/>
          </a:prstGeom>
          <a:solidFill>
            <a:srgbClr val="FC6A4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14325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244602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Autoevaluación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244602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≥ 80 %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4994910" y="1737360"/>
            <a:ext cx="365760" cy="365760"/>
          </a:xfrm>
          <a:prstGeom prst="ellipse">
            <a:avLst/>
          </a:prstGeom>
          <a:solidFill>
            <a:srgbClr val="EA3450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99491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429768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OJT supervisado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429768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120 h / 50 coladas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6846570" y="1737360"/>
            <a:ext cx="365760" cy="365760"/>
          </a:xfrm>
          <a:prstGeom prst="ellipse">
            <a:avLst/>
          </a:prstGeom>
          <a:solidFill>
            <a:srgbClr val="DB225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684657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614934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Evaluación práctica ★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614934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100 % pasos ★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8698230" y="1737360"/>
            <a:ext cx="365760" cy="365760"/>
          </a:xfrm>
          <a:prstGeom prst="ellipse">
            <a:avLst/>
          </a:prstGeom>
          <a:solidFill>
            <a:srgbClr val="AA0582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869823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800100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Registro IMaS y DC-3/SIRCE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800100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≤ 10 días hábiles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10549890" y="1737360"/>
            <a:ext cx="365760" cy="365760"/>
          </a:xfrm>
          <a:prstGeom prst="ellipse">
            <a:avLst/>
          </a:prstGeom>
          <a:solidFill>
            <a:srgbClr val="5B2A86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1054989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985266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Recertificación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985266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24 meses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548640" y="3429000"/>
            <a:ext cx="11109960" cy="2788920"/>
          </a:xfrm>
          <a:prstGeom prst="roundRect">
            <a:avLst>
              <a:gd name="adj" fmla="val 2623"/>
            </a:avLst>
          </a:prstGeom>
          <a:solidFill>
            <a:srgbClr val="F4F5F9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822960" y="3611880"/>
            <a:ext cx="10561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REGLAS DE LA CERTIFICACIÓN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822960" y="3995928"/>
            <a:ext cx="105156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certificación vale solo para el proceso y el rol evaluados; se suspende tras un incidente grave hasta reevaluar.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trabajador con experiencia puede solicitar la evaluación directa como examen de suficiencia (LFT art. 153-U).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Sin certificación vigente no se ejecuta la tarea crítica: el permiso de trabajo lo bloquea.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 · AUTOEVALUACIÓN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Autoevaluación: cinco preguntas antes del OJT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MO-EAF-05 v0.1 (Borrador para validación) y FT-ACE-001 v0.3. Material de capacitación; no sustituye al manual. Respuestas en las notas del orador.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46304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8" name="Shape 5"/>
          <p:cNvSpPr/>
          <p:nvPr/>
        </p:nvSpPr>
        <p:spPr>
          <a:xfrm>
            <a:off x="731520" y="1645920"/>
            <a:ext cx="457200" cy="457200"/>
          </a:xfrm>
          <a:prstGeom prst="ellipse">
            <a:avLst/>
          </a:prstGeom>
          <a:solidFill>
            <a:srgbClr val="FC6A4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298448" y="17373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1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22402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¿Qué forma las burbujas que hacen espumar la escoria?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271576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Vapor de agua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CO del C que reduce el FeO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Argón del tapón poroso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297680" y="146304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13" name="Shape 10"/>
          <p:cNvSpPr/>
          <p:nvPr/>
        </p:nvSpPr>
        <p:spPr>
          <a:xfrm>
            <a:off x="4480560" y="1645920"/>
            <a:ext cx="457200" cy="457200"/>
          </a:xfrm>
          <a:prstGeom prst="ellipse">
            <a:avLst/>
          </a:prstGeom>
          <a:solidFill>
            <a:srgbClr val="FA464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47488" y="17373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2</a:t>
            </a:r>
            <a:endParaRPr lang="en-US" sz="800" dirty="0"/>
          </a:p>
        </p:txBody>
      </p:sp>
      <p:sp>
        <p:nvSpPr>
          <p:cNvPr id="15" name="Text 12"/>
          <p:cNvSpPr txBox="1"/>
          <p:nvPr/>
        </p:nvSpPr>
        <p:spPr>
          <a:xfrm>
            <a:off x="4480560" y="22402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escoria corre como agua y el arco suena fuerte. ¿Qué corriges?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4480560" y="271576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Más O₂ y menos cal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Más C y más cal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Nada; es espuma correcta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8046720" y="146304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18" name="Shape 15"/>
          <p:cNvSpPr/>
          <p:nvPr/>
        </p:nvSpPr>
        <p:spPr>
          <a:xfrm>
            <a:off x="8229600" y="1645920"/>
            <a:ext cx="457200" cy="457200"/>
          </a:xfrm>
          <a:prstGeom prst="ellipse">
            <a:avLst/>
          </a:prstGeom>
          <a:solidFill>
            <a:srgbClr val="EA3450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796528" y="17373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3</a:t>
            </a:r>
            <a:endParaRPr lang="en-US" sz="800" dirty="0"/>
          </a:p>
        </p:txBody>
      </p:sp>
      <p:sp>
        <p:nvSpPr>
          <p:cNvPr id="20" name="Text 17"/>
          <p:cNvSpPr txBox="1"/>
          <p:nvPr/>
        </p:nvSpPr>
        <p:spPr>
          <a:xfrm>
            <a:off x="8229600" y="22402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¿Cuál es el rango de basicidad B2 (CaO/SiO₂)?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8229600" y="271576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1.0–1.4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1.8–2.2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2.8–3.2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548640" y="388620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23" name="Shape 20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DB2259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1298448" y="41605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4</a:t>
            </a:r>
            <a:endParaRPr lang="en-US" sz="800" dirty="0"/>
          </a:p>
        </p:txBody>
      </p:sp>
      <p:sp>
        <p:nvSpPr>
          <p:cNvPr id="25" name="Text 22"/>
          <p:cNvSpPr txBox="1"/>
          <p:nvPr/>
        </p:nvSpPr>
        <p:spPr>
          <a:xfrm>
            <a:off x="731520" y="46634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fosa bajo la puerta tiene un charco. ¿Qué haces?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731520" y="513892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Desescoriar rápido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No desescoriar; nivel con O₂/C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Cubrir el charco con cal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4297680" y="388620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28" name="Shape 25"/>
          <p:cNvSpPr/>
          <p:nvPr/>
        </p:nvSpPr>
        <p:spPr>
          <a:xfrm>
            <a:off x="4480560" y="4069080"/>
            <a:ext cx="457200" cy="457200"/>
          </a:xfrm>
          <a:prstGeom prst="ellipse">
            <a:avLst/>
          </a:prstGeom>
          <a:solidFill>
            <a:srgbClr val="C8136C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5047488" y="41605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5</a:t>
            </a:r>
            <a:endParaRPr lang="en-US" sz="800" dirty="0"/>
          </a:p>
        </p:txBody>
      </p:sp>
      <p:sp>
        <p:nvSpPr>
          <p:cNvPr id="30" name="Text 27"/>
          <p:cNvSpPr txBox="1"/>
          <p:nvPr/>
        </p:nvSpPr>
        <p:spPr>
          <a:xfrm>
            <a:off x="4480560" y="46634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espuma sube de golpe con llama larga. ¿Qué haces?</a:t>
            </a:r>
            <a:endParaRPr lang="en-US" sz="1250" dirty="0"/>
          </a:p>
        </p:txBody>
      </p:sp>
      <p:sp>
        <p:nvSpPr>
          <p:cNvPr id="31" name="Text 28"/>
          <p:cNvSpPr txBox="1"/>
          <p:nvPr/>
        </p:nvSpPr>
        <p:spPr>
          <a:xfrm>
            <a:off x="4480560" y="513892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Agregar carbono para bajarla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Cortar C, reducir O₂ y despejar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Inclinar más hacia la puerta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8046720" y="388620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33" name="Shape 30"/>
          <p:cNvSpPr/>
          <p:nvPr/>
        </p:nvSpPr>
        <p:spPr>
          <a:xfrm>
            <a:off x="8229600" y="4069080"/>
            <a:ext cx="457200" cy="457200"/>
          </a:xfrm>
          <a:prstGeom prst="ellipse">
            <a:avLst/>
          </a:prstGeom>
          <a:solidFill>
            <a:srgbClr val="3F6FD1"/>
          </a:solidFill>
          <a:ln/>
        </p:spPr>
      </p:sp>
      <p:pic>
        <p:nvPicPr>
          <p:cNvPr id="3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8472" y="4187952"/>
            <a:ext cx="219456" cy="219456"/>
          </a:xfrm>
          <a:prstGeom prst="rect">
            <a:avLst/>
          </a:prstGeom>
        </p:spPr>
      </p:pic>
      <p:sp>
        <p:nvSpPr>
          <p:cNvPr id="35" name="Text 31"/>
          <p:cNvSpPr txBox="1"/>
          <p:nvPr/>
        </p:nvSpPr>
        <p:spPr>
          <a:xfrm>
            <a:off x="8796528" y="41605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3F6FD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CRITERIO</a:t>
            </a:r>
            <a:endParaRPr lang="en-US" sz="800" dirty="0"/>
          </a:p>
        </p:txBody>
      </p:sp>
      <p:sp>
        <p:nvSpPr>
          <p:cNvPr id="36" name="Text 32"/>
          <p:cNvSpPr txBox="1"/>
          <p:nvPr/>
        </p:nvSpPr>
        <p:spPr>
          <a:xfrm>
            <a:off x="8229600" y="46634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Mínimo 4 de 5 correctas</a:t>
            </a:r>
            <a:endParaRPr lang="en-US" sz="1250" dirty="0"/>
          </a:p>
        </p:txBody>
      </p:sp>
      <p:sp>
        <p:nvSpPr>
          <p:cNvPr id="37" name="Text 33"/>
          <p:cNvSpPr txBox="1"/>
          <p:nvPr/>
        </p:nvSpPr>
        <p:spPr>
          <a:xfrm>
            <a:off x="8229600" y="513892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 4 o más pasas al OJT supervisado. Con menos, repasa el manual con tu instructor y repite la autoevaluación.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11 · CIERRE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Reglas de la escoria que no se negocian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Siguiente paso: OJT supervisado y evaluación práctica (TD-P07); registro en IMaS y DC-3/SIRCE. Validación: visto bueno técnica (pendientes: seguridad, laboral, diseño instruccional).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8288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31520" y="2029968"/>
            <a:ext cx="365760" cy="365760"/>
          </a:xfrm>
          <a:prstGeom prst="ellipse">
            <a:avLst/>
          </a:prstGeom>
          <a:solidFill>
            <a:srgbClr val="FF8C47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31520" y="2029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1280160" y="19933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Sin olla y fosa secas no se desescoria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1280160" y="23957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 hay agua, se controla el nivel con O₂/C y se cambia la olla.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6126480" y="18288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309360" y="2029968"/>
            <a:ext cx="365760" cy="365760"/>
          </a:xfrm>
          <a:prstGeom prst="ellipse">
            <a:avLst/>
          </a:prstGeom>
          <a:solidFill>
            <a:srgbClr val="FA464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309360" y="2029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6858000" y="19933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Nadie frente a la puerta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6858000" y="23957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Roja ≤ 5 m mientras sale escoria; solo el portaollas en posición.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548640" y="32004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31520" y="3401568"/>
            <a:ext cx="365760" cy="365760"/>
          </a:xfrm>
          <a:prstGeom prst="ellipse">
            <a:avLst/>
          </a:prstGeom>
          <a:solidFill>
            <a:srgbClr val="DB225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31520" y="34015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1280160" y="33649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Nunca carbono en masa sobre escoria oxidada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1280160" y="37673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Es la receta de una ebullición violenta.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6126480" y="32004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309360" y="3401568"/>
            <a:ext cx="365760" cy="365760"/>
          </a:xfrm>
          <a:prstGeom prst="ellipse">
            <a:avLst/>
          </a:prstGeom>
          <a:solidFill>
            <a:srgbClr val="AA0582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6309360" y="34015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6858000" y="33649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Ante ebullición: cortar C y reducir O₂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6858000" y="37673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Detener el DRI, no inclinar más y retirar a todos del frente de la puerta.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ArcelorMittal México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MO-EAF-05 — Escoria espumosa: inyección de O₂ y carbono, desescoriado · Capacitación</dc:title>
  <dc:subject>PptxGenJS Presentation</dc:subject>
  <dc:creator>Gerencia de Capacitación y Desarrollo</dc:creator>
  <cp:lastModifiedBy>Gerencia de Capacitación y Desarrollo</cp:lastModifiedBy>
  <cp:revision>1</cp:revision>
  <dcterms:created xsi:type="dcterms:W3CDTF">2026-09-25T19:42:30Z</dcterms:created>
  <dcterms:modified xsi:type="dcterms:W3CDTF">2026-09-25T19:42:30Z</dcterms:modified>
</cp:coreProperties>
</file>