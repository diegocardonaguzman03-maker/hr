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Objetivo del curso: Nadie en zona roja sin autorización, sin EPP aluminizado seco y sin ruta de escape libre. Principio rector: Si hay una persona no esencial en zona roja, no se vacía, no se traslada y no se arranca.
PUNTOS A CERRAR: Presentar a los participantes, el objetivo y la ruta de certificación (teoría → OJT → evaluación práctica).
[POR CONFIRMAR] Distancias de exclusión por operación: estudio de la nave con C-16 / SSO · Nivel de la sirena (≥ 10 dB(A) sobre el fondo) y francobordo de olla (supuestos) · Capacidad de la fosa de emergencia con Ingeniería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objetivo como una conducta observable que se evaluará en campo.
PUNTOS A CERRAR: Confirmar que cada participante sabe en qué rol ejecutará el proceso.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 = ejecuta · A = dueño y responsable final · C = consultado · I = informado.
PUNTOS A CERRAR: Cada participante identifica su renglón y a quién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Recorrer el flujo de izquierda a derecha; señalar las compuertas de decisión.
PUNTOS A CERRAR: Qué pasa si una condición previa no se cumple: no se avanza.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La columna resaltada es lo que se verifica ANTES de operar.
PUNTOS A CERRAR: Equipo que no pasa la verificación = no se opera; se reporta.
[POR CONFIRMAR] Especificaciones marcadas en la tabla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renglón: objetivo, rango normal, alarma y la acción (columna resaltada).
PUNTOS A CERRAR: Ejercicio: dar un valor fuera de rango y pedir la acción correcta.
[POR CONFIRMAR] Distancias de exclusión: [Supuesto — Validar con C-16 / SSO mediante un estudio de la nave]. Francobordo de olla ≥ 400 mm [Supuesto].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Los controles con ★ son críticos: si fallan puede haber una fatalidad. Se evalúan en la certificación.
PUNTOS A CERRAR: Cualquier persona puede y debe detener el trabajo si un control crítico no está.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Ubicar en la figura dónde está cada persona durante el proceso.
PUNTOS A CERRAR: Distancias y rutas de escape: preguntar a cada participante la suya.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Relacionar cada variable con el defecto que causa aguas abajo.
PUNTOS A CERRAR: Quién registra cada variable y dónde.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Practicar cada renglón como simulacro de mesa: síntoma → acción → a quién avisar.
PUNTOS A CERRAR: Nadie improvisa: si no está aquí, se detiene y se escala al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Nivel requerido: U (Ejecución Autónoma y Habilitada). La evaluación es práctica, ante evaluador certificado, sobre los pasos ★.
PUNTOS A CERRAR: Quien no demuestra todos los pasos ★ queda "aún no competente" y repite OJT dirigido.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Explicar la ruta completa y los tiempos.
PUNTOS A CERRAR: Aclarar que la evaluación no es sanción: es la evidencia de que la persona puede trabajar segura.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
1) b) ≤ 10 m — Roja ≤ 10 m de la olla y del EBT, fosa incluida; amarilla de 10 a 25 m.
2) b) 30 s — Aviso ≥ 30 s (objetivo 60 s). Con menos de 30 s no se inicia y se repite el aviso.
3) b) Lo cambio antes de entrar — El EPP húmedo produce quemadura por vapor. Húmedo, roto o con grasa: no entra a roja.
4) b) Evacúo a ≥ 25 m y aviso — Es perforación inminente: evacuar ruta y zona ≥ 25 m; la grúa lleva la olla a la fosa seca.
5) a) 2 min — ≤ 2 min por intervención; después salir, recuperar y relevo (MS-ACE-08).
CÓMO EXPLICARLA: dar 5 minutos; revisar en grupo. PUNTOS A CERRAR: mínimo 4 de 5 correctas para pasar a OJT.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Cerrar con las reglas que no se negocian; cada participante repite la regla más importante para su rol.
PUNTOS A CERRAR: Agendar OJT con el supervisor y el evaluador.
[POR CONFIRMAR] Distancias de exclusión por operación: estudio de la nave con C-16 / SSO · Nivel de la sirena (≥ 10 dB(A) sobre el fondo) y francobordo de olla (supuestos) · Capacidad de la fosa de emergencia con Ingeniería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960120" cy="3965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CAPACITACIÓN TÉCNICA · SEGURIDAD · MS-ACE-01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9844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Metal líquido y zonas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Nadie en zona roja sin autorización, sin EPP aluminizado seco y sin ruta de escape libre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 h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 CRS-08 (operadores)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6032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9748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40 h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+ 20 eventos supervisados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críticos ★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2084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≤ 30 s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 llegar a refugio o verde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208008" y="1325880"/>
            <a:ext cx="0" cy="3505200"/>
          </a:xfrm>
          <a:prstGeom prst="line">
            <a:avLst/>
          </a:prstGeom>
          <a:noFill/>
          <a:ln w="12700">
            <a:solidFill>
              <a:srgbClr val="8A8CA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25128" y="1143000"/>
            <a:ext cx="365760" cy="365760"/>
          </a:xfrm>
          <a:prstGeom prst="ellipse">
            <a:avLst/>
          </a:prstGeom>
          <a:solidFill>
            <a:srgbClr val="FF8C47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25128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528048" y="11247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Zonas y refugios OK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25128" y="1844040"/>
            <a:ext cx="365760" cy="365760"/>
          </a:xfrm>
          <a:prstGeom prst="ellipse">
            <a:avLst/>
          </a:prstGeom>
          <a:solidFill>
            <a:srgbClr val="FC6A45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25128" y="1844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528048" y="18257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Sirena y CCTV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025128" y="2545080"/>
            <a:ext cx="365760" cy="365760"/>
          </a:xfrm>
          <a:prstGeom prst="ellipse">
            <a:avLst/>
          </a:prstGeom>
          <a:solidFill>
            <a:srgbClr val="FA464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025128" y="2545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528048" y="25267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seco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025128" y="3246120"/>
            <a:ext cx="365760" cy="365760"/>
          </a:xfrm>
          <a:prstGeom prst="ellipse">
            <a:avLst/>
          </a:prstGeom>
          <a:solidFill>
            <a:srgbClr val="DB2259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25128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528048" y="32278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Zona roja vacía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9025128" y="3947160"/>
            <a:ext cx="365760" cy="365760"/>
          </a:xfrm>
          <a:prstGeom prst="ellipse">
            <a:avLst/>
          </a:prstGeom>
          <a:solidFill>
            <a:srgbClr val="C8136C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25128" y="3947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528048" y="39288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Aviso ≥ 30 s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9025128" y="4648200"/>
            <a:ext cx="365760" cy="365760"/>
          </a:xfrm>
          <a:prstGeom prst="ellipse">
            <a:avLst/>
          </a:prstGeom>
          <a:solidFill>
            <a:srgbClr val="AA058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025128" y="4648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528048" y="46299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Operar protegido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5349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Para: S-01 · S-02 · S-03 · S-06 · S-07 · S-09 · S-11 · S-12 · S-13 · S-14 · C-04 · C-05 · C-06 · contratistas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4652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MS-ACE-01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· OBJETIVOS DE APRENDIZAJE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terminar, operas sin nadie expuesto en zona roja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MS-ACE-01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F8C4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Señalar las tres zonas en campo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Roja: solo personal esencial con EPP aluminizado. Amarilla: autorizado tras barrera. Verde: tránsito con EPP básico.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Aplicar las distancias por operación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Vaciado roja ≤ 10 m y amarilla 10–25 m; ruta de olla ± 5 / ± 15 m; arranque de CC ≤ 10 / 20 m.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Preparar el evento sin exponer a nadie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Barreras, zona roja vacía (visual + CCTV), sirena y semáforo ≥ 30 s antes; ruta de escape libre.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Reaccionar a tiempo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Máximo 2 min en roja por intervención; ante perforación, fuga o ebullición, a refugio o verde en ≤ 30 s.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675120" y="1463040"/>
            <a:ext cx="4983480" cy="4754880"/>
          </a:xfrm>
          <a:prstGeom prst="roundRect">
            <a:avLst>
              <a:gd name="adj" fmla="val 1538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6949440" y="16459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QUÉ IMPORTA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6949440" y="2029968"/>
            <a:ext cx="4434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acero líquido está a ≈ 1,630 °C y una olla llena pesa más de 200 t. Una salpicadura, una olla perforada o una olla que cae alcanzan a quien está cerca. La única protección segura es no estar ahí: zona roja vacía, EPP aluminizado seco y ruta de escape libre.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949440" y="4681728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hay una persona no esencial en zona roja, no se vacía, no se traslada y no se arranca.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· ROLES Y RESPONSABILIDADES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C-16 fija las zonas; cada operador las hace cumplir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MS-ACE-01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6720840"/>
                <a:gridCol w="1005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hace con el metal líquido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RACI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C-16 Especialista de Seguridad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Dueño del estándar; define zonas y distancias; audita (VCC)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 Jefe de Turno de Acería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Hace cumplir las zonas; autoriza excepciones por escrito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 / C-06 Supervisores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Verifican barreras, EPP y personal esencial antes de cada evento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 / S-12 Púlpito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Anuncian, activan sirena y semáforo; no inician con personas en roja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S-02 / S-03 / S-06 / S-07 / S-11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Muestreo, temperatura y adiciones en roja con EPP completo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S-09 Grúa de Colada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Traslada solo por la ruta marcada; detiene si alguien cruza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 / S-14 Colada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Únicos en roja de CC durante el arranque, con S-12 y C-06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Todo el personal y contratistas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Respetan las zonas; ejercen el derecho a detener el trabajo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zona roja se verifica antes de mover el metal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MS-ACE-01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461897" cy="640080"/>
          </a:xfrm>
          <a:prstGeom prst="homePlate">
            <a:avLst/>
          </a:prstGeom>
          <a:solidFill>
            <a:srgbClr val="FF8C4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Revisar zonas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Marcas, barreras, R1–R4, fosa seca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937385" y="1691640"/>
            <a:ext cx="1461897" cy="640080"/>
          </a:xfrm>
          <a:prstGeom prst="chevron">
            <a:avLst/>
          </a:prstGeom>
          <a:solidFill>
            <a:srgbClr val="FC6A4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0197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Probar avisos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98310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Sirena, semáforo y CCTV en púlpito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326130" y="1691640"/>
            <a:ext cx="1461897" cy="640080"/>
          </a:xfrm>
          <a:prstGeom prst="chevron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49072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seco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37185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roturas, humedad ni grasa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14875" y="1691640"/>
            <a:ext cx="1461897" cy="640080"/>
          </a:xfrm>
          <a:prstGeom prst="chevron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87946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Barreras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76059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Accesos cerrados con letrero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103620" y="1691640"/>
            <a:ext cx="1461897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26821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Roja vacía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614934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Visual + CCTV; si hay alguien, no inicia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492365" y="1691640"/>
            <a:ext cx="1461897" cy="640080"/>
          </a:xfrm>
          <a:prstGeom prst="chevron">
            <a:avLst/>
          </a:prstGeom>
          <a:solidFill>
            <a:srgbClr val="C8136C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65695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Aviso ≥ 30 s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753808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Radio, sirena y semáforo rojo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8881110" y="1691640"/>
            <a:ext cx="1461897" cy="640080"/>
          </a:xfrm>
          <a:prstGeom prst="chevron">
            <a:avLst/>
          </a:prstGeom>
          <a:solidFill>
            <a:srgbClr val="AA058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904570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Operar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92683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Posición protegida, escape libre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10269855" y="1691640"/>
            <a:ext cx="1461897" cy="640080"/>
          </a:xfrm>
          <a:prstGeom prst="chevron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43444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Cerrar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031557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Semáforo verde, retiro y registro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48640" y="3703320"/>
            <a:ext cx="11109960" cy="2514600"/>
          </a:xfrm>
          <a:prstGeom prst="roundRect">
            <a:avLst>
              <a:gd name="adj" fmla="val 2909"/>
            </a:avLst>
          </a:prstGeom>
          <a:solidFill>
            <a:srgbClr val="F4F5F9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22960" y="388620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PRINCIPIO DEL PROCESO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822960" y="43159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Seis de los ocho pasos ocurren antes de mover el metal: la seguridad se asegura en la preparación.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51389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hay una persona no esencial en zona roja, no se vacía, no se traslada y no se arranca.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zona cambia según la operación que se ejecuta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MS-ACE-01 v0.2 (Borrador para validación) y FT-ACE-001 v0.3. Material de capacitación; no sustituye al manual. Figura: ms-zonas-exclusion-nave.svg.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pic>
        <p:nvPicPr>
          <p:cNvPr id="7" name="Image 1" descr="/home/user/HR/10-plantas/01-steelmaking/img/png/ms-zonas-exclusion-na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292" y="1417320"/>
            <a:ext cx="5635256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roja es el alcance posible de una salpicadura, un derrame o la caída de una olla.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Las distancias cambian por operación: vaciado, ruta de olla, arranque de CC, escoria.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Refugios R1–R4 y púlpitos a ≤ 30 s a pie desde cualquier punto de la zona roja.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Distancias [Supuesto — Validar con C-16 / estudio de la nave].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· EQUIPOS Y MAQUINARIA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sirena, semáforo o refugio libre no se opera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MS-ACE-01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291840"/>
                <a:gridCol w="2697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Equipo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Función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 clave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Verificar antes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Barreras físicas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Delimitan la zona roja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Visibles a 25 m; cierre en cada acceso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Colocadas antes del evento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Semáforo y sirena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Avisan el inicio del evento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10 dB(A) sobre el fondo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al inicio de turno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Refugios R1–R4 y púlpitos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Protegen ante salpicadura o derrame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 ≤ 30 s a pie desde la roja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Libres, señalizados, iluminados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Fosa de emergencia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Recibe el acero de olla perforada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Seca; ≥ 1 olla [Validar con Ingeniería]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Seca y libre por turno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CCTV de vaciado y torreta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Vigilancia sin exponer personas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Vista de EBT, carro y torreta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Imagen en púlpito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EPP aluminizado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Protege de calor y salpicadura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ISO 11612 [Verificar con proveedor]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Seco, sin roturas ni grasa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Arena seca y lanzas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Contener derrames; medir a distancia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Arena bajo techo; lanza ≥ 1.5 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Secas; nivel de arena ≥ 50 %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· PARÁMETROS DE OPERACIÓN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Distancias y tiempos definen quién puede estar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MS-ACE-01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777490"/>
                <a:gridCol w="2777490"/>
                <a:gridCol w="2777490"/>
                <a:gridCol w="277749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Operación / límite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Zona roja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Zona amarilla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 roja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Vaciado por EBT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10 m de olla y EBT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10–25 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Nadie a pie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Canasta sobre talón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15 m del horno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15–30 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Nadie; señalero en refugio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Muestreo / temperatura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5 m de la puerta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5–15 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Ejecutor a ≥ 1.5 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Olla en grúa o carro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Ruta ± 5 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 5–15 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Nadie bajo ni junto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Arranque de CC1/CC2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10 m; bajo la máquina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10–20 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S-12, S-13, S-14, 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Volteo de olla de escoria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15 m del volteo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15–30 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Nadie a pie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Aviso antes del evento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30 s (objetivo 60)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30 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iniciar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Permanencia en roja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2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2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Salir y relevo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897880"/>
            <a:ext cx="11109960" cy="365760"/>
          </a:xfrm>
          <a:prstGeom prst="rect">
            <a:avLst/>
          </a:prstGeom>
          <a:solidFill>
            <a:srgbClr val="FFF4D6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589788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CONFIRMAR  </a:t>
            </a:r>
            <a:pPr indent="0" marL="0">
              <a:buNone/>
            </a:pPr>
            <a:r>
              <a:rPr lang="en-US" sz="95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Distancias de exclusión: [Supuesto — Validar con C-16 / SSO mediante un estudio de la nave]. Francobordo de olla ≥ 400 mm [Supuesto].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Salpicadura, perforación y volteo: riesgos que matan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MS-ACE-01 v0.2 (Borrador para validación) y FT-ACE-001 v0.3. Material de capacitación; no sustituye al manual. Serie MS-ACE.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Zona roja sin personas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Mando remoto desde púlpito; verificación visual + CCTV; lista de vaciado firmada antes de iniciar.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Ruta de olla libre y fosa seca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Nadie bajo ni junto a la ruta; fosa de emergencia seca; vida de refractario de olla 60–80 coladas.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Grúa con doble freno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Prueba de frenos por turno (MS-ACE-04); nadie bajo la carga; holgura ≥ 1 m sobre obstáculos.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EPP aluminizado seco y tiempo limitado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húmedo, roto o con grasa no entra a roja. Máximo 2 min por intervención; relevo (MS-ACE-08).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949440" y="1463040"/>
            <a:ext cx="4709160" cy="4754880"/>
          </a:xfrm>
          <a:prstGeom prst="roundRect">
            <a:avLst>
              <a:gd name="adj" fmla="val 1553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223760" y="16459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OBLIGATORIO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7223760" y="2029968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Casco con careta de visor dorado y capucha aluminizada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Chaquetón, guantes y polainas aluminizados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Ropa FR o 100 % algodón; prohibido lo sintético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Botas metatarsales de liberación rápida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Protección auditiva y detector personal CO/O₂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de zona roja: completo, seco e íntegro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MS-ACE-01 v0.2 (Borrador para validación) y FT-ACE-001 v0.3. Material de capacitación; no sustituye al manual. Figura: ms-epp-acería.svg.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pic>
        <p:nvPicPr>
          <p:cNvPr id="7" name="Image 1" descr="/home/user/HR/10-plantas/01-steelmaking/img/png/ms-epp-acerí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970" y="1417320"/>
            <a:ext cx="6057900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 roja todo el EPP aluminizado es obligatorio.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ropa sintética se funde sobre la piel: está prohibida.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EPP húmedo produce quemadura por vapor: se cambia antes de entrar.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· CALIDAD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Temperatura y refractario controlan la perforación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MS-ACE-01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3017520"/>
                <a:gridCol w="2697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se controla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y cuándo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 falla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Lista de inicio de turno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Zonas, R1–R4 y fosa seca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Firma C-05 / C-06 cada turno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se inicia el evento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Hoja de colada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Hora de aviso, personal en roja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vaciado o arranque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Evento sin evidencia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Inspección de EPP aluminizado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Seco e íntegro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Registro por turno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EPP fuera de servicio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Autorización de ingreso a roja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Escrita, firmada por C-04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ingreso no esencial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Ingreso no autorizado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Refractario de olla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60–80 coladas; sin puntos calientes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Registro de ollas (C-15) cada ciclo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Riesgo de perforación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VCC de C-16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Controles críticos presentes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Mensual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 correctiva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62356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Temperatura de vaciado &gt; 1,660 °C aumenta el riesgo de perforación de olla: avisar a C-07.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Trece pasos; once no admiten error (1/2)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MS-ACE-01 v0.2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 zonas al iniciar turno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Recorre la nave con la figura: marcas visibles, barreras completas, refugios R1–R4 libres, fosa seca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Lista firmada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 / 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sirena, semáforo, CCTV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Activa sirena y semáforo 5 s; confirma imagen del EBT y de la torreta en púlpito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Audible en toda la amarilla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 / 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Inspecciona tu EPP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Costuras, capa aluminizada, visor y cierres; confirma que está seco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roturas, humedad ni grasa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Esenciales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Confirma el personal esencial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Nombra por radio quién estará en roja, solo los permitidos por operación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Lista de nombres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 / 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Coloca barreras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 accesos con cadena y letrero ZONA ROJA — METAL LÍQUIDO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Accesos cerrados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S-03 / S-14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 la roja vacía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Visual directa + CCTV. Si alguien está: no inicias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Roja vacía (salvo esenciales)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S-01/S-12/S-09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Anuncia y espera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Radio: evento en 60 segundos. Sirena y semáforo rojo; espera ≥ 30 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Aviso ≥ 30 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 / 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Trece pasos; once no admiten error (2/2)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MS-ACE-01 v0.2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Opera desde posición protegida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Púlpito o posición marcada; ruta de escape a la espalda y libre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Operador protegido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Operadores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Muestrea o mide temperatura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 lado a la puerta, a ≥ 1.5 m; lanza seca y precalentada; máximo 2 min en roja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exposición prolongada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S-02/S-06/S-11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Traslada la olla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Solo por ruta pintada, altura mínima con ≥ 1 m de holgura; detente si alguien cruza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Nadie bajo la ruta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Arranca la CC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Solo S-12, S-13, S-14 y C-06 en roja; nadie bajo la máquina hasta que la hebra salga de extractores y C-06 libere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personal no esencial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Vigila condiciones anormales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Punto rojo en coraza, humo en válvula, vapor, chispeo o ruido de ebullición: responde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Respuesta ≤ 30 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 el evento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Semáforo a verde, retira barreras temporales, registra hora y anomalías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Registro completo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 / 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09 · CONDICIONES ANORMALES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Ante un punto rojo o humo: evacua a ≥ 25 m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MS-ACE-01 v0.2 (Borrador para validación) y FT-ACE-001 v0.3. Material de capacitación; no sustituye al manual. Serie MS-ACE-09 para emergencias.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0"/>
                <a:gridCol w="1965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Síntoma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 inmediata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Avisar 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Persona no autorizada en roja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Detén o no inicies; retírala; repite la verificación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 / 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Punto rojo o humo en la coraza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Evacúa ruta y zona ≥ 25 m; la grúa lleva la olla a la fosa seca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C-04, C-15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Fuga por la válvula deslizante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te acerques; olla a la fosa o a posición segura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C-04, S-08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Ebullición o salpicadura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Detén el vaciado desde el púlpito si es posible; evacúa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C-05, C-07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Sirena o semáforo sin funcionar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vacíes ni arranques; viva voz + radio solo con autorización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C-04, C-12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EPP húmedo o dañado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entres a roja; cámbialo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 / 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Refugio bloqueado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Despeja antes del evento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Certificación nivel U: demostrar, no asistir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MS-ACE-01 v0.2 (Borrador para validación) y FT-ACE-001 v0.3. Material de capacitación; no sustituye al manual. TD-P07. ILUO: I Introducción · L Práctica supervisada · U Ejecución autónoma · O Dominio e instrucción.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Introducción y Conocimiento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121408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2140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670048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Aprendizaje y Práctica Supervisada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694176" y="1554480"/>
            <a:ext cx="502920" cy="502920"/>
          </a:xfrm>
          <a:prstGeom prst="ellipse">
            <a:avLst/>
          </a:prstGeom>
          <a:solidFill>
            <a:srgbClr val="E8551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94176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242816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Ejecución Autónoma y Habilitada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266944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266944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815584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Dominio, Optimización e Instrucción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6583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94360"/>
                <a:gridCol w="1097280"/>
                <a:gridCol w="1737360"/>
                <a:gridCol w="1051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ILUO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Teoría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OJT supervisado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Vigencia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S-02, S-03, S-06, S-07, S-11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40 h + 20 muestreos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S-01, S-12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40 h + 20 eventos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S-09 Grúa de Colada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 h + CRS-05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80 h + 30 traslados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S-13, S-14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40 h + 10 arranques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C-04, C-05, C-06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20 eventos + simulacro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Contratistas y visitantes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 h (TD-P08)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7406640" y="1463040"/>
            <a:ext cx="4251960" cy="4754880"/>
          </a:xfrm>
          <a:prstGeom prst="roundRect">
            <a:avLst>
              <a:gd name="adj" fmla="val 1720"/>
            </a:avLst>
          </a:prstGeom>
          <a:solidFill>
            <a:srgbClr val="F4F5F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680960" y="1645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★ QUE SE EVALÚAN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680960" y="2029968"/>
            <a:ext cx="3749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Inspecciona el EPP aluminizado y rechaza el húmedo o dañado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Cierra accesos con barreras y verifica la zona roja vacía (visual + CCTV) antes de iniciar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Prueba sirena, semáforo y CCTV al inicio del turno; anuncia y espera ≥ 30 s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Trabaja desde la posición protegida con la ruta de escape libre y ≤ 2 min en roja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Traslada la olla solo por la ruta pintada, con ≥ 1 m de holgura, y se detiene si alguien cruza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Reconoce las señales de perforación de olla y reacciona en ≤ 30 s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la teoría a la certificación en seis pasos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MS-ACE-01 v0.2 (Borrador para validación) y FT-ACE-001 v0.3. Material de capacitación; no sustituye al manual. Registro de competencia en IMaS; constancia DC-3/SIRCE (obligación STPS).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474470" y="1920240"/>
            <a:ext cx="9258300" cy="0"/>
          </a:xfrm>
          <a:prstGeom prst="line">
            <a:avLst/>
          </a:prstGeom>
          <a:noFill/>
          <a:ln w="12700">
            <a:solidFill>
              <a:srgbClr val="D6D8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91590" y="1737360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15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 h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43250" y="1737360"/>
            <a:ext cx="365760" cy="36576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14325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44602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44602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80 %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94910" y="1737360"/>
            <a:ext cx="365760" cy="36576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99491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supervisado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29768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40 h + 20 muestreos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846570" y="1737360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4657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14934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Evaluación práctica ★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14934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100 % pasos ★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698230" y="1737360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69823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00100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Registro IMaS y DC-3/SIRCE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≤ 10 días hábiles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549890" y="1737360"/>
            <a:ext cx="365760" cy="36576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5498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8526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Recertificación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8526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meses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48640" y="3429000"/>
            <a:ext cx="11109960" cy="2788920"/>
          </a:xfrm>
          <a:prstGeom prst="roundRect">
            <a:avLst>
              <a:gd name="adj" fmla="val 2623"/>
            </a:avLst>
          </a:prstGeom>
          <a:solidFill>
            <a:srgbClr val="F4F5F9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22960" y="361188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CERTIFICACIÓN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3995928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certificación vale solo para el proceso y el rol evaluados; se suspende tras un incidente grave hasta reevaluar.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trabajador con experiencia puede solicitar la evaluación directa como examen de suficiencia (LFT art. 153-U).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certificación vigente no se ejecuta la tarea crítica: el permiso de trabajo lo bloquea.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AUTOEVALUACIÓN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Autoevaluación: cinco preguntas antes del OJT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MS-ACE-01 v0.2 (Borrador para validación) y FT-ACE-001 v0.3. Material de capacitación; no sustituye al manual. Respuestas en las notas del orador.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844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1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¿Qué distancia define la zona roja durante el vaciado por EBT?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≤ 5 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≤ 10 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≤ 25 m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4480560" y="1645920"/>
            <a:ext cx="457200" cy="45720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4748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2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¿Cuánto tiempo mínimo de aviso con sirena y semáforo antes del evento?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10 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30 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2 min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4672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8229600" y="1645920"/>
            <a:ext cx="457200" cy="45720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79652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3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 chaquetón aluminizado está húmedo. ¿Qué haces?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Entro rápido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Lo cambio antes de entrar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Me pongo otro encima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3" name="Shape 20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29844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4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Ves un punto rojo en la coraza de una olla llena. ¿Qué haces?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Me acerco a revisar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Evacúo a ≥ 25 m y aviso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Echo agua para enfriar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29768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8" name="Shape 25"/>
          <p:cNvSpPr/>
          <p:nvPr/>
        </p:nvSpPr>
        <p:spPr>
          <a:xfrm>
            <a:off x="4480560" y="4069080"/>
            <a:ext cx="457200" cy="457200"/>
          </a:xfrm>
          <a:prstGeom prst="ellipse">
            <a:avLst/>
          </a:prstGeom>
          <a:solidFill>
            <a:srgbClr val="C8136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04748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5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448056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¿Cuánto tiempo máximo continuo en zona roja por intervención?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48056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2 min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5 min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10 min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04672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33" name="Shape 30"/>
          <p:cNvSpPr/>
          <p:nvPr/>
        </p:nvSpPr>
        <p:spPr>
          <a:xfrm>
            <a:off x="8229600" y="4069080"/>
            <a:ext cx="457200" cy="457200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2" y="4187952"/>
            <a:ext cx="219456" cy="219456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879652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F6FD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CRITERIO</a:t>
            </a:r>
            <a:endParaRPr lang="en-US" sz="800" dirty="0"/>
          </a:p>
        </p:txBody>
      </p:sp>
      <p:sp>
        <p:nvSpPr>
          <p:cNvPr id="36" name="Text 32"/>
          <p:cNvSpPr txBox="1"/>
          <p:nvPr/>
        </p:nvSpPr>
        <p:spPr>
          <a:xfrm>
            <a:off x="822960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Mínimo 4 de 5 correctas</a:t>
            </a:r>
            <a:endParaRPr lang="en-US" sz="1250" dirty="0"/>
          </a:p>
        </p:txBody>
      </p:sp>
      <p:sp>
        <p:nvSpPr>
          <p:cNvPr id="37" name="Text 33"/>
          <p:cNvSpPr txBox="1"/>
          <p:nvPr/>
        </p:nvSpPr>
        <p:spPr>
          <a:xfrm>
            <a:off x="822960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4 o más pasas al OJT supervisado. Con menos, repasa el manual con tu instructor y repite la autoevaluación.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 · CIERRE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del metal líquido que no se negocian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OJT supervisado y evaluación práctica (TD-P07); registro en IMaS y DC-3/SIRCE. Validación: visto bueno técnica, seguridad, laboral, diseño instruccional.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029968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Respeta la zona roja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Solo personal esencial, con EPP aluminizado seco y ruta de escape libre.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2648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2029968"/>
            <a:ext cx="365760" cy="36576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Nunca bajo una olla ni en su ruta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Ruta de olla: roja ± 5 m, amarilla ± 15 m.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3401568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aviso de 30 s no hay evento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Sirena y semáforo funcionando; si fallan, no se vacía ni se arranca.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2648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401568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0936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Cualquiera puede detener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ves a una persona en roja, detén el trabajo. Nadie es sancionado por detener.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ArcelorMittal México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MS-ACE-01 — Metal líquido: zonas de exclusión, EPP aluminizado y distancias · Capacitación</dc:title>
  <dc:subject>PptxGenJS Presentation</dc:subject>
  <dc:creator>Gerencia de Capacitación y Desarrollo</dc:creator>
  <cp:lastModifiedBy>Gerencia de Capacitación y Desarrollo</cp:lastModifiedBy>
  <cp:revision>1</cp:revision>
  <dcterms:created xsi:type="dcterms:W3CDTF">2026-09-25T20:02:41Z</dcterms:created>
  <dcterms:modified xsi:type="dcterms:W3CDTF">2026-09-25T20:02:41Z</dcterms:modified>
</cp:coreProperties>
</file>