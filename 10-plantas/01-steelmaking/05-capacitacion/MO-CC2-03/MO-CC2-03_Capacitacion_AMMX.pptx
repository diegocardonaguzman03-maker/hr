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Objetivo del curso: Abrir las 6 líneas en orden, arrancar la extracción a ≈ 150 mm del borde y subir con la rampa sin fugas ni breakouts. Principio rector: Una línea perdida se recupera; una persona no. Si la línea no arranca bien, ciérrala.
PUNTOS A CERRAR: Presentar a los participantes, el objetivo y la ruta de certificación (teoría → OJT → evaluación práctica).
[POR CONFIRMAR] Orden de apertura, nivel de extracción, velocidad y rampa de arranque con el OEM · Líquidus y sobrecalentamiento de la 1.ª colada por grado (C-08) · Distancias de la zona de exclusión con el estudio de la nave (C-16) [Supuesto]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objetivo como una conducta observable que se evaluará en campo.
PUNTOS A CERRAR: Confirmar que cada participante sabe en qué rol ejecutará el proceso.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 = ejecuta · A = dueño y responsable final · C = consultado · I = informado.
PUNTOS A CERRAR: Cada participante identifica su renglón y a quién escala.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Recorrer el flujo de izquierda a derecha; señalar las compuertas de decisión.
PUNTOS A CERRAR: Qué pasa si una condición previa no se cumple: no se avanza.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Usar la figura para ubicar cada componente en planta.
PUNTOS A CERRAR: Pedir a un participante que explique la figura con sus palabras.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Usar la figura para ubicar cada componente en planta.
PUNTOS A CERRAR: Pedir a un participante que explique la figura con sus palabras.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La columna resaltada es lo que se verifica ANTES de operar.
PUNTOS A CERRAR: Equipo que no pasa la verificación = no se opera; se reporta.
[POR CONFIRMAR] Especificaciones marcadas en la tabla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renglón: objetivo, rango normal, alarma y la acción (columna resaltada).
PUNTOS A CERRAR: Ejercicio: dar un valor fuera de rango y pedir la acción correcta.
[POR CONFIRMAR] Líquidus de varilla ≈ 1,505 °C, se calcula por colada. Orden de apertura, rampa y niveles: [Validar con OEM / Ingeniería de Proceso].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Los controles con ★ son críticos: si fallan puede haber una fatalidad. Se evalúan en la certificación.
PUNTOS A CERRAR: Cualquier persona puede y debe detener el trabajo si un control crítico no está.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Ubicar en la figura dónde está cada persona durante el proceso.
PUNTOS A CERRAR: Distancias y rutas de escape: preguntar a cada participante la suya.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Relacionar cada variable con el defecto que causa aguas abajo.
PUNTOS A CERRAR: Quién registra cada variable y dónde.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Practicar cada renglón como simulacro de mesa: síntoma → acción → a quién avisar.
PUNTOS A CERRAR: Nadie improvisa: si no está aquí, se detiene y se escala al supervisor.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Nivel requerido: U (Ejecución Autónoma y Habilitada). La evaluación es práctica, ante evaluador certificado, sobre los pasos ★.
PUNTOS A CERRAR: Quien no demuestra todos los pasos ★ queda "aún no competente" y repite OJT dirigido.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Explicar la ruta completa y los tiempos.
PUNTOS A CERRAR: Aclarar que la evaluación no es sanción: es la evidencia de que la persona puede trabajar segura.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RESPUESTAS:
1) b) L3-L4, L2-L5, L1-L6 — Del centro a los extremos: L3 y L4 reciben el acero más caliente; L1 y L6 esperan ≤ 3 min.
2) a) ≈ 150 mm bajo el borde — A ≈ 150 mm bajo el borde, a 0.5 m/min con oscilación: tarde desborda, temprano no ancla la cabeza.
3) c) Porque la piel delgada se rompe — La rampa (1.5 y luego ≥ 2.5 m/min) da espesor a la piel; subir de golpe provoca breakout.
4) b) 25–40 °C — 1.ª colada de secuencia: 25–40 °C (objetivo 32 °C); siguientes coladas: 20–35 °C.
5) a) Solo S-12, S-13, S-14 y C-06 — Zona roja ≤ 10 m y bajo la máquina: solo personal esencial, con conteo antes de abrir la olla.
CÓMO EXPLICARLA: dar 5 minutos; revisar en grupo. PUNTOS A CERRAR: mínimo 4 de 5 correctas para pasar a OJT.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Cerrar con las reglas que no se negocian; cada participante repite la regla más importante para su rol.
PUNTOS A CERRAR: Agendar OJT con el supervisor y el evaluador.
[POR CONFIRMAR] Orden de apertura, nivel de extracción, velocidad y rampa de arranque con el OEM · Líquidus y sobrecalentamiento de la 1.ª colada por grado (C-08) · Distancias de la zona de exclusión con el estudio de la nave (C-16) [Supuesto]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R/2e49314e-011f-5c3a-b225-07e067b46c12/scratchpad/ammx/assets/am_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20040"/>
            <a:ext cx="960120" cy="39652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9144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CAPACITACIÓN TÉCNICA · OPERACIÓN · MO-CC2-03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298448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Arranque de colada CC2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28600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Abrir las 6 líneas en orden, arrancar la extracción a ≈ 150 mm del borde y subir con la rampa sin fugas ni breakouts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24 h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teoría (S-12 / S-13)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6032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69748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</a:t>
            </a:r>
            <a:endParaRPr lang="en-US" sz="3200" dirty="0"/>
          </a:p>
        </p:txBody>
      </p:sp>
      <p:sp>
        <p:nvSpPr>
          <p:cNvPr id="11" name="Text 8"/>
          <p:cNvSpPr txBox="1"/>
          <p:nvPr/>
        </p:nvSpPr>
        <p:spPr>
          <a:xfrm>
            <a:off x="269748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arranques supervisados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57200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0916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470916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pasos críticos ★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58368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72084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24</a:t>
            </a:r>
            <a:endParaRPr lang="en-US" sz="3200" dirty="0"/>
          </a:p>
        </p:txBody>
      </p:sp>
      <p:sp>
        <p:nvSpPr>
          <p:cNvPr id="17" name="Text 14"/>
          <p:cNvSpPr txBox="1"/>
          <p:nvPr/>
        </p:nvSpPr>
        <p:spPr>
          <a:xfrm>
            <a:off x="672084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meses de vigencia (TD-P07)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9208008" y="1325880"/>
            <a:ext cx="0" cy="3505200"/>
          </a:xfrm>
          <a:prstGeom prst="line">
            <a:avLst/>
          </a:prstGeom>
          <a:noFill/>
          <a:ln w="12700">
            <a:solidFill>
              <a:srgbClr val="8A8CA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025128" y="1143000"/>
            <a:ext cx="365760" cy="365760"/>
          </a:xfrm>
          <a:prstGeom prst="ellipse">
            <a:avLst/>
          </a:prstGeom>
          <a:solidFill>
            <a:srgbClr val="FF8C47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25128" y="1143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9528048" y="112471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Condiciones y zona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9025128" y="1844040"/>
            <a:ext cx="365760" cy="365760"/>
          </a:xfrm>
          <a:prstGeom prst="ellipse">
            <a:avLst/>
          </a:prstGeom>
          <a:solidFill>
            <a:srgbClr val="FC6A45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025128" y="1844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9528048" y="182575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Abrir la olla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9025128" y="2545080"/>
            <a:ext cx="365760" cy="365760"/>
          </a:xfrm>
          <a:prstGeom prst="ellipse">
            <a:avLst/>
          </a:prstGeom>
          <a:solidFill>
            <a:srgbClr val="FA4642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025128" y="2545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9528048" y="252679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L3-L4 → L2-L5 → L1-L6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9025128" y="3246120"/>
            <a:ext cx="365760" cy="365760"/>
          </a:xfrm>
          <a:prstGeom prst="ellipse">
            <a:avLst/>
          </a:prstGeom>
          <a:solidFill>
            <a:srgbClr val="DB2259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9025128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9528048" y="322783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Extraer a ≈ 150 mm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9025128" y="3947160"/>
            <a:ext cx="365760" cy="365760"/>
          </a:xfrm>
          <a:prstGeom prst="ellipse">
            <a:avLst/>
          </a:prstGeom>
          <a:solidFill>
            <a:srgbClr val="C8136C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025128" y="3947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9528048" y="392887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Rampa ≥ 2.5 m/min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9025128" y="4648200"/>
            <a:ext cx="365760" cy="365760"/>
          </a:xfrm>
          <a:prstGeom prst="ellipse">
            <a:avLst/>
          </a:prstGeom>
          <a:solidFill>
            <a:srgbClr val="AA0582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9025128" y="4648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9528048" y="462991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 líneas estables</a:t>
            </a:r>
            <a:endParaRPr lang="en-US" sz="1150" dirty="0"/>
          </a:p>
        </p:txBody>
      </p:sp>
      <p:sp>
        <p:nvSpPr>
          <p:cNvPr id="37" name="Text 34"/>
          <p:cNvSpPr txBox="1"/>
          <p:nvPr/>
        </p:nvSpPr>
        <p:spPr>
          <a:xfrm>
            <a:off x="548640" y="53492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Para: S-12 Púlpito · S-13 Plataforma · S-14 Ayudante · S-09 Grúa · S-11 · S-16 · C-06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48640" y="6446520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MO-CC2-03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39" name="Text 36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01 · OBJETIVOS DE APRENDIZAJE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 terminar, arrancas las 6 líneas sin exponer a nadie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MO-CC2-03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66928" cy="566928"/>
          </a:xfrm>
          <a:prstGeom prst="ellipse">
            <a:avLst/>
          </a:prstGeom>
          <a:solidFill>
            <a:srgbClr val="FF8C47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700784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25880" y="1517904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Verificar condiciones de arranque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1325880" y="1883664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Distribuidor ≥ 1,000 °C, 6 líneas listas, agua de molde a caudal, tanque de emergencia lleno y diésel en automático.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48640" y="2724912"/>
            <a:ext cx="566928" cy="566928"/>
          </a:xfrm>
          <a:prstGeom prst="ellipse">
            <a:avLst/>
          </a:prstGeom>
          <a:solidFill>
            <a:srgbClr val="FA4642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87121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2688336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Controlar la zona de exclusión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325880" y="3054096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Zona roja ≤ 10 m: solo S-12, S-13, S-14 y C-06; fosa cerrada; sirena ≥ 30 s antes de abrir la olla.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48640" y="3895344"/>
            <a:ext cx="566928" cy="566928"/>
          </a:xfrm>
          <a:prstGeom prst="ellipse">
            <a:avLst/>
          </a:prstGeom>
          <a:solidFill>
            <a:srgbClr val="DB2259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041648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325880" y="3858768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Abrir las líneas en orden</a:t>
            </a:r>
            <a:endParaRPr lang="en-US" sz="1350" dirty="0"/>
          </a:p>
        </p:txBody>
      </p:sp>
      <p:sp>
        <p:nvSpPr>
          <p:cNvPr id="18" name="Text 12"/>
          <p:cNvSpPr txBox="1"/>
          <p:nvPr/>
        </p:nvSpPr>
        <p:spPr>
          <a:xfrm>
            <a:off x="1325880" y="4224528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L3-L4, L2-L5, L1-L6 con 15–30 s entre líneas; las 6 abiertas en ≤ 3 min.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548640" y="5065776"/>
            <a:ext cx="566928" cy="566928"/>
          </a:xfrm>
          <a:prstGeom prst="ellipse">
            <a:avLst/>
          </a:prstGeom>
          <a:solidFill>
            <a:srgbClr val="AA0582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5212080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325880" y="5029200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Arrancar con nivel y rampa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1325880" y="5394960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Extracción a 0.5 m/min con nivel a ≈ 150 mm; rampa a ≥ 2.5 m/min; nivel ± 5 mm en automático.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6675120" y="1463040"/>
            <a:ext cx="4983480" cy="4754880"/>
          </a:xfrm>
          <a:prstGeom prst="roundRect">
            <a:avLst>
              <a:gd name="adj" fmla="val 1538"/>
            </a:avLst>
          </a:prstGeom>
          <a:solidFill>
            <a:srgbClr val="F4F5F9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6949440" y="164592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 QUÉ IMPORTA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6949440" y="2029968"/>
            <a:ext cx="4434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arranque es el momento de mayor riesgo de la colada: metal líquido cayendo, moldes que se llenan en 25–40 s y gente cerca. Si arrancas tarde, el molde desborda; si arrancas temprano, la cabeza no se ancla; si subes la velocidad de golpe, la piel delgada se rompe.</a:t>
            </a:r>
            <a:endParaRPr lang="en-US" sz="1200" dirty="0"/>
          </a:p>
        </p:txBody>
      </p:sp>
      <p:sp>
        <p:nvSpPr>
          <p:cNvPr id="26" name="Text 19"/>
          <p:cNvSpPr txBox="1"/>
          <p:nvPr/>
        </p:nvSpPr>
        <p:spPr>
          <a:xfrm>
            <a:off x="6949440" y="4681728"/>
            <a:ext cx="4434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Una línea perdida se recupera; una persona no. Si la línea no arranca bien, ciérrala.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02 · ROLES Y RESPONSABILIDADES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Tres operadores por línea; C-06 decide cerrar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MO-CC2-03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6720840"/>
                <a:gridCol w="10058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Qué hace en el arranque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RACI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 Supervisor de Colada Continua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Da la orden de arranque; decide cerrar o rearrancar una línea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S-12 Operador de Púlpito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Controla extracción, rampa, nivel automático, agua secundaria y EMS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S-13 Operador de Plataforma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Abre la olla y las buzas, controla el distribuidor y mide temperatura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S-14 Ayudante de Colada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Vigila llenado, aceite y chorro; cierra la línea si hay fuga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S-09 Operador de Grúa de Colada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Coloca la olla en la torreta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S-11 Muestrero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Toma la muestra química del distribuidor en la primera colada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S-16 Operador de Corte y Marcado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Despunta la cabeza y marca las palanquillas de arranque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C-08 Ingeniero de Proceso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Define temperaturas y rampa; analiza arranques fallidos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Del centro a los extremos, con nivel y rampa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MO-CC2-03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1307592" cy="640080"/>
          </a:xfrm>
          <a:prstGeom prst="homePlate">
            <a:avLst/>
          </a:prstGeom>
          <a:solidFill>
            <a:srgbClr val="FF8C47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1323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Condiciones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Distribuidor ≥ 1,000 °C; emergencia OK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1783080" y="1691640"/>
            <a:ext cx="1307592" cy="640080"/>
          </a:xfrm>
          <a:prstGeom prst="chevron">
            <a:avLst/>
          </a:prstGeom>
          <a:solidFill>
            <a:srgbClr val="FC6A4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94767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Zona libre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82880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Roja ≤ 10 m; sirena ≥ 30 s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3017520" y="1691640"/>
            <a:ext cx="1307592" cy="640080"/>
          </a:xfrm>
          <a:prstGeom prst="chevron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18211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Abrir olla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306324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Tubo con Ar; distribuidor ≥ 400 mm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4251960" y="1691640"/>
            <a:ext cx="1307592" cy="640080"/>
          </a:xfrm>
          <a:prstGeom prst="chevron">
            <a:avLst/>
          </a:prstGeom>
          <a:solidFill>
            <a:srgbClr val="EA345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41655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Medir T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3–5 min: 20–35 °C (1.ª: 25–40 °C)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5486400" y="1691640"/>
            <a:ext cx="1307592" cy="640080"/>
          </a:xfrm>
          <a:prstGeom prst="chevron">
            <a:avLst/>
          </a:prstGeom>
          <a:solidFill>
            <a:srgbClr val="DB2259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65099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Abrir L3 y L4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553212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Buza en lugar de placa ciega; aceite ON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6720840" y="1691640"/>
            <a:ext cx="1307592" cy="640080"/>
          </a:xfrm>
          <a:prstGeom prst="chevron">
            <a:avLst/>
          </a:prstGeom>
          <a:solidFill>
            <a:srgbClr val="DB2259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88543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Extracción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676656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0.5 m/min con nivel a ≈ 150 mm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7955280" y="1691640"/>
            <a:ext cx="1307592" cy="640080"/>
          </a:xfrm>
          <a:prstGeom prst="chevron">
            <a:avLst/>
          </a:prstGeom>
          <a:solidFill>
            <a:srgbClr val="C8136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811987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Rampa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800100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1.5 y luego ≥ 2.5 m/min; nivel ± 5 mm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9189720" y="1691640"/>
            <a:ext cx="1307592" cy="640080"/>
          </a:xfrm>
          <a:prstGeom prst="chevron">
            <a:avLst/>
          </a:prstGeom>
          <a:solidFill>
            <a:srgbClr val="AA0582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935431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L2-L5 y L1-L6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923544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15–30 s entre líneas; todas en ≤ 3 min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10424160" y="1691640"/>
            <a:ext cx="1307592" cy="640080"/>
          </a:xfrm>
          <a:prstGeom prst="chevron">
            <a:avLst/>
          </a:prstGeom>
          <a:solidFill>
            <a:srgbClr val="5B2A86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1058875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Estable</a:t>
            </a:r>
            <a:endParaRPr lang="en-US" sz="900" dirty="0"/>
          </a:p>
        </p:txBody>
      </p:sp>
      <p:sp>
        <p:nvSpPr>
          <p:cNvPr id="33" name="Text 30"/>
          <p:cNvSpPr txBox="1"/>
          <p:nvPr/>
        </p:nvSpPr>
        <p:spPr>
          <a:xfrm>
            <a:off x="1046988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Despunte, palanquilla A y muestra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548640" y="3703320"/>
            <a:ext cx="11109960" cy="2514600"/>
          </a:xfrm>
          <a:prstGeom prst="roundRect">
            <a:avLst>
              <a:gd name="adj" fmla="val 2909"/>
            </a:avLst>
          </a:prstGeom>
          <a:solidFill>
            <a:srgbClr val="F4F5F9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822960" y="3886200"/>
            <a:ext cx="10561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PRINCIPIO DEL PROCESO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822960" y="43159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En colada abierta la velocidad sigue al nivel: el control radiométrico ajusta la extracción para mantener el menisco.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822960" y="513892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Una línea perdida se recupera; una persona no. Si la línea no arranca bien, ciérrala.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Del distribuidor al molde: el arranque en una línea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MO-CC2-03 v0.1 (Borrador para validación) y FT-ACE-001 v0.3. Material de capacitación; no sustituye al manual. Figura: cc2-perfil-maquina.svg.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50" dirty="0"/>
          </a:p>
        </p:txBody>
      </p:sp>
      <p:pic>
        <p:nvPicPr>
          <p:cNvPr id="7" name="Image 1" descr="/home/user/HR/10-plantas/01-steelmaking/img/png/cc2-perfil-maquin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847" y="1417320"/>
            <a:ext cx="5910146" cy="48463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olla en la torreta llena el distribuidor de 30 t por el tubo protector con argón.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buza calibrada deja caer el chorro al molde; el Cs-137 mide el nivel a ± 5 mm.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barra falsa sale por los extractores-enderezadores; la cabeza se despunta en el oxicorte.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Centro primero: L3 y L4 reciben el acero más caliente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MO-CC2-03 v0.1 (Borrador para validación) y FT-ACE-001 v0.3. Material de capacitación; no sustituye al manual. Figura: cc2-distribuidor-6-lineas.svg.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50" dirty="0"/>
          </a:p>
        </p:txBody>
      </p:sp>
      <p:pic>
        <p:nvPicPr>
          <p:cNvPr id="7" name="Image 1" descr="/home/user/HR/10-plantas/01-steelmaking/img/png/cc2-distribuidor-6-linea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8760" y="1417320"/>
            <a:ext cx="4846320" cy="48463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Orden de apertura: L3-L4, L2-L5, L1-L6 [Validar].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L1 y L6 no deben esperar más de 3 min con la buza cubierta: riesgo de buza congelada.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Para abrir una línea se empuja la buza en el lugar de la placa ciega.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04 · EQUIPOS Y MAQUINARIA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Siete sistemas listos antes de abrir la olla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MO-CC2-03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743200"/>
                <a:gridCol w="3291840"/>
                <a:gridCol w="26974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Equipo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Función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Especificación clave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Verificar antes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Torreta de ollas (2 brazos)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Lleva la olla a posición de colada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Pesaje de olla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alarmas; olla asentada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Válvula de olla y tubo protector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Abre la olla y protege el chorro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Tubo con sello de argón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Tubo precalentado; argón fluyendo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Distribuidor y buzas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Reparten el acero a 6 líneas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30 t; 160 × 160: Ø 20–24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Liberado por MO-CC2-01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Moldes, barra falsa, EMS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Forman la palanquilla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Ver MO-CC2-02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6 líneas en listo para colar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Medidor de nivel Cs-137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Controla el menisco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± 5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Obturador abierto por el ESR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Agua de emergencia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Enfría moldes si falla el agua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Entrada automática ≤ 15 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Tanque lleno; diésel en automático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Lanza de oxígeno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Abre la olla si no abre libre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Lanza ≥ 3 m [Validar]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Lanza, manguera y válvula revisadas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05 · PARÁMETROS DE OPERACIÓN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Nivel, tiempo y rampa definen un arranque limpio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MO-CC2-03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1737360"/>
                <a:gridCol w="2057400"/>
                <a:gridCol w="2103120"/>
                <a:gridCol w="288036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Parámetro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Objetivo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Rango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Alarma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Acción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Sobrecalentamiento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32 °C (1.ª) / 28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25–40 (1.ª) / 20–35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20; &gt; 40 (1.ª) o &gt; 35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15 °C: C-06 decide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Nivel del distribuidor al abrir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400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350–450 mm [Validar]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300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Espera a que suba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Tiempo entre líneas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20 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15–30 s [Validar]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L1/L6 &gt; 3 min esperando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Abre o prepara cambio de buza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Llenado del molde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30 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25–40 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20 s o &gt; 50 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Avisa a C-06; revisa la buza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Nivel para extraer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150 mm bajo el borde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140–160 mm [Validar OEM]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110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Arranca de inmediato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Velocidad de arranque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0.5 m/min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0.4–0.6 m/min [Validar OEM]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—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—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Rampa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0.5 → 1.5 → 2.5 m/min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60 s + 60 s [Validar OEM]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Rampa más rápida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 aceleres a mano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Nivel de molde automático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Punto de ajuste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± 5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± 10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Revisa chorro y buza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48640" y="5897880"/>
            <a:ext cx="11109960" cy="365760"/>
          </a:xfrm>
          <a:prstGeom prst="rect">
            <a:avLst/>
          </a:prstGeom>
          <a:solidFill>
            <a:srgbClr val="FFF4D6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640080" y="5897880"/>
            <a:ext cx="10927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5A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 CONFIRMAR  </a:t>
            </a:r>
            <a:pPr indent="0" marL="0">
              <a:buNone/>
            </a:pPr>
            <a:r>
              <a:rPr lang="en-US" sz="950" dirty="0">
                <a:solidFill>
                  <a:srgbClr val="8A5A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Líquidus de varilla ≈ 1,505 °C, se calcula por colada. Orden de apertura, rampa y niveles: [Validar con OEM / Ingeniería de Proceso].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06 · SEGURIDAD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Metal líquido y gente cerca: el momento más crítico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MO-CC2-03 v0.1 (Borrador para validación) y FT-ACE-001 v0.3. Material de capacitación; no sustituye al manual. Serie MS-ACE.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66928" cy="566928"/>
          </a:xfrm>
          <a:prstGeom prst="ellipse">
            <a:avLst/>
          </a:prstGeom>
          <a:solidFill>
            <a:srgbClr val="FA464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700784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25880" y="1517904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Zona de exclusión de arranque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1325880" y="1883664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Roja ≤ 10 m de molde, distribuidor y torreta y bajo la máquina: solo S-12, S-13, S-14 y C-06 (MS-ACE-01) [Supuesto].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48640" y="2724912"/>
            <a:ext cx="566928" cy="566928"/>
          </a:xfrm>
          <a:prstGeom prst="ellipse">
            <a:avLst/>
          </a:prstGeom>
          <a:solidFill>
            <a:srgbClr val="DB2259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87121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2688336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Nadie en la fosa ni bajo la máquina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325880" y="3054096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Fosa y área bajo la plataforma cerradas hasta que las 6 líneas estén estables y C-06 libere.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48640" y="3895344"/>
            <a:ext cx="566928" cy="566928"/>
          </a:xfrm>
          <a:prstGeom prst="ellipse">
            <a:avLst/>
          </a:prstGeom>
          <a:solidFill>
            <a:srgbClr val="AA0582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041648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325880" y="3858768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Agua de emergencia lista</a:t>
            </a:r>
            <a:endParaRPr lang="en-US" sz="1350" dirty="0"/>
          </a:p>
        </p:txBody>
      </p:sp>
      <p:sp>
        <p:nvSpPr>
          <p:cNvPr id="18" name="Text 12"/>
          <p:cNvSpPr txBox="1"/>
          <p:nvPr/>
        </p:nvSpPr>
        <p:spPr>
          <a:xfrm>
            <a:off x="1325880" y="4224528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Tanque lleno y bombas diésel en automático; si falla el agua, entrada en ≤ 15 s y paro de colada (MS-ACE-09).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548640" y="5065776"/>
            <a:ext cx="566928" cy="566928"/>
          </a:xfrm>
          <a:prstGeom prst="ellipse">
            <a:avLst/>
          </a:prstGeom>
          <a:solidFill>
            <a:srgbClr val="3F6FD1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5212080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325880" y="5029200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Lanceo solo certificado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1325880" y="5394960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Solo S-13 certificado lancea la olla: careta, lanza ≥ 3 m y guantes sin grasa (MS-ACE-06).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6949440" y="1463040"/>
            <a:ext cx="4709160" cy="4754880"/>
          </a:xfrm>
          <a:prstGeom prst="roundRect">
            <a:avLst>
              <a:gd name="adj" fmla="val 1553"/>
            </a:avLst>
          </a:prstGeom>
          <a:solidFill>
            <a:srgbClr val="F4F5F9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7223760" y="164592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EPP OBLIGATORIO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7223760" y="2029968"/>
            <a:ext cx="42062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Chamarra y polainas aluminizadas secas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Careta con visor dorado o filtro IR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Casco con barbiquejo y guantes aluminizados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Botas de fundidor y ropa retardante a la flama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Protección auditiva y dosímetro personal (POE)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06 · SEGURIDAD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Arranque de CC: roja ≤ 10 m y bajo la máquina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MO-CC2-03 v0.1 (Borrador para validación) y FT-ACE-001 v0.3. Material de capacitación; no sustituye al manual. Figura: ms-zonas-exclusion-nave.svg.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750" dirty="0"/>
          </a:p>
        </p:txBody>
      </p:sp>
      <p:pic>
        <p:nvPicPr>
          <p:cNvPr id="7" name="Image 1" descr="/home/user/HR/10-plantas/01-steelmaking/img/png/ms-zonas-exclusion-nav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4292" y="1417320"/>
            <a:ext cx="5635256" cy="48463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Roja ≤ 10 m de molde y torreta, y bajo la máquina: solo S-12, S-13, S-14 y C-06.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Amarilla 10–20 m: personal autorizado tras barrera, con EPP completo.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Tiempo a refugio o zona verde: ≤ 30 s desde cualquier punto de la roja.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07 · CALIDAD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palanquilla de arranque se marca y se separa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MO-CC2-03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7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834640"/>
                <a:gridCol w="3017520"/>
                <a:gridCol w="26974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Variable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Especificación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y cuándo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 falla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Sobrecalentamiento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20–35 °C (1.ª colada: 25–40 °C)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 3–5 min y a los 10 min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Buza congelada o breakout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Química del distribuidor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Según grado (FT-ACE-001 §7)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 muestra a los 5–10 min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Colada fuera de grado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Estabilidad del nivel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± 5 mm después de la rampa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HMI continuo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Pinholes, inclusiones, marcas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Palanquillas de arranque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Marcadas 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Primera palanquilla de cada línea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Mezcla con producto normal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548640" y="5623560"/>
            <a:ext cx="11109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palanquilla A lleva la cabeza, la chatarra y el acero del arranque: se despunta ≈ 1,000 mm y se inspecciona aparte.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Dieciséis pasos; ocho no admiten error (1/3)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MO-CC2-03 v0.1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7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Verifica condiciones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Distribuidor ≥ 1,000 °C; 6 líneas listas; agua a caudal; tanque de emergencia y diésel en automático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Todo en verde en la lista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S-12, C-06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Establece la zona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Conteo; ≤ 10 m solo S-12, S-13, S-14 y C-06; fosa cerrada; radio y sirena ≥ 30 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Solo autorizados en la roja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C-06, S-13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Recibe la olla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S-09 la coloca en la torreta; verifica peso y temperatura de llegada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 de llegada según hoja LF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S-09, S-13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Gira a posición de colada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Torreta a posición; nadie bajo la olla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Olla sobre el distribuidor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Coloca el tubo con argón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Alinea el tubo protector y abre el argón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Sello sin fugas visibles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Abre la olla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Válvula al 100 %; si no abre libre en 30 s, lancea con O₂ según el procedimiento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Chorro estable al distribuidor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Llena, mide y prepara aceite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Distribuidor ≥ 400 mm; T a 3–5 min a 300 mm [Validar]; aceite 25 mL/min en L3 y L4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20–35 °C (1.ª: 25–40 °C)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S-13, S-14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Dieciséis pasos; ocho no admiten error (2/3)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MO-CC2-03 v0.1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7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Abre L3 y L4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Empuja la buza en lugar de la placa ciega; verifica el chorro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Chorro centrado y compacto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S-13, S-14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Arranca la extracción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 el nivel a ≈ 150 mm bajo el borde: 0.5 m/min con oscilación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Nivel estable; sin fuga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10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Pasa el nivel a automático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Cuando el nivel esté a ± 10 mm del punto de ajuste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± 5 mm en ≤ 60 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Aplica la rampa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Automática: 1.5 m/min en 60 s, luego ≥ 2.5 m/min en 60 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alarmas de nivel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Enciende el EMS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 pasar 1.5 m/min [Validar]; 250–400 A, 2–5 Hz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EMS en servicio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Abre L2-L5 y L1-L6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Aceite y pasos 8–12 en cada línea; 15–30 s entre líneas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6 líneas abiertas en ≤ 3 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S-12/13/14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Completa y desacopla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Distribuidor a 700–850 mm con capa de cubierta; la barra falsa se desacopla y se estaciona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Nivel de operación; barra fuera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S-13, S-12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Dieciséis pasos; ocho no admiten error (3/3)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MO-CC2-03 v0.1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7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Despunta, marca y muestrea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Corta ≈ 1,000 mm de cabeza; marca la palanquilla A; muestra a los 5–10 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Palanquilla A y muestra enviadas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S-16, S-11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Libera y registra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Libera la zona con las 6 líneas estables; registra aperturas, T y llenado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Hoja de arranque completa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C-06, S-12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09 · CONDICIONES ANORMALES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 una línea no arranca bien, ciérrala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MO-CC2-03 v0.1 (Borrador para validación) y FT-ACE-001 v0.3. Material de capacitación; no sustituye al manual. Serie MS-ACE-09 para emergencias.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7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6400800"/>
                <a:gridCol w="196596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Síntoma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Acción inmediata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Avisar 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La olla no abre libre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Lancea con O₂ (S-13 certificado); si en 3 min no abre, regresa la olla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C-06, S-08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Buza no fluye (L1 o L6)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Cambio rápido por buza caliente; si falla, placa ciega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Chorro abierto o en abanico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Cambia la buza (MO-CC2-06)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Molde a punto de desbordar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Sube la velocidad; a 60 mm del borde cierra la línea con placa ciega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Fuga en la cabeza de la barra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Cierra la línea; evacúa bajo la plataforma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Breakout al arranque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Cierra la línea, detén extracción, mantén agua; evacúa a ≥ 20 m; el ESR revisa el Cs-137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C-06, C-04, C-16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Falla de agua de molde o apagón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Emergencia en ≤ 15 s; cierra olla y 6 líneas; evacúa ≥ 10 m; sin agua a molde caliente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C-04, C-06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Sobrecalentamiento &lt; 15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 decide arrancar menos líneas o regresar la olla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C-06, C-07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COMPETENCIA Y CERTIFICACIÓN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Certificación nivel U: demostrar, no asistir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MO-CC2-03 v0.1 (Borrador para validación) y FT-ACE-001 v0.3. Material de capacitación; no sustituye al manual. TD-P07. ILUO: I Introducción · L Práctica supervisada · U Ejecución autónoma · O Dominio e instrucción.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4864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097280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Introducción y Conocimiento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2121408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121408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2670048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Aprendizaje y Práctica Supervisada</a:t>
            </a:r>
            <a:endParaRPr lang="en-US" sz="750" dirty="0"/>
          </a:p>
        </p:txBody>
      </p:sp>
      <p:sp>
        <p:nvSpPr>
          <p:cNvPr id="13" name="Shape 10"/>
          <p:cNvSpPr/>
          <p:nvPr/>
        </p:nvSpPr>
        <p:spPr>
          <a:xfrm>
            <a:off x="3694176" y="1554480"/>
            <a:ext cx="502920" cy="502920"/>
          </a:xfrm>
          <a:prstGeom prst="ellipse">
            <a:avLst/>
          </a:prstGeom>
          <a:solidFill>
            <a:srgbClr val="E8551B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694176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4242816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Ejecución Autónoma y Habilitada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5266944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266944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5815584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Dominio, Optimización e Instrucción</a:t>
            </a:r>
            <a:endParaRPr lang="en-US" sz="7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77440"/>
          <a:ext cx="65836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594360"/>
                <a:gridCol w="1097280"/>
                <a:gridCol w="1737360"/>
                <a:gridCol w="10515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ILUO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Teoría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OJT supervisado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Vigencia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S-12 Operador de Púlpito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h (simulador [Validar])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10 arranques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S-13 Operador de Plataforma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10 arranques; 3 lanceos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S-14 Ayudante de Colada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16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10 arranques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 Supervisor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16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5 arranques dirigidos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  <p:sp>
        <p:nvSpPr>
          <p:cNvPr id="20" name="Shape 16"/>
          <p:cNvSpPr/>
          <p:nvPr/>
        </p:nvSpPr>
        <p:spPr>
          <a:xfrm>
            <a:off x="7406640" y="1463040"/>
            <a:ext cx="4251960" cy="4754880"/>
          </a:xfrm>
          <a:prstGeom prst="roundRect">
            <a:avLst>
              <a:gd name="adj" fmla="val 1720"/>
            </a:avLst>
          </a:prstGeom>
          <a:solidFill>
            <a:srgbClr val="F4F5F9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7680960" y="16459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PASOS ★ QUE SE EVALÚAN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7680960" y="2029968"/>
            <a:ext cx="37490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Verifica condiciones de arranque, incluido el agua de emergencia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Establece y confirma la zona de exclusión y la fosa vacía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Abre las líneas en el orden correcto y con chorro centrado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Arranca la extracción en el nivel correcto y respeta la rampa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Cierra una línea con placa ciega ante desbordamiento, fuga o breakout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COMPETENCIA Y CERTIFICACIÓN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 la teoría a la certificación en seis pasos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MO-CC2-03 v0.1 (Borrador para validación) y FT-ACE-001 v0.3. Material de capacitación; no sustituye al manual. Registro de competencia en IMaS; constancia DC-3/SIRCE (obligación STPS).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1474470" y="1920240"/>
            <a:ext cx="9258300" cy="0"/>
          </a:xfrm>
          <a:prstGeom prst="line">
            <a:avLst/>
          </a:prstGeom>
          <a:noFill/>
          <a:ln w="12700">
            <a:solidFill>
              <a:srgbClr val="D6D8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291590" y="1737360"/>
            <a:ext cx="365760" cy="365760"/>
          </a:xfrm>
          <a:prstGeom prst="ellipse">
            <a:avLst/>
          </a:prstGeom>
          <a:solidFill>
            <a:srgbClr val="FF8C4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29159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Teoría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24 h (simulador [Validar])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143250" y="1737360"/>
            <a:ext cx="365760" cy="365760"/>
          </a:xfrm>
          <a:prstGeom prst="ellipse">
            <a:avLst/>
          </a:prstGeom>
          <a:solidFill>
            <a:srgbClr val="FC6A4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14325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244602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Autoevaluación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244602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≥ 80 %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4994910" y="1737360"/>
            <a:ext cx="365760" cy="365760"/>
          </a:xfrm>
          <a:prstGeom prst="ellipse">
            <a:avLst/>
          </a:prstGeom>
          <a:solidFill>
            <a:srgbClr val="EA345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99491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OJT supervisado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429768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arranques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6846570" y="1737360"/>
            <a:ext cx="365760" cy="36576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84657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614934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Evaluación práctica ★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614934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100 % pasos ★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8698230" y="1737360"/>
            <a:ext cx="365760" cy="365760"/>
          </a:xfrm>
          <a:prstGeom prst="ellipse">
            <a:avLst/>
          </a:prstGeom>
          <a:solidFill>
            <a:srgbClr val="AA0582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869823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800100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Registro IMaS y DC-3/SIRCE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800100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≤ 10 días hábiles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10549890" y="1737360"/>
            <a:ext cx="365760" cy="365760"/>
          </a:xfrm>
          <a:prstGeom prst="ellipse">
            <a:avLst/>
          </a:prstGeom>
          <a:solidFill>
            <a:srgbClr val="5B2A86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1054989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985266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Recertificación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985266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24 meses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548640" y="3429000"/>
            <a:ext cx="11109960" cy="2788920"/>
          </a:xfrm>
          <a:prstGeom prst="roundRect">
            <a:avLst>
              <a:gd name="adj" fmla="val 2623"/>
            </a:avLst>
          </a:prstGeom>
          <a:solidFill>
            <a:srgbClr val="F4F5F9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822960" y="3611880"/>
            <a:ext cx="10561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REGLAS DE LA CERTIFICACIÓN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822960" y="3995928"/>
            <a:ext cx="10515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certificación vale solo para el proceso y el rol evaluados; se suspende tras un incidente grave hasta reevaluar.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trabajador con experiencia puede solicitar la evaluación directa como examen de suficiencia (LFT art. 153-U).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certificación vigente no se ejecuta la tarea crítica: el permiso de trabajo lo bloquea.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AUTOEVALUACIÓN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Autoevaluación: cinco preguntas antes del OJT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MO-CC2-03 v0.1 (Borrador para validación) y FT-ACE-001 v0.3. Material de capacitación; no sustituye al manual. Respuestas en las notas del orador.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8" name="Shape 5"/>
          <p:cNvSpPr/>
          <p:nvPr/>
        </p:nvSpPr>
        <p:spPr>
          <a:xfrm>
            <a:off x="731520" y="1645920"/>
            <a:ext cx="457200" cy="457200"/>
          </a:xfrm>
          <a:prstGeom prst="ellipse">
            <a:avLst/>
          </a:prstGeom>
          <a:solidFill>
            <a:srgbClr val="FC6A4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29844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1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¿En qué orden se abren las líneas de la CC2?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L1-L6, L2-L5, L3-L4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L3-L4, L2-L5, L1-L6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De L1 a L6 en orden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29768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13" name="Shape 10"/>
          <p:cNvSpPr/>
          <p:nvPr/>
        </p:nvSpPr>
        <p:spPr>
          <a:xfrm>
            <a:off x="4480560" y="1645920"/>
            <a:ext cx="457200" cy="457200"/>
          </a:xfrm>
          <a:prstGeom prst="ellipse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2</a:t>
            </a:r>
            <a:endParaRPr lang="en-US" sz="800" dirty="0"/>
          </a:p>
        </p:txBody>
      </p:sp>
      <p:sp>
        <p:nvSpPr>
          <p:cNvPr id="15" name="Text 12"/>
          <p:cNvSpPr txBox="1"/>
          <p:nvPr/>
        </p:nvSpPr>
        <p:spPr>
          <a:xfrm>
            <a:off x="448056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¿Con qué nivel en el molde arranca la extracción?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448056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≈ 150 mm bajo el borde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≈ 50 mm bajo el borde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Molde lleno al borde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04672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18" name="Shape 15"/>
          <p:cNvSpPr/>
          <p:nvPr/>
        </p:nvSpPr>
        <p:spPr>
          <a:xfrm>
            <a:off x="8229600" y="1645920"/>
            <a:ext cx="457200" cy="457200"/>
          </a:xfrm>
          <a:prstGeom prst="ellipse">
            <a:avLst/>
          </a:prstGeom>
          <a:solidFill>
            <a:srgbClr val="EA345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79652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3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822960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¿Por qué no se sube la velocidad de golpe a 3.0 m/min?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822960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Porque se tapa la buza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Porque baja el sobrecalentamiento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Porque la piel delgada se rompe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4864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23" name="Shape 20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129844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4</a:t>
            </a:r>
            <a:endParaRPr lang="en-US" sz="800" dirty="0"/>
          </a:p>
        </p:txBody>
      </p:sp>
      <p:sp>
        <p:nvSpPr>
          <p:cNvPr id="25" name="Text 22"/>
          <p:cNvSpPr txBox="1"/>
          <p:nvPr/>
        </p:nvSpPr>
        <p:spPr>
          <a:xfrm>
            <a:off x="73152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¿Qué sobrecalentamiento se busca en la 1.ª colada de secuencia?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73152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10–20 °C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25–40 °C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45–60 °C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429768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28" name="Shape 25"/>
          <p:cNvSpPr/>
          <p:nvPr/>
        </p:nvSpPr>
        <p:spPr>
          <a:xfrm>
            <a:off x="4480560" y="4069080"/>
            <a:ext cx="457200" cy="457200"/>
          </a:xfrm>
          <a:prstGeom prst="ellipse">
            <a:avLst/>
          </a:prstGeom>
          <a:solidFill>
            <a:srgbClr val="C8136C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04748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5</a:t>
            </a:r>
            <a:endParaRPr lang="en-US" sz="800" dirty="0"/>
          </a:p>
        </p:txBody>
      </p:sp>
      <p:sp>
        <p:nvSpPr>
          <p:cNvPr id="30" name="Text 27"/>
          <p:cNvSpPr txBox="1"/>
          <p:nvPr/>
        </p:nvSpPr>
        <p:spPr>
          <a:xfrm>
            <a:off x="448056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¿Quién puede estar en la zona roja durante el arranque?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448056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Solo S-12, S-13, S-14 y C-06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Cualquier persona con EPP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Todo el turno de colada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804672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33" name="Shape 30"/>
          <p:cNvSpPr/>
          <p:nvPr/>
        </p:nvSpPr>
        <p:spPr>
          <a:xfrm>
            <a:off x="8229600" y="4069080"/>
            <a:ext cx="457200" cy="457200"/>
          </a:xfrm>
          <a:prstGeom prst="ellipse">
            <a:avLst/>
          </a:prstGeom>
          <a:solidFill>
            <a:srgbClr val="3F6FD1"/>
          </a:solidFill>
          <a:ln/>
        </p:spPr>
      </p:sp>
      <p:pic>
        <p:nvPicPr>
          <p:cNvPr id="3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8472" y="4187952"/>
            <a:ext cx="219456" cy="219456"/>
          </a:xfrm>
          <a:prstGeom prst="rect">
            <a:avLst/>
          </a:prstGeom>
        </p:spPr>
      </p:pic>
      <p:sp>
        <p:nvSpPr>
          <p:cNvPr id="35" name="Text 31"/>
          <p:cNvSpPr txBox="1"/>
          <p:nvPr/>
        </p:nvSpPr>
        <p:spPr>
          <a:xfrm>
            <a:off x="879652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3F6FD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CRITERIO</a:t>
            </a:r>
            <a:endParaRPr lang="en-US" sz="800" dirty="0"/>
          </a:p>
        </p:txBody>
      </p:sp>
      <p:sp>
        <p:nvSpPr>
          <p:cNvPr id="36" name="Text 32"/>
          <p:cNvSpPr txBox="1"/>
          <p:nvPr/>
        </p:nvSpPr>
        <p:spPr>
          <a:xfrm>
            <a:off x="822960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Mínimo 4 de 5 correctas</a:t>
            </a:r>
            <a:endParaRPr lang="en-US" sz="1250" dirty="0"/>
          </a:p>
        </p:txBody>
      </p:sp>
      <p:sp>
        <p:nvSpPr>
          <p:cNvPr id="37" name="Text 33"/>
          <p:cNvSpPr txBox="1"/>
          <p:nvPr/>
        </p:nvSpPr>
        <p:spPr>
          <a:xfrm>
            <a:off x="822960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 4 o más pasas al OJT supervisado. Con menos, repasa el manual con tu instructor y repite la autoevaluación.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11 · CIERRE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Reglas del arranque que no se negocian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Siguiente paso: OJT supervisado y evaluación práctica (TD-P07); registro en IMaS y DC-3/SIRCE. Validación: visto bueno técnica (pendientes: seguridad, laboral, diseño instruccional).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2029968"/>
            <a:ext cx="365760" cy="365760"/>
          </a:xfrm>
          <a:prstGeom prst="ellipse">
            <a:avLst/>
          </a:prstGeom>
          <a:solidFill>
            <a:srgbClr val="FF8C4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31520" y="2029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1280160" y="19933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agua de emergencia no se arranca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280160" y="23957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Tanque lleno y bombas diésel en automático, verificados en la lista.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126480" y="18288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309360" y="2029968"/>
            <a:ext cx="365760" cy="365760"/>
          </a:xfrm>
          <a:prstGeom prst="ellipse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309360" y="2029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6858000" y="19933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Nadie en la fosa ni bajo la máquina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858000" y="23957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Cerradas hasta que las 6 líneas estén estables y C-06 libere.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48640" y="32004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31520" y="3401568"/>
            <a:ext cx="365760" cy="36576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31520" y="3401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280160" y="33649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Orden y rampa del manual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280160" y="37673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Del centro a los extremos; nunca aceleres la rampa a mano.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126480" y="32004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309360" y="3401568"/>
            <a:ext cx="365760" cy="365760"/>
          </a:xfrm>
          <a:prstGeom prst="ellipse">
            <a:avLst/>
          </a:prstGeom>
          <a:solidFill>
            <a:srgbClr val="AA058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309360" y="3401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6858000" y="33649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Línea que no arranca bien, se cierra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6858000" y="37673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Desbordamiento, fuga o breakout: placa ciega de inmediato.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ArcelorMittal México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MO-CC2-03 — Arranque de colada por línea · Capacitación</dc:title>
  <dc:subject>PptxGenJS Presentation</dc:subject>
  <dc:creator>Gerencia de Capacitación y Desarrollo</dc:creator>
  <cp:lastModifiedBy>Gerencia de Capacitación y Desarrollo</cp:lastModifiedBy>
  <cp:revision>1</cp:revision>
  <dcterms:created xsi:type="dcterms:W3CDTF">2026-09-25T19:42:28Z</dcterms:created>
  <dcterms:modified xsi:type="dcterms:W3CDTF">2026-09-25T19:42:28Z</dcterms:modified>
</cp:coreProperties>
</file>