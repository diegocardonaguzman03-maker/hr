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Objetivo del curso: Oscilación, nivel y tapón exactos, y trabajo junto a la fuente de Cs-137 solo con obturador cerrado por el ESR. Principio rector: Si el radiámetro marca ≥ 2 × fondo con el obturador cerrado, nadie trabaja.
PUNTOS A CERRAR: Presentar a los participantes, el objetivo y la ruta de certificación (teoría → OJT → evaluación práctica).
[POR CONFIRMAR] Límites de dosis, periodicidad de pruebas de fuga y actividad de la fuente (licencia CNSNS / ESR) · Oscilación hidráulica en CC2 (supuesto) y tipo de aceite de la HPU · Frecuencia de cambio de servoválvulas (2–3 años)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objetivo como una conducta observable que se evaluará en campo.
PUNTOS A CERRAR: Confirmar que cada participante sabe en qué rol ejecutará el proceso.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R = ejecuta · A = dueño y responsable final · C = consultado · I = informado.
PUNTOS A CERRAR: Cada participante identifica su renglón y a quién escala.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Recorrer el flujo de izquierda a derecha; señalar las compuertas de decisión.
PUNTOS A CERRAR: Qué pasa si una condición previa no se cumple: no se avanza.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Usar la figura para ubicar cada componente en planta.
PUNTOS A CERRAR: Pedir a un participante que explique la figura con sus palabras.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Usar la figura para ubicar cada componente en planta.
PUNTOS A CERRAR: Pedir a un participante que explique la figura con sus palabras.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La columna resaltada es lo que se verifica ANTES de operar.
PUNTOS A CERRAR: Equipo que no pasa la verificación = no se opera; se reporta.
[POR CONFIRMAR] Especificaciones marcadas en la tabla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renglón: objetivo, rango normal, alarma y la acción (columna resaltada).
PUNTOS A CERRAR: Ejercicio: dar un valor fuera de rango y pedir la acción correcta.
[POR CONFIRMAR] Oscilación hidráulica en CC2 [Supuesto]. Límites de dosis, pruebas de fuga y actividad de la fuente: según licencia CNSNS y el ESR [Validar].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Los controles con ★ son críticos: si fallan puede haber una fatalidad. Se evalúan en la certificación.
PUNTOS A CERRAR: Cualquier persona puede y debe detener el trabajo si un control crítico no está.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Ubicar en la figura dónde está cada persona durante el proceso.
PUNTOS A CERRAR: Distancias y rutas de escape: preguntar a cada participante la suya.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Relacionar cada variable con el defecto que causa aguas abajo.
PUNTOS A CERRAR: Quién registra cada variable y dónde.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paso y demostrar en campo o simulador los pasos ★ (renglones resaltados).
PUNTOS A CERRAR: Los pasos ★ no se omiten ni se cambian de orden.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paso y demostrar en campo o simulador los pasos ★ (renglones resaltados).
PUNTOS A CERRAR: Los pasos ★ no se omiten ni se cambian de orden.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Practicar cada renglón como simulacro de mesa: síntoma → acción → a quién avisar.
PUNTOS A CERRAR: Nadie improvisa: si no está aquí, se detiene y se escala al supervisor.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Nivel requerido: U (Ejecución Autónoma y Habilitada). La evaluación es práctica, ante evaluador certificado, sobre los pasos ★.
PUNTOS A CERRAR: Quien no demuestra todos los pasos ★ queda "aún no competente" y repite OJT dirigido.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Explicar la ruta completa y los tiempos.
PUNTOS A CERRAR: Aclarar que la evaluación no es sanción: es la evidencia de que la persona puede trabajar segura.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RESPUESTAS:
1) b) Solo el ESR (C-16) — Solo el ESR con licencia CNSNS opera el obturador, pone su candado y mide la tasa de dosis.
2) b) No trabajar; alejarse ≥ 3 m — ≥ 2 × fondo es alto: alejarse, delimitar y el ESR aplica el plan de emergencia (MS-ACE-07).
3) a) 0.15 mm — Objetivo ≤ 0.10 mm, tolerancia ≤ 0.15 mm; arriba de 0.20 mm se cambian resortes o guías.
4) b) Solo el hidráulico necesario — Solo el LOTO hidráulico necesario para oscilar, con el personal fuera de la mesa.
5) b) 3–8 NL/min — 3–8 NL/min estable: poco tapa la SEN (clogging); mucho deja pinholes.
CÓMO EXPLICARLA: dar 5 minutos; revisar en grupo. PUNTOS A CERRAR: mínimo 4 de 5 correctas para pasar a OJT.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Cerrar con las reglas que no se negocian; cada participante repite la regla más importante para su rol.
PUNTOS A CERRAR: Agendar OJT con el supervisor y el evaluador.
[POR CONFIRMAR] Límites de dosis, periodicidad de pruebas de fuga y actividad de la fuente (licencia CNSNS / ESR) · Oscilación hidráulica en CC2 (supuesto) y tipo de aceite de la HPU · Frecuencia de cambio de servoválvulas (2–3 años)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HR/2e49314e-011f-5c3a-b225-07e067b46c12/scratchpad/ammx/assets/am_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20040"/>
            <a:ext cx="960120" cy="39652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914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CAPACITACIÓN TÉCNICA · MANTENIMIENTO · MM-CC-04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298448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Oscilación, nivel y Cs-137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28600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Oscilación, nivel y tapón exactos, y trabajo junto a la fuente de Cs-137 solo con obturador cerrado por el ESR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24 h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teoría (S-21) + curso POE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56032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69748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3200" dirty="0"/>
          </a:p>
        </p:txBody>
      </p:sp>
      <p:sp>
        <p:nvSpPr>
          <p:cNvPr id="11" name="Text 8"/>
          <p:cNvSpPr txBox="1"/>
          <p:nvPr/>
        </p:nvSpPr>
        <p:spPr>
          <a:xfrm>
            <a:off x="269748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calibraciones con ESR (OJT)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57200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70916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9</a:t>
            </a:r>
            <a:endParaRPr lang="en-US" sz="3200" dirty="0"/>
          </a:p>
        </p:txBody>
      </p:sp>
      <p:sp>
        <p:nvSpPr>
          <p:cNvPr id="14" name="Text 11"/>
          <p:cNvSpPr txBox="1"/>
          <p:nvPr/>
        </p:nvSpPr>
        <p:spPr>
          <a:xfrm>
            <a:off x="470916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pasos críticos ★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58368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72084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12</a:t>
            </a:r>
            <a:endParaRPr lang="en-US" sz="3200" dirty="0"/>
          </a:p>
        </p:txBody>
      </p:sp>
      <p:sp>
        <p:nvSpPr>
          <p:cNvPr id="17" name="Text 14"/>
          <p:cNvSpPr txBox="1"/>
          <p:nvPr/>
        </p:nvSpPr>
        <p:spPr>
          <a:xfrm>
            <a:off x="672084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meses radiológica (POE)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9208008" y="1325880"/>
            <a:ext cx="0" cy="3505200"/>
          </a:xfrm>
          <a:prstGeom prst="line">
            <a:avLst/>
          </a:prstGeom>
          <a:noFill/>
          <a:ln w="12700">
            <a:solidFill>
              <a:srgbClr val="8A8CA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025128" y="1143000"/>
            <a:ext cx="365760" cy="365760"/>
          </a:xfrm>
          <a:prstGeom prst="ellipse">
            <a:avLst/>
          </a:prstGeom>
          <a:solidFill>
            <a:srgbClr val="FF8C47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025128" y="1143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9528048" y="112471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Línea sin acero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9025128" y="1844040"/>
            <a:ext cx="365760" cy="365760"/>
          </a:xfrm>
          <a:prstGeom prst="ellipse">
            <a:avLst/>
          </a:prstGeom>
          <a:solidFill>
            <a:srgbClr val="FC6A45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025128" y="1844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9528048" y="182575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ESR cierra y mide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9025128" y="2545080"/>
            <a:ext cx="365760" cy="365760"/>
          </a:xfrm>
          <a:prstGeom prst="ellipse">
            <a:avLst/>
          </a:prstGeom>
          <a:solidFill>
            <a:srgbClr val="FA4642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025128" y="2545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9528048" y="252679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LOTO y energía cero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9025128" y="3246120"/>
            <a:ext cx="365760" cy="365760"/>
          </a:xfrm>
          <a:prstGeom prst="ellipse">
            <a:avLst/>
          </a:prstGeom>
          <a:solidFill>
            <a:srgbClr val="DB2259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9025128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9528048" y="322783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Análisis de oscilación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9025128" y="3947160"/>
            <a:ext cx="365760" cy="365760"/>
          </a:xfrm>
          <a:prstGeom prst="ellipse">
            <a:avLst/>
          </a:prstGeom>
          <a:solidFill>
            <a:srgbClr val="C8136C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9025128" y="3947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9528048" y="392887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Calibrar nivel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9025128" y="4648200"/>
            <a:ext cx="365760" cy="365760"/>
          </a:xfrm>
          <a:prstGeom prst="ellipse">
            <a:avLst/>
          </a:prstGeom>
          <a:solidFill>
            <a:srgbClr val="AA0582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9025128" y="4648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9528048" y="462991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Liberación con ESR</a:t>
            </a:r>
            <a:endParaRPr lang="en-US" sz="1150" dirty="0"/>
          </a:p>
        </p:txBody>
      </p:sp>
      <p:sp>
        <p:nvSpPr>
          <p:cNvPr id="37" name="Text 34"/>
          <p:cNvSpPr txBox="1"/>
          <p:nvPr/>
        </p:nvSpPr>
        <p:spPr>
          <a:xfrm>
            <a:off x="548640" y="53492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Para: S-21 Instrumentista (POE) · S-22 Técnico Hidráulico · S-19 Mecánico · C-16 (ESR) · personal de CC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548640" y="6446520"/>
            <a:ext cx="10058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MM-CC-04 v0.2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39" name="Text 36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· OBJETIVOS DE APRENDIZAJE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 terminar, calibras sin exponerte a radiación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MM-CC-04 v0.2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566928" cy="566928"/>
          </a:xfrm>
          <a:prstGeom prst="ellipse">
            <a:avLst/>
          </a:prstGeom>
          <a:solidFill>
            <a:srgbClr val="FF8C47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700784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25880" y="1517904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Trabajar con la fuente cerrada</a:t>
            </a:r>
            <a:endParaRPr lang="en-US" sz="1350" dirty="0"/>
          </a:p>
        </p:txBody>
      </p:sp>
      <p:sp>
        <p:nvSpPr>
          <p:cNvPr id="10" name="Text 6"/>
          <p:cNvSpPr txBox="1"/>
          <p:nvPr/>
        </p:nvSpPr>
        <p:spPr>
          <a:xfrm>
            <a:off x="1325880" y="1883664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ESR cierra el obturador, pone su candado y mide &lt; 2 × fondo en el punto de trabajo y a 1 m del detector.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2724912"/>
            <a:ext cx="566928" cy="566928"/>
          </a:xfrm>
          <a:prstGeom prst="ellipse">
            <a:avLst/>
          </a:prstGeom>
          <a:solidFill>
            <a:srgbClr val="FA4642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2871216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25880" y="2688336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Aislar hidráulica, argón y tapón</a:t>
            </a:r>
            <a:endParaRPr lang="en-US" sz="1350" dirty="0"/>
          </a:p>
        </p:txBody>
      </p:sp>
      <p:sp>
        <p:nvSpPr>
          <p:cNvPr id="14" name="Text 9"/>
          <p:cNvSpPr txBox="1"/>
          <p:nvPr/>
        </p:nvSpPr>
        <p:spPr>
          <a:xfrm>
            <a:off x="1325880" y="3054096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HPU con acumuladores a 0 bar, argón cerrado, perno del tapón y tableros bloqueados; prueba de energía cero.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48640" y="3895344"/>
            <a:ext cx="566928" cy="566928"/>
          </a:xfrm>
          <a:prstGeom prst="ellipse">
            <a:avLst/>
          </a:prstGeom>
          <a:solidFill>
            <a:srgbClr val="DB2259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4041648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325880" y="3858768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Medir la oscilación</a:t>
            </a:r>
            <a:endParaRPr lang="en-US" sz="1350" dirty="0"/>
          </a:p>
        </p:txBody>
      </p:sp>
      <p:sp>
        <p:nvSpPr>
          <p:cNvPr id="18" name="Text 12"/>
          <p:cNvSpPr txBox="1"/>
          <p:nvPr/>
        </p:nvSpPr>
        <p:spPr>
          <a:xfrm>
            <a:off x="1325880" y="4224528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Acelerómetros triaxiales a 3 frecuencias: ±1 cpm, carrera ±0.1 mm y juego lateral ≤ 0.15 mm.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548640" y="5065776"/>
            <a:ext cx="566928" cy="566928"/>
          </a:xfrm>
          <a:prstGeom prst="ellipse">
            <a:avLst/>
          </a:prstGeom>
          <a:solidFill>
            <a:srgbClr val="AA0582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" y="5212080"/>
            <a:ext cx="274320" cy="27432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325880" y="5029200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Calibrar nivel y tapón</a:t>
            </a:r>
            <a:endParaRPr lang="en-US" sz="1350" dirty="0"/>
          </a:p>
        </p:txBody>
      </p:sp>
      <p:sp>
        <p:nvSpPr>
          <p:cNvPr id="22" name="Text 15"/>
          <p:cNvSpPr txBox="1"/>
          <p:nvPr/>
        </p:nvSpPr>
        <p:spPr>
          <a:xfrm>
            <a:off x="1325880" y="5394960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Radiométrico CC2 ±2 % en 2 puntos; corrientes parásitas CC1 ±1 mm; juego del tapón ≤ 0.5 mm.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6675120" y="1463040"/>
            <a:ext cx="4983480" cy="4754880"/>
          </a:xfrm>
          <a:prstGeom prst="roundRect">
            <a:avLst>
              <a:gd name="adj" fmla="val 1538"/>
            </a:avLst>
          </a:prstGeom>
          <a:solidFill>
            <a:srgbClr val="F4F5F9"/>
          </a:solidFill>
          <a:ln/>
        </p:spPr>
      </p:sp>
      <p:sp>
        <p:nvSpPr>
          <p:cNvPr id="24" name="Text 17"/>
          <p:cNvSpPr txBox="1"/>
          <p:nvPr/>
        </p:nvSpPr>
        <p:spPr>
          <a:xfrm>
            <a:off x="6949440" y="164592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POR QUÉ IMPORTA</a:t>
            </a:r>
            <a:endParaRPr lang="en-US" sz="1000" dirty="0"/>
          </a:p>
        </p:txBody>
      </p:sp>
      <p:sp>
        <p:nvSpPr>
          <p:cNvPr id="25" name="Text 18"/>
          <p:cNvSpPr txBox="1"/>
          <p:nvPr/>
        </p:nvSpPr>
        <p:spPr>
          <a:xfrm>
            <a:off x="6949440" y="2029968"/>
            <a:ext cx="4434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oscilación evita que la cáscara se pegue; el nivel estable evita atrapar escoria; el tapón regula el flujo. Si fallan: marcas profundas, grietas, pinholes o breakout. En CC2 cada molde tiene una fuente sellada de Cs-137: tiempo, distancia y blindaje, y solo el ESR la opera.</a:t>
            </a:r>
            <a:endParaRPr lang="en-US" sz="1200" dirty="0"/>
          </a:p>
        </p:txBody>
      </p:sp>
      <p:sp>
        <p:nvSpPr>
          <p:cNvPr id="26" name="Text 19"/>
          <p:cNvSpPr txBox="1"/>
          <p:nvPr/>
        </p:nvSpPr>
        <p:spPr>
          <a:xfrm>
            <a:off x="6949440" y="4681728"/>
            <a:ext cx="4434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 el radiámetro marca ≥ 2 × fondo con el obturador cerrado, nadie trabaja.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· ROLES Y RESPONSABILIDADES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Solo el ESR opera el obturador de la fuente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MM-CC-04 v0.2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6720840"/>
                <a:gridCol w="100584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Qué hace en oscilación, nivel y fuente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RACI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C-12 Supervisor Eléctrico e Instrumentación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Dueño; OT y liberación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S-22 Técnico Hidráulico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HPU, servoválvulas, cilindros, acumuladores y aceite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S-21 Instrumentista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Transductores, sensor de nivel, detector y análisis de oscilación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C-16 como ESR (licencia CNSNS)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Único que opera el obturador, bloquea, mide dosis y hace pruebas de fuga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 / A (radiación)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POE (S-21 designados)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Trabajo en el detector con dosímetro personal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S-19 Mecánico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Resortes y guías de oscilación; mecanismo de barra tapón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C-08 Ingeniero de Proceso de CC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Parámetros de oscilación y de control de nivel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C-06 Supervisor de CC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Autoriza la línea sin acero; firma la liberación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 (operación)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· EL PROCESO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En CC2, primero la fuente cerrada; después el LOTO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MM-CC-04 v0.2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1307592" cy="640080"/>
          </a:xfrm>
          <a:prstGeom prst="homePlate">
            <a:avLst/>
          </a:prstGeom>
          <a:solidFill>
            <a:srgbClr val="FF8C47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1323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OT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Línea sin acero; autorización de C-06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1783080" y="1691640"/>
            <a:ext cx="1307592" cy="640080"/>
          </a:xfrm>
          <a:prstGeom prst="chevron">
            <a:avLst/>
          </a:prstGeom>
          <a:solidFill>
            <a:srgbClr val="FC6A45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94767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Fuente cerrada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82880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ESR cierra, candado, &lt; 2 × fondo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017520" y="1691640"/>
            <a:ext cx="1307592" cy="640080"/>
          </a:xfrm>
          <a:prstGeom prst="chevron">
            <a:avLst/>
          </a:prstGeom>
          <a:solidFill>
            <a:srgbClr val="FA464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318211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LOTO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306324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Hidráulica, eléctrica, argón y tapón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4251960" y="1691640"/>
            <a:ext cx="1307592" cy="640080"/>
          </a:xfrm>
          <a:prstGeom prst="chevron">
            <a:avLst/>
          </a:prstGeom>
          <a:solidFill>
            <a:srgbClr val="EA3450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41655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Energía cero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429768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No oscila ni mueve; 0 bar; 0 V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5486400" y="1691640"/>
            <a:ext cx="1307592" cy="640080"/>
          </a:xfrm>
          <a:prstGeom prst="chevron">
            <a:avLst/>
          </a:prstGeom>
          <a:solidFill>
            <a:srgbClr val="DB2259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565099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Mantener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553212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Mesa, resortes, detector, tapón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6720840" y="1691640"/>
            <a:ext cx="1307592" cy="640080"/>
          </a:xfrm>
          <a:prstGeom prst="chevron">
            <a:avLst/>
          </a:prstGeom>
          <a:solidFill>
            <a:srgbClr val="DB2259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688543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Oscilar y medir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676656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Solo E-H retirado; 3 frecuencias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7955280" y="1691640"/>
            <a:ext cx="1307592" cy="640080"/>
          </a:xfrm>
          <a:prstGeom prst="chevron">
            <a:avLst/>
          </a:prstGeom>
          <a:solidFill>
            <a:srgbClr val="C8136C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811987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ESR abre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800100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Personal fuera de la zona controlada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9189720" y="1691640"/>
            <a:ext cx="1307592" cy="640080"/>
          </a:xfrm>
          <a:prstGeom prst="chevron">
            <a:avLst/>
          </a:prstGeom>
          <a:solidFill>
            <a:srgbClr val="AA0582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935431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Calibrar nivel</a:t>
            </a:r>
            <a:endParaRPr lang="en-US" sz="900" dirty="0"/>
          </a:p>
        </p:txBody>
      </p:sp>
      <p:sp>
        <p:nvSpPr>
          <p:cNvPr id="30" name="Text 27"/>
          <p:cNvSpPr txBox="1"/>
          <p:nvPr/>
        </p:nvSpPr>
        <p:spPr>
          <a:xfrm>
            <a:off x="923544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 puntos, ±2 %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10424160" y="1691640"/>
            <a:ext cx="1307592" cy="640080"/>
          </a:xfrm>
          <a:prstGeom prst="chevron">
            <a:avLst/>
          </a:prstGeom>
          <a:solidFill>
            <a:srgbClr val="5B2A86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1058875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Liberar</a:t>
            </a:r>
            <a:endParaRPr lang="en-US" sz="900" dirty="0"/>
          </a:p>
        </p:txBody>
      </p:sp>
      <p:sp>
        <p:nvSpPr>
          <p:cNvPr id="33" name="Text 30"/>
          <p:cNvSpPr txBox="1"/>
          <p:nvPr/>
        </p:nvSpPr>
        <p:spPr>
          <a:xfrm>
            <a:off x="1046988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Firma C-12, ESR y C-06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548640" y="3703320"/>
            <a:ext cx="11109960" cy="2514600"/>
          </a:xfrm>
          <a:prstGeom prst="roundRect">
            <a:avLst>
              <a:gd name="adj" fmla="val 2909"/>
            </a:avLst>
          </a:prstGeom>
          <a:solidFill>
            <a:srgbClr val="F4F5F9"/>
          </a:solidFill>
          <a:ln/>
        </p:spPr>
      </p:sp>
      <p:sp>
        <p:nvSpPr>
          <p:cNvPr id="35" name="Text 32"/>
          <p:cNvSpPr txBox="1"/>
          <p:nvPr/>
        </p:nvSpPr>
        <p:spPr>
          <a:xfrm>
            <a:off x="822960" y="3886200"/>
            <a:ext cx="10561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PRINCIPIO DEL PROCESO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822960" y="43159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candado del ESR es el primero en ponerse y el último en quitarse.</a:t>
            </a:r>
            <a:endParaRPr lang="en-US" sz="1200" dirty="0"/>
          </a:p>
        </p:txBody>
      </p:sp>
      <p:sp>
        <p:nvSpPr>
          <p:cNvPr id="37" name="Text 34"/>
          <p:cNvSpPr txBox="1"/>
          <p:nvPr/>
        </p:nvSpPr>
        <p:spPr>
          <a:xfrm>
            <a:off x="822960" y="513892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 el radiámetro marca ≥ 2 × fondo con el obturador cerrado, nadie trabaja.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· EL PROCESO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sensor de nivel manda la barra tapón en CC1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MM-CC-04 v0.2 (Borrador para validación) y FT-ACE-001 v0.3. Material de capacitación; no sustituye al manual. Figura: cc1-molde-nivel.svg.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50" dirty="0"/>
          </a:p>
        </p:txBody>
      </p:sp>
      <p:pic>
        <p:nvPicPr>
          <p:cNvPr id="7" name="Image 1" descr="/home/user/HR/10-plantas/01-steelmaking/img/png/cc1-molde-nive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2970" y="1417320"/>
            <a:ext cx="6057900" cy="48463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543800" y="1463040"/>
            <a:ext cx="4114800" cy="4754880"/>
          </a:xfrm>
          <a:prstGeom prst="roundRect">
            <a:avLst>
              <a:gd name="adj" fmla="val 1778"/>
            </a:avLst>
          </a:prstGeom>
          <a:solidFill>
            <a:srgbClr val="F4F5F9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7818120" y="1645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LECTURA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7772400" y="2029968"/>
            <a:ext cx="3657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CC1: el sensor de corrientes parásitas mide el nivel (±3 mm normal, ±8 mm alarma).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controlador abre o cierra la barra tapón para sostener el nivel con velocidad constante.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Oscilación hidráulica no senoidal: 120–200 cpm y carrera 4–8 mm.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· EL PROCESO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En CC2 la fuente de Cs-137 mide el nivel del tubo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MM-CC-04 v0.2 (Borrador para validación) y FT-ACE-001 v0.3. Material de capacitación; no sustituye al manual. Figura: cc2-molde-tubo.svg.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50" dirty="0"/>
          </a:p>
        </p:txBody>
      </p:sp>
      <p:pic>
        <p:nvPicPr>
          <p:cNvPr id="7" name="Image 1" descr="/home/user/HR/10-plantas/01-steelmaking/img/png/cc2-molde-tub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292" y="1417320"/>
            <a:ext cx="5635256" cy="48463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543800" y="1463040"/>
            <a:ext cx="4114800" cy="4754880"/>
          </a:xfrm>
          <a:prstGeom prst="roundRect">
            <a:avLst>
              <a:gd name="adj" fmla="val 1778"/>
            </a:avLst>
          </a:prstGeom>
          <a:solidFill>
            <a:srgbClr val="F4F5F9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7818120" y="1645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LECTURA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7772400" y="2029968"/>
            <a:ext cx="3657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fuente sellada con obturador emite a través del molde; el detector de centelleo mide nivel ±5 mm.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zona alrededor es controlada y señalizada con el trébol de radiación.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Antes de intervenir: obturador cerrado con candado, medición con el ESR y dosímetro personal.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· EQUIPOS Y MAQUINARIA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Doce equipos controlan la interfaz acero–molde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MM-CC-04 v0.2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743200"/>
                <a:gridCol w="3291840"/>
                <a:gridCol w="269748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Equipo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Función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Especificación clave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Verificar antes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HPU de CC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Presión para oscilar, tapón, ancho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ISO VG 46 o HFC [Validar]; 3 µm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ISO 4406 ≤ 15/13/10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Servoválvulas y cilindros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Perfil y carrera de oscilación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Carrera 4–8 (CC1) / 6–10 mm (CC2)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Seguimiento ≤ 2 %; carrera ±0.1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Resortes de lámina y guías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Guiar la mesa sin juego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Sin grietas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Juego lateral ≤ 0.15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Sensor de corrientes parásitas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Nivel CC1 ±3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Enfriado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Linealidad ±1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Barra tapón y argón (CC1)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Regular flujo; 3–8 NL/min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Servo hidráulico o eléctrico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Juego ≤ 0.5 mm; sin fugas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Portafuente Cs-137 (CC2)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Emitir a través del molde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Fuente sellada, licencia CNSNS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Obturador, señalización, candado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Detector y radiámetro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Nivel ±5 mm; verificar dosis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Centelleo; radiámetro calibrado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Cuentas estables; certificado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· PARÁMETROS DE OPERACIÓN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Juego lateral &gt; 0.20 mm o dosis ≥ 2 × fondo: alto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MM-CC-04 v0.2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1737360"/>
                <a:gridCol w="2057400"/>
                <a:gridCol w="2103120"/>
                <a:gridCol w="288036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Especificación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Objetivo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Tolerancia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Límite / rechazo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Frecuencia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Frecuencia de oscilación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Ajuste del modelo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±1 cpm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±3 cpm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Mensual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Carrera real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Ajuste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±0.1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±0.3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Mensual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Juego lateral de la mesa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≤ 0.10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≤ 0.15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&gt; 0.20 mm: resortes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Mensual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Limpieza de aceite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15/13/10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≤ 16/14/11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&gt; 17/15/12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Mensual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Linealidad nivel CC1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±0.5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±1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&gt; ±2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Cambio de molde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Juego del tapón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≤ 0.3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≤ 0.5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&gt; 1.0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Cada distribuidor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Calibración radiométrica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 puntos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±2 %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&gt; ±5 %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Cambio de tubo; mensual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Dosis, obturador cerrado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Fondo 0.1–0.3 µSv/h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&lt; 2 × fondo [Validar]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≥ 2 × fondo: alto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Cada intervención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48640" y="5897880"/>
            <a:ext cx="11109960" cy="365760"/>
          </a:xfrm>
          <a:prstGeom prst="rect">
            <a:avLst/>
          </a:prstGeom>
          <a:solidFill>
            <a:srgbClr val="FFF4D6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640080" y="5897880"/>
            <a:ext cx="10927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A5A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POR CONFIRMAR  </a:t>
            </a:r>
            <a:pPr indent="0" marL="0">
              <a:buNone/>
            </a:pPr>
            <a:r>
              <a:rPr lang="en-US" sz="950" dirty="0">
                <a:solidFill>
                  <a:srgbClr val="8A5A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Oscilación hidráulica en CC2 [Supuesto]. Límites de dosis, pruebas de fuga y actividad de la fuente: según licencia CNSNS y el ESR [Validar].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· SEGURIDAD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Radiación, hidráulica y argón: tres energías ocultas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MM-CC-04 v0.2 (Borrador para validación) y FT-ACE-001 v0.3. Material de capacitación; no sustituye al manual. Serie MS-ACE.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566928" cy="566928"/>
          </a:xfrm>
          <a:prstGeom prst="ellipse">
            <a:avLst/>
          </a:prstGeom>
          <a:solidFill>
            <a:srgbClr val="FA4642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700784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25880" y="1517904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★ Fuente cerrada por el ESR</a:t>
            </a:r>
            <a:endParaRPr lang="en-US" sz="1350" dirty="0"/>
          </a:p>
        </p:txBody>
      </p:sp>
      <p:sp>
        <p:nvSpPr>
          <p:cNvPr id="10" name="Text 6"/>
          <p:cNvSpPr txBox="1"/>
          <p:nvPr/>
        </p:nvSpPr>
        <p:spPr>
          <a:xfrm>
            <a:off x="1325880" y="1883664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Solo el ESR (C-16) opera el obturador y pone su candado; radiámetro &lt; 2 × fondo antes de trabajar (MS-ACE-07).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2724912"/>
            <a:ext cx="566928" cy="566928"/>
          </a:xfrm>
          <a:prstGeom prst="ellipse">
            <a:avLst/>
          </a:prstGeom>
          <a:solidFill>
            <a:srgbClr val="DB2259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2871216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25880" y="2688336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★ LOTO de hidráulica, argón y tapón</a:t>
            </a:r>
            <a:endParaRPr lang="en-US" sz="1350" dirty="0"/>
          </a:p>
        </p:txBody>
      </p:sp>
      <p:sp>
        <p:nvSpPr>
          <p:cNvPr id="14" name="Text 9"/>
          <p:cNvSpPr txBox="1"/>
          <p:nvPr/>
        </p:nvSpPr>
        <p:spPr>
          <a:xfrm>
            <a:off x="1325880" y="3054096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HPU con acumuladores a 0 bar, tableros de servos y detector, argón cerrado, perno del tapón y carro de distribuidor bloqueado.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48640" y="3895344"/>
            <a:ext cx="566928" cy="566928"/>
          </a:xfrm>
          <a:prstGeom prst="ellipse">
            <a:avLst/>
          </a:prstGeom>
          <a:solidFill>
            <a:srgbClr val="AA0582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4041648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325880" y="3858768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★ Prueba de energía cero</a:t>
            </a:r>
            <a:endParaRPr lang="en-US" sz="1350" dirty="0"/>
          </a:p>
        </p:txBody>
      </p:sp>
      <p:sp>
        <p:nvSpPr>
          <p:cNvPr id="18" name="Text 12"/>
          <p:cNvSpPr txBox="1"/>
          <p:nvPr/>
        </p:nvSpPr>
        <p:spPr>
          <a:xfrm>
            <a:off x="1325880" y="4224528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Intento de oscilar y de mover el tapón desde HMI rechazado; 0 bar; detector de tensión; radiámetro en el punto de trabajo.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548640" y="5065776"/>
            <a:ext cx="566928" cy="566928"/>
          </a:xfrm>
          <a:prstGeom prst="ellipse">
            <a:avLst/>
          </a:prstGeom>
          <a:solidFill>
            <a:srgbClr val="3F6FD1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" y="5212080"/>
            <a:ext cx="274320" cy="27432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325880" y="5029200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★ Argón y metal cercano</a:t>
            </a:r>
            <a:endParaRPr lang="en-US" sz="1350" dirty="0"/>
          </a:p>
        </p:txBody>
      </p:sp>
      <p:sp>
        <p:nvSpPr>
          <p:cNvPr id="22" name="Text 15"/>
          <p:cNvSpPr txBox="1"/>
          <p:nvPr/>
        </p:nvSpPr>
        <p:spPr>
          <a:xfrm>
            <a:off x="1325880" y="5394960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O₂ 19.5–23.5 % en zonas bajas (MS-ACE-06); distribuidor retirado y EPP térmico entre secuencias.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6949440" y="1463040"/>
            <a:ext cx="4709160" cy="4754880"/>
          </a:xfrm>
          <a:prstGeom prst="roundRect">
            <a:avLst>
              <a:gd name="adj" fmla="val 1553"/>
            </a:avLst>
          </a:prstGeom>
          <a:solidFill>
            <a:srgbClr val="F4F5F9"/>
          </a:solidFill>
          <a:ln/>
        </p:spPr>
      </p:sp>
      <p:sp>
        <p:nvSpPr>
          <p:cNvPr id="24" name="Text 17"/>
          <p:cNvSpPr txBox="1"/>
          <p:nvPr/>
        </p:nvSpPr>
        <p:spPr>
          <a:xfrm>
            <a:off x="7223760" y="164592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EPP OBLIGATORIO</a:t>
            </a:r>
            <a:endParaRPr lang="en-US" sz="1000" dirty="0"/>
          </a:p>
        </p:txBody>
      </p:sp>
      <p:sp>
        <p:nvSpPr>
          <p:cNvPr id="25" name="Text 18"/>
          <p:cNvSpPr txBox="1"/>
          <p:nvPr/>
        </p:nvSpPr>
        <p:spPr>
          <a:xfrm>
            <a:off x="7223760" y="2029968"/>
            <a:ext cx="42062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Casco, lentes y ropa FR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Guantes de nitrilo para aceite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Botas metatarsales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Dosímetro personal (POE y zona controlada)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Radiámetro con el ESR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· SEGURIDAD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HPU de oscilación a 0 bar y obturador del ESR cerrado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MM-CC-04 v0.2 (Borrador para validación) y FT-ACE-001 v0.3. Material de capacitación; no sustituye al manual. Figura: ms-loto-puntos-cc.svg.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750" dirty="0"/>
          </a:p>
        </p:txBody>
      </p:sp>
      <p:pic>
        <p:nvPicPr>
          <p:cNvPr id="7" name="Image 1" descr="/home/user/HR/10-plantas/01-steelmaking/img/png/ms-loto-puntos-c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206" y="1417320"/>
            <a:ext cx="5769429" cy="48463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543800" y="1463040"/>
            <a:ext cx="4114800" cy="4754880"/>
          </a:xfrm>
          <a:prstGeom prst="roundRect">
            <a:avLst>
              <a:gd name="adj" fmla="val 1778"/>
            </a:avLst>
          </a:prstGeom>
          <a:solidFill>
            <a:srgbClr val="F4F5F9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7818120" y="1645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LECTURA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7772400" y="2029968"/>
            <a:ext cx="3657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HPU de oscilación y barra tapón: bomba bloqueada, acumuladores a 0 bar y cilindro apoyado.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Cs-137: obturador cerrado y candado del ESR; solo el ESR o personal POE autorizado lo opera.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Medición a 1 m y en el punto de trabajo: fondo (≈ 0.1–0.3 µSv/h) o &lt; 2 × fondo.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· CALIDAD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Oscilación y nivel se leen en las marcas del producto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MM-CC-04 v0.2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7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834640"/>
                <a:gridCol w="3017520"/>
                <a:gridCol w="26974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Variable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Especificación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Cómo y cuándo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 falla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Carrera y frecuencia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Ajuste ±0.1 mm / ±1 cpm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Analizador, mensual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Marcas profundas, pegado, breakout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Juego lateral de la mesa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≤ 0.15 mm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Analizador, mensual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Grietas longitudinales, depresiones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Estabilidad de nivel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CC1 ±3 mm; CC2 ±5 mm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Continuo (HMI)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Escoria atrapada, sliver, pinholes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Respuesta del tapón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Juego ≤ 0.5 mm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Cada distribuidor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Nivel oscilante, turbulencia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Argón al tapón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3–8 NL/min estable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Cada distribuidor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Clogging de SEN o pinholes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48640" y="5623560"/>
            <a:ext cx="11109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Poco argón tapa la buza; mucho argón deja pinholes y atrapa escoria.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· PASO A PASO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Trece pasos; nueve no admiten error (1/2)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MM-CC-04 v0.2 (Borrador para validación) y FT-ACE-001 v0.3. Material de capacitación; no sustituye al manual. ★ = paso crítico, se evalúa en la certificación.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7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594360"/>
                <a:gridCol w="2148840"/>
                <a:gridCol w="5074920"/>
                <a:gridCol w="2057400"/>
                <a:gridCol w="12344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#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Paso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Cómo hacerlo y qué medir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Criterio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Programa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OT; línea sin acero; distribuidor retirado o línea tapada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Autorización de C-06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C-12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Cierra la fuente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El ESR cierra el obturador y coloca su candado y tarjeta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Candado del ESR puesto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C-16 (ESR)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3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Mide tasa de dosis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El ESR mide en el punto de trabajo y a 1 m del detector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&lt; 2 × fondo en permiso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C-16 (ESR)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4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Aplica LOTO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HPU, tableros (si se interviene el detector), argón y perno mecánico del tapón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Candados puestos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S-22, S-21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Prueba energía cero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Intento de oscilar y de mover; 0 bar; 0 V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Sin energía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C-12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Inspecciona mesa y resortes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Visual con lámpara; grietas en láminas; pernos marcados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Sin grietas; torque OK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S-19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7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Mantén el detector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Limpieza, conexiones y enfriamiento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Sin daño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S-21 (POE)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· PASO A PASO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Trece pasos; nueve no admiten error (2/2)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MM-CC-04 v0.2 (Borrador para validación) y FT-ACE-001 v0.3. Material de capacitación; no sustituye al manual. ★ = paso crítico, se evalúa en la certificación.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7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594360"/>
                <a:gridCol w="2148840"/>
                <a:gridCol w="5074920"/>
                <a:gridCol w="2057400"/>
                <a:gridCol w="12344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#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Paso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Cómo hacerlo y qué medir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Criterio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8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Retira LOTO hidráulico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Solo el necesario para oscilar; personal fuera de la mesa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Nadie en la mesa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S-22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9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Analiza la oscilación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Acelerómetros triaxiales en el molde; oscila a 3 frecuencias del rango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±1 cpm; ±0.1; ≤ 0.15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S-21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10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El ESR abre la fuente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Personal fuera de la zona controlada (salvo POE con dosímetro); el ESR retira candado y abre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Abierto; cuentas estables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C-16 (ESR)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Calibra el nivel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Calibración de 2 puntos según el sistema (vacío / referencia OEM)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±2 %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S-21 con ESR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12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Retira LOTO restante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Orden inverso; cada quien retira su candado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Candados retirados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Todos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13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Libera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Checklist firmado por Mantenimiento, ESR (si aplica) y Operación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Firma C-12, ESR y C-06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C-12, C-06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09 · CONDICIONES ANORMALES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Obturador dudoso: alejarse ≥ 3 m y llamar al ESR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MM-CC-04 v0.2 (Borrador para validación) y FT-ACE-001 v0.3. Material de capacitación; no sustituye al manual. Serie MS-ACE-09 para emergencias.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7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6400800"/>
                <a:gridCol w="196596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Síntoma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Acción inmediata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Avisar 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Alarma de oscilación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Operación reduce velocidad o termina la colada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C-06, S-22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Nivel oscilante (hunting)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Revisar juego del tapón y argón; C-08 revisa el lazo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C-06, S-21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Señal radiométrica errática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Nivel manual por operación; revisar con el ESR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C-06, ESR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Indicador de obturador no coincide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Alejarse ≥ 3 m y delimitar; el ESR mide y bloquea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C-16 (ESR), C-06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Portafuente con metal o fuego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Evacuar la zona; el ESR activa el plan radiológico y avisa a CNSNS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ESR, C-04, C-16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Grieta en resorte de lámina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Programar cambio; revisar juego lateral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C-12, C-11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Aceite &gt; 60 °C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Revisar enfriador y válvula de alivio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S-22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 · COMPETENCIA Y CERTIFICACIÓN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Certificación nivel U y protección radiológica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MM-CC-04 v0.2 (Borrador para validación) y FT-ACE-001 v0.3. Material de capacitación; no sustituye al manual. TD-P07. ILUO: I Introducción · L Práctica supervisada · U Ejecución autónoma · O Dominio e instrucción.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502920" cy="502920"/>
          </a:xfrm>
          <a:prstGeom prst="ellipse">
            <a:avLst/>
          </a:prstGeom>
          <a:solidFill>
            <a:srgbClr val="D6D8E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4864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097280" y="1517904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Introducción y Conocimiento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2121408" y="1554480"/>
            <a:ext cx="502920" cy="502920"/>
          </a:xfrm>
          <a:prstGeom prst="ellipse">
            <a:avLst/>
          </a:prstGeom>
          <a:solidFill>
            <a:srgbClr val="D6D8E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2121408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2670048" y="1517904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Aprendizaje y Práctica Supervisada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3694176" y="1554480"/>
            <a:ext cx="502920" cy="502920"/>
          </a:xfrm>
          <a:prstGeom prst="ellipse">
            <a:avLst/>
          </a:prstGeom>
          <a:solidFill>
            <a:srgbClr val="E8551B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3694176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4242816" y="1517904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Ejecución Autónoma y Habilitada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5266944" y="1554480"/>
            <a:ext cx="502920" cy="502920"/>
          </a:xfrm>
          <a:prstGeom prst="ellipse">
            <a:avLst/>
          </a:prstGeom>
          <a:solidFill>
            <a:srgbClr val="D6D8EA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266944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5815584" y="1517904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Dominio, Optimización e Instrucción</a:t>
            </a:r>
            <a:endParaRPr lang="en-US" sz="7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77440"/>
          <a:ext cx="658368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594360"/>
                <a:gridCol w="1097280"/>
                <a:gridCol w="1737360"/>
                <a:gridCol w="10515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ILUO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Teoría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OJT supervisado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Vigencia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S-21 Instrumentista (POE)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24 h + POE (NOM-012)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3 calibraciones con ESR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24 meses; POE y NOM-029 12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S-22 Técnico Hidráulico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32 h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40 h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24 meses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C-16 como ESR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Acreditación CNSNS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—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Licencia; interna 12 meses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S-19 Mecánico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8 h + radiológica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 intervenciones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24 meses; radiológica 12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Personal de CC no POE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Concientización (2 h)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—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12 meses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Shape 16"/>
          <p:cNvSpPr/>
          <p:nvPr/>
        </p:nvSpPr>
        <p:spPr>
          <a:xfrm>
            <a:off x="7406640" y="1463040"/>
            <a:ext cx="4251960" cy="4754880"/>
          </a:xfrm>
          <a:prstGeom prst="roundRect">
            <a:avLst>
              <a:gd name="adj" fmla="val 1720"/>
            </a:avLst>
          </a:prstGeom>
          <a:solidFill>
            <a:srgbClr val="F4F5F9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680960" y="164592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PASOS ★ QUE SE EVALÚAN</a:t>
            </a:r>
            <a:endParaRPr lang="en-US" sz="1000" dirty="0"/>
          </a:p>
        </p:txBody>
      </p:sp>
      <p:sp>
        <p:nvSpPr>
          <p:cNvPr id="22" name="Text 18"/>
          <p:cNvSpPr txBox="1"/>
          <p:nvPr/>
        </p:nvSpPr>
        <p:spPr>
          <a:xfrm>
            <a:off x="7680960" y="2029968"/>
            <a:ext cx="37490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Confirma línea sin acero y autorización de C-06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Verifica que solo el ESR operó el obturador, con su candado, y midió &lt; 2 × fondo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Aplica LOTO con candado personal; acumuladores a 0 bar y perno del tapón puesto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Prueba energía cero: no oscila ni mueve, 0 bar y 0 V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Retira solo el LOTO hidráulico necesario con personal fuera de la mesa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Retira el LOTO restante en orden y libera con firma de C-12, ESR y C-06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 · COMPETENCIA Y CERTIFICACIÓN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 la teoría a la certificación en seis pasos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MM-CC-04 v0.2 (Borrador para validación) y FT-ACE-001 v0.3. Material de capacitación; no sustituye al manual. Registro de competencia en IMaS; constancia DC-3/SIRCE (obligación STPS).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1474470" y="1920240"/>
            <a:ext cx="9258300" cy="0"/>
          </a:xfrm>
          <a:prstGeom prst="line">
            <a:avLst/>
          </a:prstGeom>
          <a:noFill/>
          <a:ln w="12700">
            <a:solidFill>
              <a:srgbClr val="D6D8E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291590" y="1737360"/>
            <a:ext cx="365760" cy="365760"/>
          </a:xfrm>
          <a:prstGeom prst="ellipse">
            <a:avLst/>
          </a:prstGeom>
          <a:solidFill>
            <a:srgbClr val="FF8C47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29159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59436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Teoría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24 h + POE (NOM-012)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143250" y="1737360"/>
            <a:ext cx="365760" cy="365760"/>
          </a:xfrm>
          <a:prstGeom prst="ellipse">
            <a:avLst/>
          </a:prstGeom>
          <a:solidFill>
            <a:srgbClr val="FC6A45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314325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244602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Autoevaluación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244602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≥ 80 %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994910" y="1737360"/>
            <a:ext cx="365760" cy="365760"/>
          </a:xfrm>
          <a:prstGeom prst="ellipse">
            <a:avLst/>
          </a:prstGeom>
          <a:solidFill>
            <a:srgbClr val="EA3450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99491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429768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OJT supervisado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429768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calibraciones con ESR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6846570" y="1737360"/>
            <a:ext cx="365760" cy="365760"/>
          </a:xfrm>
          <a:prstGeom prst="ellipse">
            <a:avLst/>
          </a:prstGeom>
          <a:solidFill>
            <a:srgbClr val="DB2259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684657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614934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Evaluación práctica ★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614934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100 % pasos ★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8698230" y="1737360"/>
            <a:ext cx="365760" cy="365760"/>
          </a:xfrm>
          <a:prstGeom prst="ellipse">
            <a:avLst/>
          </a:prstGeom>
          <a:solidFill>
            <a:srgbClr val="AA0582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869823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800100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Registro IMaS y DC-3/SIRCE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800100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≤ 10 días hábiles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10549890" y="1737360"/>
            <a:ext cx="365760" cy="365760"/>
          </a:xfrm>
          <a:prstGeom prst="ellipse">
            <a:avLst/>
          </a:prstGeom>
          <a:solidFill>
            <a:srgbClr val="5B2A86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1054989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985266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Recertificación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985266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24 meses; POE y NOM-029 12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548640" y="3429000"/>
            <a:ext cx="11109960" cy="2788920"/>
          </a:xfrm>
          <a:prstGeom prst="roundRect">
            <a:avLst>
              <a:gd name="adj" fmla="val 2623"/>
            </a:avLst>
          </a:prstGeom>
          <a:solidFill>
            <a:srgbClr val="F4F5F9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822960" y="3611880"/>
            <a:ext cx="10561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REGLAS DE LA CERTIFICACIÓN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822960" y="3995928"/>
            <a:ext cx="10515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certificación vale solo para el proceso y el rol evaluados; se suspende tras un incidente grave hasta reevaluar.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trabajador con experiencia puede solicitar la evaluación directa como examen de suficiencia (LFT art. 153-U).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Sin certificación vigente no se ejecuta la tarea crítica: el permiso de trabajo lo bloquea.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 · AUTOEVALUACIÓN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Autoevaluación: cinco preguntas antes del OJT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MM-CC-04 v0.2 (Borrador para validación) y FT-ACE-001 v0.3. Material de capacitación; no sustituye al manual. Respuestas en las notas del orador.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4630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8" name="Shape 5"/>
          <p:cNvSpPr/>
          <p:nvPr/>
        </p:nvSpPr>
        <p:spPr>
          <a:xfrm>
            <a:off x="731520" y="1645920"/>
            <a:ext cx="457200" cy="457200"/>
          </a:xfrm>
          <a:prstGeom prst="ellipse">
            <a:avLst/>
          </a:prstGeom>
          <a:solidFill>
            <a:srgbClr val="FC6A45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298448" y="17373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1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22402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¿Quién puede abrir o cerrar el obturador de la fuente de Cs-137?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271576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Cualquier S-21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Solo el ESR (C-16)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El operador de púlpito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297680" y="14630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13" name="Shape 10"/>
          <p:cNvSpPr/>
          <p:nvPr/>
        </p:nvSpPr>
        <p:spPr>
          <a:xfrm>
            <a:off x="4480560" y="1645920"/>
            <a:ext cx="457200" cy="457200"/>
          </a:xfrm>
          <a:prstGeom prst="ellipse">
            <a:avLst/>
          </a:prstGeom>
          <a:solidFill>
            <a:srgbClr val="FA464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047488" y="17373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2</a:t>
            </a:r>
            <a:endParaRPr lang="en-US" sz="800" dirty="0"/>
          </a:p>
        </p:txBody>
      </p:sp>
      <p:sp>
        <p:nvSpPr>
          <p:cNvPr id="15" name="Text 12"/>
          <p:cNvSpPr txBox="1"/>
          <p:nvPr/>
        </p:nvSpPr>
        <p:spPr>
          <a:xfrm>
            <a:off x="4480560" y="22402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 el obturador cerrado, el radiámetro marca 3 × fondo. ¿Qué haces?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4480560" y="271576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Trabajar rápido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No trabajar; alejarse ≥ 3 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Poner otro candado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8046720" y="14630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18" name="Shape 15"/>
          <p:cNvSpPr/>
          <p:nvPr/>
        </p:nvSpPr>
        <p:spPr>
          <a:xfrm>
            <a:off x="8229600" y="1645920"/>
            <a:ext cx="457200" cy="457200"/>
          </a:xfrm>
          <a:prstGeom prst="ellipse">
            <a:avLst/>
          </a:prstGeom>
          <a:solidFill>
            <a:srgbClr val="EA3450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8796528" y="17373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3</a:t>
            </a:r>
            <a:endParaRPr lang="en-US" sz="800" dirty="0"/>
          </a:p>
        </p:txBody>
      </p:sp>
      <p:sp>
        <p:nvSpPr>
          <p:cNvPr id="20" name="Text 17"/>
          <p:cNvSpPr txBox="1"/>
          <p:nvPr/>
        </p:nvSpPr>
        <p:spPr>
          <a:xfrm>
            <a:off x="8229600" y="22402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¿Cuál es el juego lateral máximo aceptado de la mesa de oscilación?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8229600" y="271576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0.15 mm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0.5 mm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1.0 mm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48640" y="388620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23" name="Shape 20"/>
          <p:cNvSpPr/>
          <p:nvPr/>
        </p:nvSpPr>
        <p:spPr>
          <a:xfrm>
            <a:off x="731520" y="4069080"/>
            <a:ext cx="457200" cy="457200"/>
          </a:xfrm>
          <a:prstGeom prst="ellipse">
            <a:avLst/>
          </a:prstGeom>
          <a:solidFill>
            <a:srgbClr val="DB2259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1298448" y="41605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4</a:t>
            </a:r>
            <a:endParaRPr lang="en-US" sz="800" dirty="0"/>
          </a:p>
        </p:txBody>
      </p:sp>
      <p:sp>
        <p:nvSpPr>
          <p:cNvPr id="25" name="Text 22"/>
          <p:cNvSpPr txBox="1"/>
          <p:nvPr/>
        </p:nvSpPr>
        <p:spPr>
          <a:xfrm>
            <a:off x="731520" y="46634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¿Qué LOTO se retira para hacer el análisis de oscilación?</a:t>
            </a:r>
            <a:endParaRPr lang="en-US" sz="1250" dirty="0"/>
          </a:p>
        </p:txBody>
      </p:sp>
      <p:sp>
        <p:nvSpPr>
          <p:cNvPr id="26" name="Text 23"/>
          <p:cNvSpPr txBox="1"/>
          <p:nvPr/>
        </p:nvSpPr>
        <p:spPr>
          <a:xfrm>
            <a:off x="731520" y="513892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Todos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Solo el hidráulico necesario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Ninguno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297680" y="388620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28" name="Shape 25"/>
          <p:cNvSpPr/>
          <p:nvPr/>
        </p:nvSpPr>
        <p:spPr>
          <a:xfrm>
            <a:off x="4480560" y="4069080"/>
            <a:ext cx="457200" cy="457200"/>
          </a:xfrm>
          <a:prstGeom prst="ellipse">
            <a:avLst/>
          </a:prstGeom>
          <a:solidFill>
            <a:srgbClr val="C8136C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5047488" y="41605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5</a:t>
            </a:r>
            <a:endParaRPr lang="en-US" sz="800" dirty="0"/>
          </a:p>
        </p:txBody>
      </p:sp>
      <p:sp>
        <p:nvSpPr>
          <p:cNvPr id="30" name="Text 27"/>
          <p:cNvSpPr txBox="1"/>
          <p:nvPr/>
        </p:nvSpPr>
        <p:spPr>
          <a:xfrm>
            <a:off x="4480560" y="46634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¿Qué caudal de argón lleva la barra tapón en CC1?</a:t>
            </a:r>
            <a:endParaRPr lang="en-US" sz="1250" dirty="0"/>
          </a:p>
        </p:txBody>
      </p:sp>
      <p:sp>
        <p:nvSpPr>
          <p:cNvPr id="31" name="Text 28"/>
          <p:cNvSpPr txBox="1"/>
          <p:nvPr/>
        </p:nvSpPr>
        <p:spPr>
          <a:xfrm>
            <a:off x="4480560" y="513892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1–2 NL/min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3–8 NL/min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20–30 NL/min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8046720" y="388620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33" name="Shape 30"/>
          <p:cNvSpPr/>
          <p:nvPr/>
        </p:nvSpPr>
        <p:spPr>
          <a:xfrm>
            <a:off x="8229600" y="4069080"/>
            <a:ext cx="457200" cy="457200"/>
          </a:xfrm>
          <a:prstGeom prst="ellipse">
            <a:avLst/>
          </a:prstGeom>
          <a:solidFill>
            <a:srgbClr val="3F6FD1"/>
          </a:solidFill>
          <a:ln/>
        </p:spPr>
      </p:sp>
      <p:pic>
        <p:nvPicPr>
          <p:cNvPr id="3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8472" y="4187952"/>
            <a:ext cx="219456" cy="219456"/>
          </a:xfrm>
          <a:prstGeom prst="rect">
            <a:avLst/>
          </a:prstGeom>
        </p:spPr>
      </p:pic>
      <p:sp>
        <p:nvSpPr>
          <p:cNvPr id="35" name="Text 31"/>
          <p:cNvSpPr txBox="1"/>
          <p:nvPr/>
        </p:nvSpPr>
        <p:spPr>
          <a:xfrm>
            <a:off x="8796528" y="41605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3F6FD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CRITERIO</a:t>
            </a:r>
            <a:endParaRPr lang="en-US" sz="800" dirty="0"/>
          </a:p>
        </p:txBody>
      </p:sp>
      <p:sp>
        <p:nvSpPr>
          <p:cNvPr id="36" name="Text 32"/>
          <p:cNvSpPr txBox="1"/>
          <p:nvPr/>
        </p:nvSpPr>
        <p:spPr>
          <a:xfrm>
            <a:off x="8229600" y="46634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Mínimo 4 de 5 correctas</a:t>
            </a:r>
            <a:endParaRPr lang="en-US" sz="1250" dirty="0"/>
          </a:p>
        </p:txBody>
      </p:sp>
      <p:sp>
        <p:nvSpPr>
          <p:cNvPr id="37" name="Text 33"/>
          <p:cNvSpPr txBox="1"/>
          <p:nvPr/>
        </p:nvSpPr>
        <p:spPr>
          <a:xfrm>
            <a:off x="8229600" y="513892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 4 o más pasas al OJT supervisado. Con menos, repasa el manual con tu instructor y repite la autoevaluación.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11 · CIERRE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Reglas de oscilación, nivel y fuente no negociables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Siguiente paso: OJT supervisado y evaluación práctica (TD-P07); registro en IMaS y DC-3/SIRCE. Validación: pendiente.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1520" y="2029968"/>
            <a:ext cx="365760" cy="365760"/>
          </a:xfrm>
          <a:prstGeom prst="ellipse">
            <a:avLst/>
          </a:prstGeom>
          <a:solidFill>
            <a:srgbClr val="FF8C47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31520" y="2029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1280160" y="19933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Solo el ESR toca el obturador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280160" y="23957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 candado es el primero en ponerse y el último en quitarse.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126480" y="18288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309360" y="2029968"/>
            <a:ext cx="365760" cy="365760"/>
          </a:xfrm>
          <a:prstGeom prst="ellipse">
            <a:avLst/>
          </a:prstGeom>
          <a:solidFill>
            <a:srgbClr val="FA464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309360" y="2029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6858000" y="19933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Dosis ≥ 2 × fondo: nadie trabaja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6858000" y="23957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Alejarse ≥ 3 m, delimitar y avisar al ESR.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48640" y="32004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31520" y="3401568"/>
            <a:ext cx="365760" cy="365760"/>
          </a:xfrm>
          <a:prstGeom prst="ellipse">
            <a:avLst/>
          </a:prstGeom>
          <a:solidFill>
            <a:srgbClr val="DB2259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731520" y="3401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1280160" y="33649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Sin LOTO y energía cero no se toca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1280160" y="37673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HPU a 0 bar, argón cerrado, perno del tapón y tableros bloqueados.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6126480" y="32004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309360" y="3401568"/>
            <a:ext cx="365760" cy="365760"/>
          </a:xfrm>
          <a:prstGeom prst="ellipse">
            <a:avLst/>
          </a:prstGeom>
          <a:solidFill>
            <a:srgbClr val="AA058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6309360" y="3401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6858000" y="33649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Nadie en la mesa al oscilar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6858000" y="37673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 retira solo el LOTO hidráulico necesario, con conteo.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ArcelorMittal México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MM-CC-04 — Sistemas hidráulicos de oscilación, control de nivel y barra tapón (incluye la fuente de Cs-137 de CC2) · Capacitación</dc:title>
  <dc:subject>PptxGenJS Presentation</dc:subject>
  <dc:creator>Gerencia de Capacitación y Desarrollo</dc:creator>
  <cp:lastModifiedBy>Gerencia de Capacitación y Desarrollo</cp:lastModifiedBy>
  <cp:revision>1</cp:revision>
  <dcterms:created xsi:type="dcterms:W3CDTF">2026-09-25T19:42:25Z</dcterms:created>
  <dcterms:modified xsi:type="dcterms:W3CDTF">2026-09-25T19:42:25Z</dcterms:modified>
</cp:coreProperties>
</file>