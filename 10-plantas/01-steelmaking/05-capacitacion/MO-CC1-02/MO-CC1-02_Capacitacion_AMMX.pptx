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Objetivo del curso: Dejar la CC1 lista para arrancar: línea seca, molde al ancho, cabeza sellada y sistemas probados. Principio rector: Nadie mete manos al molde sin LOTO, y nada entra al molde si no está seco.
PUNTOS A CERRAR: Presentar a los participantes, el objetivo y la ruta de certificación (teoría → OJT → evaluación práctica).
[POR CONFIRMAR] Factor de contracción, modo inserción y velocidad de inserción con el OEM · Cantidad de chatarra, tipo de fibra y criterio de termopares BOP fallados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objetivo como una conducta observable que se evaluará en campo.
PUNTOS A CERRAR: Confirmar que cada participante sabe en qué rol ejecutará el proceso.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 = ejecuta · A = dueño y responsable final · C = consultado · I = informado.
PUNTOS A CERRAR: Cada participante identifica su renglón y a quién escala.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Recorrer el flujo de izquierda a derecha; señalar las compuertas de decisión.
PUNTOS A CERRAR: Qué pasa si una condición previa no se cumple: no se avanza.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Usar la figura para ubicar cada componente en planta.
PUNTOS A CERRAR: Pedir a un participante que explique la figura con sus palabras.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La columna resaltada es lo que se verifica ANTES de operar.
PUNTOS A CERRAR: Equipo que no pasa la verificación = no se opera; se reporta.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renglón: objetivo, rango normal, alarma y la acción (columna resaltada).
PUNTOS A CERRAR: Ejercicio: dar un valor fuera de rango y pedir la acción correcta.
[POR CONFIRMAR] Factor de contracción, modo inserción, chatarra 15–25 kg, fibra cerámica y presión de aire: [Validar con OEM / Ingeniería de Proceso].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Los controles con ★ son críticos: si fallan puede haber una fatalidad. Se evalúan en la certificación.
PUNTOS A CERRAR: Cualquier persona puede y debe detener el trabajo si un control crítico no está.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Ubicar en la figura dónde está cada persona durante el proceso.
PUNTOS A CERRAR: Distancias y rutas de escape: preguntar a cada participante la suya.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Relacionar cada variable con el defecto que causa aguas abajo.
PUNTOS A CERRAR: Quién registra cada variable y dónde.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Leer cada paso y demostrar en campo o simulador los pasos ★ (renglones resaltados).
PUNTOS A CERRAR: Los pasos ★ no se omiten ni se cambian de orden.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Practicar cada renglón como simulacro de mesa: síntoma → acción → a quién avisar.
PUNTOS A CERRAR: Nadie improvisa: si no está aquí, se detiene y se escala al supervisor.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Nivel requerido: U (Ejecución Autónoma y Habilitada). La evaluación es práctica, ante evaluador certificado, sobre los pasos ★.
PUNTOS A CERRAR: Quien no demuestra todos los pasos ★ queda "aún no competente" y repite OJT dirigido.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Explicar la ruta completa y los tiempos.
PUNTOS A CERRAR: Aclarar que la evaluación no es sanción: es la evidencia de que la persona puede trabajar segura.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RESPUESTAS:
1) b) ≈ 650 mm — ≈ 650 mm ± 10 mm, confirmada con regla; si está fuera se reposiciona con el tracking.
2) b) 15–25 kg — 15–25 kg limpios y secos, en capa uniforme de 50–80 mm. Mojada, oxidada o con aceite se reemplaza.
3) b) No arrancar y avisar a C-06 — Una fuga en el molde es riesgo de explosión al arrancar: no se arranca y se atiende con MM-CC-01.
4) c) ≥ 95 % nominal — ≥ 95 % del nominal; con menos de 90 % no se arranca y se avisa a S-21.
5) b) Su propio dueño — Cada dueño retira su candado, después del conteo de personas y herramientas fuera del molde.
CÓMO EXPLICARLA: dar 5 minutos; revisar en grupo. PUNTOS A CERRAR: mínimo 4 de 5 correctas para pasar a OJT.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CÓMO EXPLICARLA: Cerrar con las reglas que no se negocian; cada participante repite la regla más importante para su rol.
PUNTOS A CERRAR: Agendar OJT con el supervisor y el evaluador.
[POR CONFIRMAR] Factor de contracción, modo inserción y velocidad de inserción con el OEM · Cantidad de chatarra, tipo de fibra y criterio de termopares BOP fallados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0040"/>
            <a:ext cx="960120" cy="3965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914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CAPACITACIÓN TÉCNICA · OPERACIÓN · MO-CC1-02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9844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Barra falsa y sellado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Dejar la CC1 lista para arrancar: línea seca, molde al ancho, cabeza sellada y sistemas probados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 (S-12)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56032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69748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60 h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269748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· 8 preparaciones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70916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470916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críticos ★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3520440"/>
            <a:ext cx="1828800" cy="1417320"/>
          </a:xfrm>
          <a:prstGeom prst="roundRect">
            <a:avLst>
              <a:gd name="adj" fmla="val 5161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20840" y="36118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6720840" y="42976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meses de vigencia (TD-P07)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9208008" y="1325880"/>
            <a:ext cx="0" cy="3505200"/>
          </a:xfrm>
          <a:prstGeom prst="line">
            <a:avLst/>
          </a:prstGeom>
          <a:noFill/>
          <a:ln w="12700">
            <a:solidFill>
              <a:srgbClr val="8A8CA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25128" y="1143000"/>
            <a:ext cx="365760" cy="365760"/>
          </a:xfrm>
          <a:prstGeom prst="ellipse">
            <a:avLst/>
          </a:prstGeom>
          <a:solidFill>
            <a:srgbClr val="FF8C47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25128" y="1143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528048" y="11247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Línea libre y seca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025128" y="1844040"/>
            <a:ext cx="365760" cy="365760"/>
          </a:xfrm>
          <a:prstGeom prst="ellipse">
            <a:avLst/>
          </a:prstGeom>
          <a:solidFill>
            <a:srgbClr val="FC6A45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25128" y="1844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9528048" y="182575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Ancho y conicidad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9025128" y="2545080"/>
            <a:ext cx="365760" cy="365760"/>
          </a:xfrm>
          <a:prstGeom prst="ellipse">
            <a:avLst/>
          </a:prstGeom>
          <a:solidFill>
            <a:srgbClr val="FA464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025128" y="2545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9528048" y="252679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Barra falsa a 650 mm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9025128" y="3246120"/>
            <a:ext cx="365760" cy="365760"/>
          </a:xfrm>
          <a:prstGeom prst="ellipse">
            <a:avLst/>
          </a:prstGeom>
          <a:solidFill>
            <a:srgbClr val="DB2259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025128" y="3246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9528048" y="322783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y sellado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9025128" y="3947160"/>
            <a:ext cx="365760" cy="365760"/>
          </a:xfrm>
          <a:prstGeom prst="ellipse">
            <a:avLst/>
          </a:prstGeom>
          <a:solidFill>
            <a:srgbClr val="C8136C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025128" y="3947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9528048" y="392887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Pruebas de sistemas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9025128" y="4648200"/>
            <a:ext cx="365760" cy="365760"/>
          </a:xfrm>
          <a:prstGeom prst="ellipse">
            <a:avLst/>
          </a:prstGeom>
          <a:solidFill>
            <a:srgbClr val="AA0582"/>
          </a:solidFill>
          <a:ln w="19050">
            <a:solidFill>
              <a:srgbClr val="2A2A40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025128" y="4648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9528048" y="4629912"/>
            <a:ext cx="2286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Lista firmada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53492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Para: S-12 Operador de Púlpito de Colada · S-14 Ayudante de Colada · S-13 Operador de Plataforma · C-06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48640" y="6446520"/>
            <a:ext cx="10058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01 · OBJETIVOS DE APRENDIZAJE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Al terminar, la máquina queda seca, sellada y probada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F8C4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Dejar la línea limpia y seca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Boquillas con ≤ 2 % tapadas por zona; línea soplada con aire 10–15 min; cero agua en molde y segmentos 1–3.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Ajustar molde y posicionar la cabeza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Ancho ± 1 mm, conicidad 1.0–1.2 %/m; cabeza de barra falsa a ≈ 650 ± 10 mm bajo el borde.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Sellar con LOTO y material seco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antes de meter manos; holguras de 2–5 mm con fibra; 15–25 kg de chatarra seca en capa de 50–80 mm.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los sistemas críticos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4983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molde ≥ 95 % nominal, agua de emergencia lista, oscilación, nivel y BOP sin fallas; C-06 firma.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675120" y="1463040"/>
            <a:ext cx="4983480" cy="4754880"/>
          </a:xfrm>
          <a:prstGeom prst="roundRect">
            <a:avLst>
              <a:gd name="adj" fmla="val 1538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6949440" y="164592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QUÉ IMPORTA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6949440" y="2029968"/>
            <a:ext cx="4434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Sobre la cabeza de la barra falsa solidifica el primer acero de la secuencia. Una holgura abierta provoca fuga al arranque; una gota de agua, aceite u óxido provoca una explosión. Y si la barra falsa o la oscilación se mueven con manos en el molde, hay amputación.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6949440" y="4681728"/>
            <a:ext cx="4434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mete manos al molde sin LOTO, y nada entra al molde si no está seco.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02 · ROLES Y RESPONSABILIDADES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S-12 opera, S-14 sella y C-06 firma el arranque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6720840"/>
                <a:gridCol w="10058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Qué hace en la preparación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RACI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Colada Continua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y firma la lista previa; autoriza el arranque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Desde la HMI: boquillas, ancho, inserción y pruebas de sistemas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y seca el molde, sella la cabeza, coloca la chatarra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S-13 Operador de Plataforma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Apoya la verificación del molde y los materiales de arranque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 Instrumentista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 el sensor de nivel y verifica termopares BOP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C-08 Ingeniero de Proceso de CC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Define ancho, conicidad y práctica de arranque por grado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S-19 / S-22 Mecánico / Hidráulico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Atienden fallas de segmentos, oscilación o hidráulica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</a:t>
                      </a:r>
                      <a:endParaRPr lang="en-US" sz="11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lista previa firmada no hay arranque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691640"/>
            <a:ext cx="1461897" cy="640080"/>
          </a:xfrm>
          <a:prstGeom prst="homePlate">
            <a:avLst/>
          </a:prstGeom>
          <a:solidFill>
            <a:srgbClr val="FF8C47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1323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Inspeccionar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59436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Restos de acero, rodillos, boquillas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937385" y="1691640"/>
            <a:ext cx="1461897" cy="640080"/>
          </a:xfrm>
          <a:prstGeom prst="chevron">
            <a:avLst/>
          </a:prstGeom>
          <a:solidFill>
            <a:srgbClr val="FC6A4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0197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Secar la línea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98310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Aire 10–15 min; sin agua en segmentos 1–3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326130" y="1691640"/>
            <a:ext cx="1461897" cy="640080"/>
          </a:xfrm>
          <a:prstGeom prst="chevron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49072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Ajustar molde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337185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Ancho ± 1 mm; conicidad 1.0–1.2 %/m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714875" y="1691640"/>
            <a:ext cx="1461897" cy="640080"/>
          </a:xfrm>
          <a:prstGeom prst="chevron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7946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Insertar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76059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3–5 m/min; a 2 m del molde 0.3 m/min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103620" y="1691640"/>
            <a:ext cx="1461897" cy="640080"/>
          </a:xfrm>
          <a:prstGeom prst="chevron">
            <a:avLst/>
          </a:prstGeom>
          <a:solidFill>
            <a:srgbClr val="DB2259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26821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Posicionar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14934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Cabeza a ≈ 650 ± 10 mm bajo el borde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7492365" y="1691640"/>
            <a:ext cx="1461897" cy="640080"/>
          </a:xfrm>
          <a:prstGeom prst="chevron">
            <a:avLst/>
          </a:prstGeom>
          <a:solidFill>
            <a:srgbClr val="C8136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5695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LOTO y sellar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753808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fugas; fibra y chatarra seca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8881110" y="1691640"/>
            <a:ext cx="1461897" cy="640080"/>
          </a:xfrm>
          <a:prstGeom prst="chevron">
            <a:avLst/>
          </a:prstGeom>
          <a:solidFill>
            <a:srgbClr val="AA058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9045702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Probar sistemas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8926830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≥ 95 %, emergencia, oscilación, BOP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10269855" y="1691640"/>
            <a:ext cx="1461897" cy="640080"/>
          </a:xfrm>
          <a:prstGeom prst="chevron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434447" y="1691640"/>
            <a:ext cx="11327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Firmar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10315575" y="2441448"/>
            <a:ext cx="129730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C-06 revisa la lista previa al arranque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11109960" cy="2514600"/>
          </a:xfrm>
          <a:prstGeom prst="roundRect">
            <a:avLst>
              <a:gd name="adj" fmla="val 2909"/>
            </a:avLst>
          </a:prstGeom>
          <a:solidFill>
            <a:srgbClr val="F4F5F9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822960" y="388620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PRINCIPIO DEL PROCESO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822960" y="43159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 falta un punto de la lista previa al arranque, se corrige y se vuelve a probar antes de firmar.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513892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mete manos al molde sin LOTO, y nada entra al molde si no está seco.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cabeza sellada y seca sostiene el primer acero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 Figura: cc1-arranque-barra-falsa.svg.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50" dirty="0"/>
          </a:p>
        </p:txBody>
      </p:sp>
      <p:pic>
        <p:nvPicPr>
          <p:cNvPr id="7" name="Image 1" descr="/home/user/HR/10-plantas/01-steelmaking/img/png/cc1-arranque-barra-fals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305" y="1417320"/>
            <a:ext cx="6213231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cabeza queda a ≈ 650 mm del borde, con holgura sellada de 2–5 mm por lado.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capa de chatarra de 50–80 mm enfría el primer acero sobre la cabeza.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gancho de cola de milano une el acero a la barra falsa para extraerlo.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03 · EL PROCESO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barra falsa entra por abajo y cruza 14 segmentos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 Figura: cc1-perfil-maquina.svg.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50" dirty="0"/>
          </a:p>
        </p:txBody>
      </p:sp>
      <p:pic>
        <p:nvPicPr>
          <p:cNvPr id="7" name="Image 1" descr="/home/user/HR/10-plantas/01-steelmaking/img/png/cc1-perfil-maquin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52" y="1417320"/>
            <a:ext cx="6376737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barra falsa tipo cadena se inserta por abajo a través de los 14 segmentos hasta el molde.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Restos de acero o un rodillo trabado se detectan como sobrecarga de motores al insertar.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Después del enderezado, la unidad de desconexión separa y guarda la barra falsa.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04 · EQUIPOS Y MAQUINARIA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Molde, agua y oscilación se prueban antes de arrancar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291840"/>
                <a:gridCol w="2697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Equipo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Función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 clave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Verificar antes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Barra falsa y cabeza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Sostiene y extrae el primer acero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Cadena; gancho de cola de milano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fisuras, acero adherido ni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Molde y caras angostas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Forma el planchón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900–1,650 mm; conicidad 1.0–1.2 %/m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grietas ni fugas de agua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Segmentos 1–14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Guían y extraen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Gap según tabla ± 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Gap vigente; rodillos libres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Enfriamiento secundario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Enfría fuera del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10 zonas aire–agua; 0.8–1.2 L/kg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2 % boquillas tapadas por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molde y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Extrae calor; protege 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4,200 / 450 L/min; emergencia ≤ 15 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Caudal ≥ 100 %; prueba ≤ 7 días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Oscilador hidráulico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Evita adherencia al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120–200 cpm; carrera 4–8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de frecuencia y carrera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Sensor de nivel y BOP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y detección de sticker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3 mm; alarma ± 8 mm; 3 filas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Calibrado; todos con lectura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05 · PARÁMETROS DE OPERACIÓN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Ancho, posición y chatarra seca definen el sellado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7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1737360"/>
                <a:gridCol w="2057400"/>
                <a:gridCol w="2103120"/>
                <a:gridCol w="28803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Parámetro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Objetivo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Rango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Alarma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Ancho del molde (arriba)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Programa × ≈ 1.013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 2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Reajustar caras angostas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Conicidad caras angostas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1.1 %/m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1.0–1.2 %/m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Fuera de rango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Recalibrar; avisar a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Inserción de barra falsa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3–5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Hasta 5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Arrastre o sobrecarga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Detener; revisar la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Posición de la cabeza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≈ 650 mm bajo borde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 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Reposicionar con tracking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Holgura cabeza–placa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2–5 mm por lado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2–5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Más fibra; &gt; 10 mm ver ancho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Chatarra de enfriamiento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20 kg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15–25 kg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Mojada, oxidada o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Retirar y reemplazar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molde (prueba)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4,200 / 450 L/min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95 % nominal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&lt; 90 %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arrancar; avisar a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Oscilación (prueba)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Tabla; carrera 6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2 %; 4–8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&gt; ± 5 % o &gt; ± 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 S-22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97880"/>
            <a:ext cx="11109960" cy="365760"/>
          </a:xfrm>
          <a:prstGeom prst="rect">
            <a:avLst/>
          </a:prstGeom>
          <a:solidFill>
            <a:srgbClr val="FFF4D6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640080" y="5897880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POR CONFIRMAR  </a:t>
            </a:r>
            <a:pPr indent="0" marL="0">
              <a:buNone/>
            </a:pPr>
            <a:r>
              <a:rPr lang="en-US" sz="950" dirty="0">
                <a:solidFill>
                  <a:srgbClr val="8A5A0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Factor de contracción, modo inserción, chatarra 15–25 kg, fibra cerámica y presión de aire: [Validar con OEM / Ingeniería de Proceso].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Atrapamiento y agua: los dos riesgos del sellado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 Serie MS-ACE.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66928" cy="566928"/>
          </a:xfrm>
          <a:prstGeom prst="ellipse">
            <a:avLst/>
          </a:prstGeom>
          <a:solidFill>
            <a:srgbClr val="FA464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700784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25880" y="1517904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LOTO antes de meter manos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1325880" y="1883664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Bloquear barra falsa, segmentos, oscilación y ajuste de ancho; prueba de arranque sin movimiento (MS-ACE-02).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548640" y="2724912"/>
            <a:ext cx="566928" cy="566928"/>
          </a:xfrm>
          <a:prstGeom prst="ellipse">
            <a:avLst/>
          </a:prstGeom>
          <a:solidFill>
            <a:srgbClr val="DB2259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871216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688336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Todo seco y limpio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1325880" y="3054096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Molde, cabeza, chatarra y herramientas sin agua, aceite ni óxido; línea secada con aire; revisión con lámpara.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AA058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4041648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25880" y="3858768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Cero fugas en el molde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1325880" y="4224528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de molde a caudal nominal y 5 min de observación de placas y esquinas antes de sellar.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548640" y="5065776"/>
            <a:ext cx="566928" cy="566928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5212080"/>
            <a:ext cx="274320" cy="2743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325880" y="5029200"/>
            <a:ext cx="5257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★ Cámara de rociado despejada</a:t>
            </a:r>
            <a:endParaRPr lang="en-US" sz="1350" dirty="0"/>
          </a:p>
        </p:txBody>
      </p:sp>
      <p:sp>
        <p:nvSpPr>
          <p:cNvPr id="22" name="Text 15"/>
          <p:cNvSpPr txBox="1"/>
          <p:nvPr/>
        </p:nvSpPr>
        <p:spPr>
          <a:xfrm>
            <a:off x="1325880" y="5394960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Nadie en la cámara ni bajo la plataforma durante la prueba de boquillas y la inserción.</a:t>
            </a:r>
            <a:endParaRPr lang="en-US" sz="1100" dirty="0"/>
          </a:p>
        </p:txBody>
      </p:sp>
      <p:sp>
        <p:nvSpPr>
          <p:cNvPr id="23" name="Shape 16"/>
          <p:cNvSpPr/>
          <p:nvPr/>
        </p:nvSpPr>
        <p:spPr>
          <a:xfrm>
            <a:off x="6949440" y="1463040"/>
            <a:ext cx="4709160" cy="4754880"/>
          </a:xfrm>
          <a:prstGeom prst="roundRect">
            <a:avLst>
              <a:gd name="adj" fmla="val 1553"/>
            </a:avLst>
          </a:prstGeom>
          <a:solidFill>
            <a:srgbClr val="F4F5F9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7223760" y="1645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EPP OBLIGATORIO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7223760" y="2029968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Casco, lentes y ropa FR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Botas con metatarsal y guantes de carnaza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Respirador P100 al manipular fibra cerámica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Arnés y línea de vida fuera de barandales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06 · SEGURIDAD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Cuatro accionamientos se bloquean antes de sellar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 Figura: ms-loto-puntos-cc.svg.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750" dirty="0"/>
          </a:p>
        </p:txBody>
      </p:sp>
      <p:pic>
        <p:nvPicPr>
          <p:cNvPr id="7" name="Image 1" descr="/home/user/HR/10-plantas/01-steelmaking/img/png/ms-loto-puntos-c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206" y="1417320"/>
            <a:ext cx="5769429" cy="48463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543800" y="1463040"/>
            <a:ext cx="4114800" cy="4754880"/>
          </a:xfrm>
          <a:prstGeom prst="roundRect">
            <a:avLst>
              <a:gd name="adj" fmla="val 1778"/>
            </a:avLst>
          </a:prstGeom>
          <a:solidFill>
            <a:srgbClr val="F4F5F9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818120" y="1645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LECTURA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72400" y="2029968"/>
            <a:ext cx="36576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Barra falsa, segmentos, oscilación y ajuste de ancho quedan con candado.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trabajador pone su candado personal en la caja grupal.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Cada dueño retira su propio candado al terminar el conteo.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07 · CALIDAD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Ancho, boquillas y gap deciden la calidad del planchón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834640"/>
                <a:gridCol w="3017520"/>
                <a:gridCol w="2697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Variable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Especificación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y cuándo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Ancho y conicidad del molde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 mm; 1.0–1.2 %/m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Manual + HMI, cada arranque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de esquina; abultamiento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Boquillas de secundario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2 % tapadas por zona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visual, cada arranque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Enfriamiento no uniforme, grietas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Gap de segmentos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Tabla ± 0.5 mm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Medidor de gap, plan MM-CC-02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Grietas internas, segregación central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Sellado de la cabeza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holguras abiertas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Visual, cada arranque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Fuga al arranque; cabeza defectuosa</a:t>
                      </a:r>
                      <a:endParaRPr lang="en-US" sz="10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623560"/>
            <a:ext cx="11109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Una boquilla tapada o un gap abierto no se ve en el arranque: aparece después como grieta o segregación.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siete no admiten error (1/3)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Inspecciona y prueba boquillas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Recorre la línea; con nadie en la cámara activa las 10 zonas en prueba; cambia las tapadas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≤ 2 % tapadas por zona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/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Seca la línea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Corta el agua de rociadores; sopla con aire 10–15 min; revisa molde y rodillos superiores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agua en segmentos 1–3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Ajusta ancho y conicidad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Carga el ancho del programa en HMI; mide arriba y abajo del molde con regla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 mm; 1.0–1.2 %/m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/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Inserta la barra falsa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Modo inserción [Validar con OEM]; avanza a 3–5 m/min; a 2 m del molde baja a 0.3 m/min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sobrecarga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Posiciona la cabeza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 la cabeza a ≈ 650 mm bajo el borde; confirma con regla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/ 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Aplica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Bloquea barra falsa, segmentos, oscilación y ajuste de ancho; haz la prueba de arranque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Candados y sin movimiento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/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7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fugas del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molde a caudal nominal; observa placas y esquinas 5 min con lámpara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gotas ni humedad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siete no admiten error (2/3)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Limpia cabeza y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Retira polvo y restos con aire seco; nunca uses agua ni aceite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Limpio y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Sella las holguras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Comprime cordón de fibra cerámica en holguras de 2–5 mm y esquinas; cubre con sellador seco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holguras visibles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10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Coloca la chatarra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15–25 kg limpios y secos en capa uniforme de 50–80 mm; sin tapar el gancho en exceso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Uniforme y seca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Cuenta y retira LOTO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Cuenta herramientas y personas; tapa de molde; cada dueño retira su candado y avisa al púlpito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Conteo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/ 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la oscilación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Arranca a la frecuencia y carrera de arranque; mide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± 2 %; ± 0.5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Prueba el agua de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Caudal nominal en las 4 caras; alarmas de caudal y ΔT activas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≥ 95 % nominal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★ 14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agua de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Nivel de torre; bombas diésel en automático; última prueba ≤ 7 días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Listo en HMI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08 · PASO A PASO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Dieciséis pasos; siete no admiten error (3/3)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 ★ = paso crítico, se evalúa en la certificación.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2148840"/>
                <a:gridCol w="5074920"/>
                <a:gridCol w="2057400"/>
                <a:gridCol w="123444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#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Paso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Cómo hacerlo y qué medir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Criterio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15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Verifica nivel, BOP y salida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Sensor calibrado y termopares con lectura; oxicorte y mesa libres; lanzas y pote de emergencia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Sin fallas; completo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/ S-13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 la lista previa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revisa los puntos de la lista previa al arranque y firma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Firma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09 · CONDICIONES ANORMALES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Gotas de agua en el molde: la máquina no arranca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 Serie MS-ACE-09 para emergencias.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1099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40080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Síntoma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Acción inmediata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Avisar 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Sobrecarga de motores al insertar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Detén; inspecciona con LOTO; no fuerces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S-19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Cabeza no llega a la posición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Posiciona manual a baja velocidad; recalibra el tracking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S-12, 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Gotas de agua en placas del molde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arrancar; atender con MM-CC-01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Holgura cabeza–placa &gt; 10 mm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Revisa el ancho; cambia la cabeza si aplica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Chatarra mojada u oxidada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Reemplázala con material seco del almacén cubierto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Agua de emergencia vencida o falla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No arrancar hasta probar (MM-CC-03)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C-06, C-12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Termopares BOP fallados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Reparar o C-08 autoriza con restricción de velocidad [Validar con OEM]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S-21, C-08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Sensor de nivel inestable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Recalibra; sin nivel automático no se arranca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S-21</a:t>
                      </a:r>
                      <a:endParaRPr lang="en-US" sz="10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Certificación nivel U: demostrar, no asistir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 TD-P07. ILUO: I Introducción · L Práctica supervisada · U Ejecución autónoma · O Dominio e instrucción.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097280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Introducción y Conocimiento</a:t>
            </a:r>
            <a:endParaRPr lang="en-US" sz="750" dirty="0"/>
          </a:p>
        </p:txBody>
      </p:sp>
      <p:sp>
        <p:nvSpPr>
          <p:cNvPr id="10" name="Shape 7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121408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670048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Aprendizaje y Práctica Supervisada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3694176" y="1554480"/>
            <a:ext cx="502920" cy="502920"/>
          </a:xfrm>
          <a:prstGeom prst="ellipse">
            <a:avLst/>
          </a:prstGeom>
          <a:solidFill>
            <a:srgbClr val="E8551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694176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242816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Ejecución Autónoma y Habilitada</a:t>
            </a:r>
            <a:endParaRPr lang="en-US" sz="750" dirty="0"/>
          </a:p>
        </p:txBody>
      </p:sp>
      <p:sp>
        <p:nvSpPr>
          <p:cNvPr id="16" name="Shape 13"/>
          <p:cNvSpPr/>
          <p:nvPr/>
        </p:nvSpPr>
        <p:spPr>
          <a:xfrm>
            <a:off x="5266944" y="1554480"/>
            <a:ext cx="502920" cy="502920"/>
          </a:xfrm>
          <a:prstGeom prst="ellipse">
            <a:avLst/>
          </a:prstGeom>
          <a:solidFill>
            <a:srgbClr val="D6D8E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66944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815584" y="1517904"/>
            <a:ext cx="960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Dominio, Optimización e Instrucción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77440"/>
          <a:ext cx="65836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594360"/>
                <a:gridCol w="1097280"/>
                <a:gridCol w="1737360"/>
                <a:gridCol w="10515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Rol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ILUO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Teoría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OJT supervisado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Vigencia</a:t>
                      </a:r>
                      <a:endParaRPr lang="en-US" sz="9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S-12 Operador de Púlpito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16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60 h / 8 preparaciones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S-14 Ayudante de Colada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12 h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40 h / 8 sellados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C-06 Supervisor de CC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 (evaluador)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8 h + evaluador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—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2E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24 meses</a:t>
                      </a:r>
                      <a:endParaRPr lang="en-US" sz="95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8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7406640" y="1463040"/>
            <a:ext cx="4251960" cy="4754880"/>
          </a:xfrm>
          <a:prstGeom prst="roundRect">
            <a:avLst>
              <a:gd name="adj" fmla="val 1720"/>
            </a:avLst>
          </a:prstGeom>
          <a:solidFill>
            <a:srgbClr val="F4F5F9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7680960" y="16459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PASOS ★ QUE SE EVALÚAN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680960" y="2029968"/>
            <a:ext cx="37490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Seca la línea y confirma cero agua en molde y segmentos 1–3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Aplica LOTO a barra falsa, segmentos, oscilación y ancho; hace la prueba de arranque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Revisa fugas del molde con agua a caudal nominal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Sella holguras sin dejar pasos y coloca chatarra seca de 15–25 kg</a:t>
            </a:r>
            <a:endParaRPr lang="en-US" sz="1050" dirty="0"/>
          </a:p>
          <a:p>
            <a:pPr marL="186690" indent="-186690">
              <a:spcAft>
                <a:spcPts val="63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Confirma agua de molde ≥ 95 % y agua de emergencia lista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COMPETENCIA Y CERTIFICACIÓN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 la teoría a la certificación en seis pasos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 Registro de competencia en IMaS; constancia DC-3/SIRCE (obligación STPS).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1474470" y="1920240"/>
            <a:ext cx="9258300" cy="0"/>
          </a:xfrm>
          <a:prstGeom prst="line">
            <a:avLst/>
          </a:prstGeom>
          <a:noFill/>
          <a:ln w="12700">
            <a:solidFill>
              <a:srgbClr val="D6D8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91590" y="1737360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15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Teoría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16 h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143250" y="1737360"/>
            <a:ext cx="365760" cy="36576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14325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44602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44602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≥ 80 %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994910" y="1737360"/>
            <a:ext cx="365760" cy="36576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99491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29768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OJT supervisado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29768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60 h / 8 preparaciones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6846570" y="1737360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684657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14934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Evaluación práctica ★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614934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100 % pasos ★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8698230" y="1737360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69823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800100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Registro IMaS y DC-3/SIRCE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800100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≤ 10 días hábiles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10549890" y="1737360"/>
            <a:ext cx="365760" cy="365760"/>
          </a:xfrm>
          <a:prstGeom prst="ellipse">
            <a:avLst/>
          </a:prstGeom>
          <a:solidFill>
            <a:srgbClr val="5B2A86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1054989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852660" y="2194560"/>
            <a:ext cx="17602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Recertificación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9852660" y="2651760"/>
            <a:ext cx="17602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24 meses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48640" y="3429000"/>
            <a:ext cx="11109960" cy="2788920"/>
          </a:xfrm>
          <a:prstGeom prst="roundRect">
            <a:avLst>
              <a:gd name="adj" fmla="val 2623"/>
            </a:avLst>
          </a:prstGeom>
          <a:solidFill>
            <a:srgbClr val="F4F5F9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22960" y="3611880"/>
            <a:ext cx="10561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 LA CERTIFICACIÓN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822960" y="3995928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La certificación vale solo para el proceso y el rol evaluados; se suspende tras un incidente grave hasta reevaluar.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El trabajador con experiencia puede solicitar la evaluación directa como examen de suficiencia (LFT art. 153-U).</a:t>
            </a:r>
            <a:endParaRPr lang="en-US" sz="1100" dirty="0"/>
          </a:p>
          <a:p>
            <a:pPr marL="195580" indent="-195580">
              <a:spcAft>
                <a:spcPts val="660"/>
              </a:spcAft>
              <a:buSzPct val="100000"/>
              <a:buChar char="•"/>
            </a:pPr>
            <a:r>
              <a:rPr lang="en-US" sz="1100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certificación vigente no se ejecuta la tarea crítica: el permiso de trabajo lo bloquea.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 · AUTOEVALUACIÓN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Autoevaluación: cinco preguntas antes del OJT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manual MO-CC1-02 v0.1 (Borrador para validación) y FT-ACE-001 v0.3. Material de capacitación; no sustituye al manual. Respuestas en las notas del orador.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8A8C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8" name="Shape 5"/>
          <p:cNvSpPr/>
          <p:nvPr/>
        </p:nvSpPr>
        <p:spPr>
          <a:xfrm>
            <a:off x="731520" y="1645920"/>
            <a:ext cx="457200" cy="457200"/>
          </a:xfrm>
          <a:prstGeom prst="ellipse">
            <a:avLst/>
          </a:prstGeom>
          <a:solidFill>
            <a:srgbClr val="FC6A4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9844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1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¿A qué distancia bajo el borde del molde queda la cabeza de la barra falsa?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≈ 250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≈ 650 mm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≈ 900 mm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3" name="Shape 10"/>
          <p:cNvSpPr/>
          <p:nvPr/>
        </p:nvSpPr>
        <p:spPr>
          <a:xfrm>
            <a:off x="4480560" y="1645920"/>
            <a:ext cx="457200" cy="45720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2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¿Cuánta chatarra de enfriamiento se coloca sobre la cabeza?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448056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5–10 kg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15–25 kg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40–60 kg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046720" y="146304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18" name="Shape 15"/>
          <p:cNvSpPr/>
          <p:nvPr/>
        </p:nvSpPr>
        <p:spPr>
          <a:xfrm>
            <a:off x="8229600" y="1645920"/>
            <a:ext cx="457200" cy="457200"/>
          </a:xfrm>
          <a:prstGeom prst="ellipse">
            <a:avLst/>
          </a:prstGeom>
          <a:solidFill>
            <a:srgbClr val="EA345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796528" y="173736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3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0" y="22402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Ves gotas de agua en las placas del molde. ¿Qué haces?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271576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Secar con aire y arrancar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No arrancar y avisar a C-06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Tapar con fibra cerámica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4864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3" name="Shape 20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29844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4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73152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¿Qué caudal mínimo de agua de molde se exige en la prueba antes de arrancar?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≥ 80 % nominal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≥ 90 % nominal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≥ 95 % nominal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429768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28" name="Shape 25"/>
          <p:cNvSpPr/>
          <p:nvPr/>
        </p:nvSpPr>
        <p:spPr>
          <a:xfrm>
            <a:off x="4480560" y="4069080"/>
            <a:ext cx="457200" cy="457200"/>
          </a:xfrm>
          <a:prstGeom prst="ellipse">
            <a:avLst/>
          </a:prstGeom>
          <a:solidFill>
            <a:srgbClr val="C8136C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04748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FA4642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PREGUNTA 5</a:t>
            </a:r>
            <a:endParaRPr lang="en-US" sz="800" dirty="0"/>
          </a:p>
        </p:txBody>
      </p:sp>
      <p:sp>
        <p:nvSpPr>
          <p:cNvPr id="30" name="Text 27"/>
          <p:cNvSpPr txBox="1"/>
          <p:nvPr/>
        </p:nvSpPr>
        <p:spPr>
          <a:xfrm>
            <a:off x="448056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¿Quién retira cada candado del LOTO al terminar el sellado?</a:t>
            </a:r>
            <a:endParaRPr lang="en-US" sz="1250" dirty="0"/>
          </a:p>
        </p:txBody>
      </p:sp>
      <p:sp>
        <p:nvSpPr>
          <p:cNvPr id="31" name="Text 28"/>
          <p:cNvSpPr txBox="1"/>
          <p:nvPr/>
        </p:nvSpPr>
        <p:spPr>
          <a:xfrm>
            <a:off x="448056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a) El supervisor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b) Su propio dueño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c) El operador de púlpito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046720" y="3886200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F4F5F9"/>
          </a:solidFill>
          <a:ln/>
        </p:spPr>
      </p:sp>
      <p:sp>
        <p:nvSpPr>
          <p:cNvPr id="33" name="Shape 30"/>
          <p:cNvSpPr/>
          <p:nvPr/>
        </p:nvSpPr>
        <p:spPr>
          <a:xfrm>
            <a:off x="8229600" y="4069080"/>
            <a:ext cx="457200" cy="457200"/>
          </a:xfrm>
          <a:prstGeom prst="ellipse">
            <a:avLst/>
          </a:prstGeom>
          <a:solidFill>
            <a:srgbClr val="3F6FD1"/>
          </a:solidFill>
          <a:ln/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472" y="4187952"/>
            <a:ext cx="219456" cy="219456"/>
          </a:xfrm>
          <a:prstGeom prst="rect">
            <a:avLst/>
          </a:prstGeom>
        </p:spPr>
      </p:pic>
      <p:sp>
        <p:nvSpPr>
          <p:cNvPr id="35" name="Text 31"/>
          <p:cNvSpPr txBox="1"/>
          <p:nvPr/>
        </p:nvSpPr>
        <p:spPr>
          <a:xfrm>
            <a:off x="8796528" y="41605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20" kern="0" dirty="0">
                <a:solidFill>
                  <a:srgbClr val="3F6FD1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CRITERIO</a:t>
            </a:r>
            <a:endParaRPr lang="en-US" sz="800" dirty="0"/>
          </a:p>
        </p:txBody>
      </p:sp>
      <p:sp>
        <p:nvSpPr>
          <p:cNvPr id="36" name="Text 32"/>
          <p:cNvSpPr txBox="1"/>
          <p:nvPr/>
        </p:nvSpPr>
        <p:spPr>
          <a:xfrm>
            <a:off x="8229600" y="46634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2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Mínimo 4 de 5 correctas</a:t>
            </a:r>
            <a:endParaRPr lang="en-US" sz="1250" dirty="0"/>
          </a:p>
        </p:txBody>
      </p:sp>
      <p:sp>
        <p:nvSpPr>
          <p:cNvPr id="37" name="Text 33"/>
          <p:cNvSpPr txBox="1"/>
          <p:nvPr/>
        </p:nvSpPr>
        <p:spPr>
          <a:xfrm>
            <a:off x="8229600" y="5138928"/>
            <a:ext cx="32461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 4 o más pasas al OJT supervisado. Con menos, repasa el manual con tu instructor y repite la autoevaluación.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987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8C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 · CIERRE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109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Reglas del sellado que no se negocian</a:t>
            </a:r>
            <a:endParaRPr lang="en-US" sz="2400" dirty="0"/>
          </a:p>
        </p:txBody>
      </p:sp>
      <p:pic>
        <p:nvPicPr>
          <p:cNvPr id="4" name="Image 0" descr="/tmp/claude-0/-home-user-HR/2e49314e-011f-5c3a-b225-07e067b46c12/scratchpad/ammx/assets/am_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6382512"/>
            <a:ext cx="566928" cy="2341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6446520"/>
            <a:ext cx="9784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paso: OJT supervisado y evaluación práctica (TD-P07); registro en IMaS y DC-3/SIRCE. Validación: visto bueno técnica (pendientes: seguridad, laboral, diseño instruccional).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411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dirty="0">
                <a:solidFill>
                  <a:srgbClr val="B8BA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54864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029968"/>
            <a:ext cx="365760" cy="365760"/>
          </a:xfrm>
          <a:prstGeom prst="ellipse">
            <a:avLst/>
          </a:prstGeom>
          <a:solidFill>
            <a:srgbClr val="FF8C47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28016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LOTO no hay manos en el molde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Barra falsa, segmentos, oscilación y ancho bloqueados y probados.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126480" y="18288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09360" y="2029968"/>
            <a:ext cx="365760" cy="365760"/>
          </a:xfrm>
          <a:prstGeom prst="ellipse">
            <a:avLst/>
          </a:prstGeom>
          <a:solidFill>
            <a:srgbClr val="FA464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309360" y="2029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9933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Agua en el molde = no se arranca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23957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Humedad, aceite u óxido + acero líquido = explosión (MS-ACE-03).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31520" y="3401568"/>
            <a:ext cx="365760" cy="365760"/>
          </a:xfrm>
          <a:prstGeom prst="ellipse">
            <a:avLst/>
          </a:prstGeom>
          <a:solidFill>
            <a:srgbClr val="DB225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agua de emergencia no se arranca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28016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Torre con nivel, diésel en automático y prueba ≤ 7 días.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3200400"/>
            <a:ext cx="5394960" cy="1188720"/>
          </a:xfrm>
          <a:prstGeom prst="roundRect">
            <a:avLst>
              <a:gd name="adj" fmla="val 4615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09360" y="3401568"/>
            <a:ext cx="365760" cy="365760"/>
          </a:xfrm>
          <a:prstGeom prst="ellipse">
            <a:avLst/>
          </a:prstGeom>
          <a:solidFill>
            <a:srgbClr val="AA0582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309360" y="3401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0" y="336499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Sin lista firmada no hay arranque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858000" y="3767328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8E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C-06 revisa todos los puntos y firma la lista previa.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ArcelorMittal México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MO-CC1-02 — Inserción y sellado de la barra falsa · Capacitación</dc:title>
  <dc:subject>PptxGenJS Presentation</dc:subject>
  <dc:creator>Gerencia de Capacitación y Desarrollo</dc:creator>
  <cp:lastModifiedBy>Gerencia de Capacitación y Desarrollo</cp:lastModifiedBy>
  <cp:revision>1</cp:revision>
  <dcterms:created xsi:type="dcterms:W3CDTF">2026-09-25T19:42:26Z</dcterms:created>
  <dcterms:modified xsi:type="dcterms:W3CDTF">2026-09-25T19:42:26Z</dcterms:modified>
</cp:coreProperties>
</file>