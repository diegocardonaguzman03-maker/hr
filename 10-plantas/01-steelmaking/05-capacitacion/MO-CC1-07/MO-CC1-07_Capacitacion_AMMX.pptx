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Objetivo del curso: Terminar la secuencia sin escoria en el molde, sin breakout de la cola y con nadie expuesto al metal líquido. Principio rector: El tapón se cierra a 400 mm, la cola se saca despacio y nunca se echa agua sobre acero líquido.
PUNTOS A CERRAR: Presentar a los participantes, el objetivo y la ruta de certificación (teoría → OJT → evaluación práctica).
[POR CONFIRMAR] Nivel de cierre del distribuidor, tiempo de tapado y velocidad de salida de cola con el OEM · Apagado de zonas, despunte de cola y cierre de emergencia del distribuidor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objetivo como una conducta observable que se evaluará en campo.
PUNTOS A CERRAR: Confirmar que cada participante sabe en qué rol ejecutará el proceso.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R = ejecuta · A = dueño y responsable final · C = consultado · I = informado.
PUNTOS A CERRAR: Cada participante identifica su renglón y a quién escala.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Recorrer el flujo de izquierda a derecha; señalar las compuertas de decisión.
PUNTOS A CERRAR: Qué pasa si una condición previa no se cumple: no se avanza.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Usar la figura para ubicar cada componente en planta.
PUNTOS A CERRAR: Pedir a un participante que explique la figura con sus palabras.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Usar la figura para ubicar cada componente en planta.
PUNTOS A CERRAR: Pedir a un participante que explique la figura con sus palabras.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La columna resaltada es lo que se verifica ANTES de operar.
PUNTOS A CERRAR: Equipo que no pasa la verificación = no se opera; se reporta.
[POR CONFIRMAR] Especificaciones marcadas en la tabla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renglón: objetivo, rango normal, alarma y la acción (columna resaltada).
PUNTOS A CERRAR: Ejercicio: dar un valor fuera de rango y pedir la acción correcta.
[POR CONFIRMAR] Agua de molde ≥ 10 min después de la salida de la cola. Nivel de cierre, tapado, velocidades y despunte: [Validar con OEM / Ingeniería de Proceso].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Los controles con ★ son críticos: si fallan puede haber una fatalidad. Se evalúan en la certificación.
PUNTOS A CERRAR: Cualquier persona puede y debe detener el trabajo si un control crítico no está.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Ubicar en la figura dónde está cada persona durante el proceso.
PUNTOS A CERRAR: Distancias y rutas de escape: preguntar a cada participante la suya.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Relacionar cada variable con el defecto que causa aguas abajo.
PUNTOS A CERRAR: Quién registra cada variable y dónde.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paso y demostrar en campo o simulador los pasos ★ (renglones resaltados).
PUNTOS A CERRAR: Los pasos ★ no se omiten ni se cambian de orden.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paso y demostrar en campo o simulador los pasos ★ (renglones resaltados).
PUNTOS A CERRAR: Los pasos ★ no se omiten ni se cambian de orden.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paso y demostrar en campo o simulador los pasos ★ (renglones resaltados).
PUNTOS A CERRAR: Los pasos ★ no se omiten ni se cambian de orden.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Practicar cada renglón como simulacro de mesa: síntoma → acción → a quién avisar.
PUNTOS A CERRAR: Nadie improvisa: si no está aquí, se detiene y se escala al supervisor.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Nivel requerido: U (Ejecución Autónoma y Habilitada). La evaluación es práctica, ante evaluador certificado, sobre los pasos ★.
PUNTOS A CERRAR: Quien no demuestra todos los pasos ★ queda "aún no competente" y repite OJT dirigido.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Explicar la ruta completa y los tiempos.
PUNTOS A CERRAR: Aclarar que la evaluación no es sanción: es la evidencia de que la persona puede trabajar segura.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RESPUESTAS:
1) b) 400 mm — 400 mm (≈ 14 t), nunca menos: debajo se forma un vórtice que arrastra escoria al molde.
2) b) 3–5 min — 3–5 min para formar la costra superior; más de 8 min arriesga que la cola se pegue.
3) a) 0.3 m/min — Dentro del molde la cola es el tramo más débil; luego rampa ≤ 0.2 hasta ≈ 1.0 m/min.
4) c) No, nunca — Agua sobre acero líquido es explosión de vapor; solo práctica aprobada por el OEM.
5) b) No, se cierra de inmediato — Breakout, fuga de agua, rebose o falla de agua u oscilación: cierre inmediato de olla y tapón.
CÓMO EXPLICARLA: dar 5 minutos; revisar en grupo. PUNTOS A CERRAR: mínimo 4 de 5 correctas para pasar a OJT.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Cerrar con las reglas que no se negocian; cada participante repite la regla más importante para su rol.
PUNTOS A CERRAR: Agendar OJT con el supervisor y el evaluador.
[POR CONFIRMAR] Nivel de cierre del distribuidor, tiempo de tapado y velocidad de salida de cola con el OEM · Apagado de zonas, despunte de cola y cierre de emergencia del distribuidor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HR/2e49314e-011f-5c3a-b225-07e067b46c12/scratchpad/ammx/assets/am_logo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20040"/>
            <a:ext cx="960120" cy="39652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91440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CAPACITACIÓN TÉCNICA · OPERACIÓN · MO-CC1-07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298448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Fin de secuencia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286000"/>
            <a:ext cx="7680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Terminar la secuencia sin escoria en el molde, sin breakout de la cola y con nadie expuesto al metal líquido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4864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580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8 h</a:t>
            </a:r>
            <a:endParaRPr lang="en-US" sz="32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teoría (S-13 / S-12)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256032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69748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</a:t>
            </a:r>
            <a:endParaRPr lang="en-US" sz="3200" dirty="0"/>
          </a:p>
        </p:txBody>
      </p:sp>
      <p:sp>
        <p:nvSpPr>
          <p:cNvPr id="11" name="Text 8"/>
          <p:cNvSpPr txBox="1"/>
          <p:nvPr/>
        </p:nvSpPr>
        <p:spPr>
          <a:xfrm>
            <a:off x="269748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cierres de secuencia en OJT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57200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70916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</a:t>
            </a:r>
            <a:endParaRPr lang="en-US" sz="3200" dirty="0"/>
          </a:p>
        </p:txBody>
      </p:sp>
      <p:sp>
        <p:nvSpPr>
          <p:cNvPr id="14" name="Text 11"/>
          <p:cNvSpPr txBox="1"/>
          <p:nvPr/>
        </p:nvSpPr>
        <p:spPr>
          <a:xfrm>
            <a:off x="470916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pasos críticos ★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58368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72084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24</a:t>
            </a:r>
            <a:endParaRPr lang="en-US" sz="3200" dirty="0"/>
          </a:p>
        </p:txBody>
      </p:sp>
      <p:sp>
        <p:nvSpPr>
          <p:cNvPr id="17" name="Text 14"/>
          <p:cNvSpPr txBox="1"/>
          <p:nvPr/>
        </p:nvSpPr>
        <p:spPr>
          <a:xfrm>
            <a:off x="672084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meses de vigencia (TD-P07)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9208008" y="1325880"/>
            <a:ext cx="0" cy="3505200"/>
          </a:xfrm>
          <a:prstGeom prst="line">
            <a:avLst/>
          </a:prstGeom>
          <a:noFill/>
          <a:ln w="12700">
            <a:solidFill>
              <a:srgbClr val="8A8CA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9025128" y="1143000"/>
            <a:ext cx="365760" cy="365760"/>
          </a:xfrm>
          <a:prstGeom prst="ellipse">
            <a:avLst/>
          </a:prstGeom>
          <a:solidFill>
            <a:srgbClr val="FF8C47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25128" y="1143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9528048" y="112471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Última olla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9025128" y="1844040"/>
            <a:ext cx="365760" cy="365760"/>
          </a:xfrm>
          <a:prstGeom prst="ellipse">
            <a:avLst/>
          </a:prstGeom>
          <a:solidFill>
            <a:srgbClr val="FC6A45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025128" y="1844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9528048" y="182575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Drenar por nivel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9025128" y="2545080"/>
            <a:ext cx="365760" cy="365760"/>
          </a:xfrm>
          <a:prstGeom prst="ellipse">
            <a:avLst/>
          </a:prstGeom>
          <a:solidFill>
            <a:srgbClr val="FA4642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9025128" y="2545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9528048" y="252679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Tapón a 400 mm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9025128" y="3246120"/>
            <a:ext cx="365760" cy="365760"/>
          </a:xfrm>
          <a:prstGeom prst="ellipse">
            <a:avLst/>
          </a:prstGeom>
          <a:solidFill>
            <a:srgbClr val="DB2259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9025128" y="3246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9528048" y="322783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Tapado 3–5 min</a:t>
            </a:r>
            <a:endParaRPr lang="en-US" sz="1150" dirty="0"/>
          </a:p>
        </p:txBody>
      </p:sp>
      <p:sp>
        <p:nvSpPr>
          <p:cNvPr id="31" name="Shape 28"/>
          <p:cNvSpPr/>
          <p:nvPr/>
        </p:nvSpPr>
        <p:spPr>
          <a:xfrm>
            <a:off x="9025128" y="3947160"/>
            <a:ext cx="365760" cy="365760"/>
          </a:xfrm>
          <a:prstGeom prst="ellipse">
            <a:avLst/>
          </a:prstGeom>
          <a:solidFill>
            <a:srgbClr val="C8136C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9025128" y="3947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9528048" y="392887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Cola a 0.3 m/min</a:t>
            </a:r>
            <a:endParaRPr lang="en-US" sz="1150" dirty="0"/>
          </a:p>
        </p:txBody>
      </p:sp>
      <p:sp>
        <p:nvSpPr>
          <p:cNvPr id="34" name="Shape 31"/>
          <p:cNvSpPr/>
          <p:nvPr/>
        </p:nvSpPr>
        <p:spPr>
          <a:xfrm>
            <a:off x="9025128" y="4648200"/>
            <a:ext cx="365760" cy="365760"/>
          </a:xfrm>
          <a:prstGeom prst="ellipse">
            <a:avLst/>
          </a:prstGeom>
          <a:solidFill>
            <a:srgbClr val="AA0582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9025128" y="4648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</a:t>
            </a: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9528048" y="462991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Despunte y LOTO</a:t>
            </a:r>
            <a:endParaRPr lang="en-US" sz="1150" dirty="0"/>
          </a:p>
        </p:txBody>
      </p:sp>
      <p:sp>
        <p:nvSpPr>
          <p:cNvPr id="37" name="Text 34"/>
          <p:cNvSpPr txBox="1"/>
          <p:nvPr/>
        </p:nvSpPr>
        <p:spPr>
          <a:xfrm>
            <a:off x="548640" y="53492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Para: S-13 Operador de Plataforma · S-12 Operador de Púlpito · S-14 Ayudante · S-16 Corte · S-09 Grúa de Colada · C-06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48640" y="6446520"/>
            <a:ext cx="10058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MO-CC1-07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39" name="Text 36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01 · OBJETIVOS DE APRENDIZAJE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Al terminar, cierras la secuencia sin escoria ni fuga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MO-CC1-07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554480"/>
            <a:ext cx="566928" cy="566928"/>
          </a:xfrm>
          <a:prstGeom prst="ellipse">
            <a:avLst/>
          </a:prstGeom>
          <a:solidFill>
            <a:srgbClr val="FF8C47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1700784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25880" y="1517904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Drenar sin arrastrar escoria</a:t>
            </a:r>
            <a:endParaRPr lang="en-US" sz="1350" dirty="0"/>
          </a:p>
        </p:txBody>
      </p:sp>
      <p:sp>
        <p:nvSpPr>
          <p:cNvPr id="10" name="Text 6"/>
          <p:cNvSpPr txBox="1"/>
          <p:nvPr/>
        </p:nvSpPr>
        <p:spPr>
          <a:xfrm>
            <a:off x="1325880" y="1883664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Última olla cerrada con ≤ 4 t; velocidad por nivel (0.9, 0.6, 0.4 m/min); tapón cerrado a 400 mm, nunca menos.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48640" y="2724912"/>
            <a:ext cx="566928" cy="566928"/>
          </a:xfrm>
          <a:prstGeom prst="ellipse">
            <a:avLst/>
          </a:prstGeom>
          <a:solidFill>
            <a:srgbClr val="FA4642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2871216"/>
            <a:ext cx="274320" cy="2743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325880" y="2688336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Tapar y sacar la cola</a:t>
            </a:r>
            <a:endParaRPr lang="en-US" sz="1350" dirty="0"/>
          </a:p>
        </p:txBody>
      </p:sp>
      <p:sp>
        <p:nvSpPr>
          <p:cNvPr id="14" name="Text 9"/>
          <p:cNvSpPr txBox="1"/>
          <p:nvPr/>
        </p:nvSpPr>
        <p:spPr>
          <a:xfrm>
            <a:off x="1325880" y="3054096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Línea detenida 3–5 min con agua y oscilación; 0.3 m/min el primer metro; salida a ≈ 1.0 m/min.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548640" y="3895344"/>
            <a:ext cx="566928" cy="566928"/>
          </a:xfrm>
          <a:prstGeom prst="ellipse">
            <a:avLst/>
          </a:prstGeom>
          <a:solidFill>
            <a:srgbClr val="DB2259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4041648"/>
            <a:ext cx="274320" cy="2743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325880" y="3858768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Mantener la exclusión</a:t>
            </a:r>
            <a:endParaRPr lang="en-US" sz="1350" dirty="0"/>
          </a:p>
        </p:txBody>
      </p:sp>
      <p:sp>
        <p:nvSpPr>
          <p:cNvPr id="18" name="Text 12"/>
          <p:cNvSpPr txBox="1"/>
          <p:nvPr/>
        </p:nvSpPr>
        <p:spPr>
          <a:xfrm>
            <a:off x="1325880" y="4224528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Zona bajo el molde activa todo el cierre; C-06 la reconfirma antes de extraer y la levanta tras el segmento 3.</a:t>
            </a:r>
            <a:endParaRPr lang="en-US" sz="1100" dirty="0"/>
          </a:p>
        </p:txBody>
      </p:sp>
      <p:sp>
        <p:nvSpPr>
          <p:cNvPr id="19" name="Shape 13"/>
          <p:cNvSpPr/>
          <p:nvPr/>
        </p:nvSpPr>
        <p:spPr>
          <a:xfrm>
            <a:off x="548640" y="5065776"/>
            <a:ext cx="566928" cy="566928"/>
          </a:xfrm>
          <a:prstGeom prst="ellipse">
            <a:avLst/>
          </a:prstGeom>
          <a:solidFill>
            <a:srgbClr val="AA0582"/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944" y="5212080"/>
            <a:ext cx="274320" cy="27432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325880" y="5029200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Decidir un cierre no planeado</a:t>
            </a:r>
            <a:endParaRPr lang="en-US" sz="1350" dirty="0"/>
          </a:p>
        </p:txBody>
      </p:sp>
      <p:sp>
        <p:nvSpPr>
          <p:cNvPr id="22" name="Text 15"/>
          <p:cNvSpPr txBox="1"/>
          <p:nvPr/>
        </p:nvSpPr>
        <p:spPr>
          <a:xfrm>
            <a:off x="1325880" y="5394960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Breakout, fuga de agua, rebose o falla de agua u oscilación: cerrar de inmediato sin esperar 400 mm.</a:t>
            </a:r>
            <a:endParaRPr lang="en-US" sz="1100" dirty="0"/>
          </a:p>
        </p:txBody>
      </p:sp>
      <p:sp>
        <p:nvSpPr>
          <p:cNvPr id="23" name="Shape 16"/>
          <p:cNvSpPr/>
          <p:nvPr/>
        </p:nvSpPr>
        <p:spPr>
          <a:xfrm>
            <a:off x="6675120" y="1463040"/>
            <a:ext cx="4983480" cy="4754880"/>
          </a:xfrm>
          <a:prstGeom prst="roundRect">
            <a:avLst>
              <a:gd name="adj" fmla="val 1538"/>
            </a:avLst>
          </a:prstGeom>
          <a:solidFill>
            <a:srgbClr val="F4F5F9"/>
          </a:solidFill>
          <a:ln/>
        </p:spPr>
      </p:sp>
      <p:sp>
        <p:nvSpPr>
          <p:cNvPr id="24" name="Text 17"/>
          <p:cNvSpPr txBox="1"/>
          <p:nvPr/>
        </p:nvSpPr>
        <p:spPr>
          <a:xfrm>
            <a:off x="6949440" y="1645920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POR QUÉ IMPORTA</a:t>
            </a:r>
            <a:endParaRPr lang="en-US" sz="1000" dirty="0"/>
          </a:p>
        </p:txBody>
      </p:sp>
      <p:sp>
        <p:nvSpPr>
          <p:cNvPr id="25" name="Text 18"/>
          <p:cNvSpPr txBox="1"/>
          <p:nvPr/>
        </p:nvSpPr>
        <p:spPr>
          <a:xfrm>
            <a:off x="6949440" y="2029968"/>
            <a:ext cx="4434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Al final de la secuencia el distribuidor se vacía y aparece el vórtice que lleva escoria al molde. La cola sale con una cáscara delgada: si se extrae rápido o sin tapar, hay breakout. Y una sola gota de agua sobre la cola líquida puede causar una explosión.</a:t>
            </a:r>
            <a:endParaRPr lang="en-US" sz="1200" dirty="0"/>
          </a:p>
        </p:txBody>
      </p:sp>
      <p:sp>
        <p:nvSpPr>
          <p:cNvPr id="26" name="Text 19"/>
          <p:cNvSpPr txBox="1"/>
          <p:nvPr/>
        </p:nvSpPr>
        <p:spPr>
          <a:xfrm>
            <a:off x="6949440" y="4681728"/>
            <a:ext cx="4434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tapón se cierra a 400 mm, la cola se saca despacio y nunca se echa agua sobre acero líquido.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02 · ROLES Y RESPONSABILIDADES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C-06 decide el cierre; S-13 y S-12 lo ejecutan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MO-CC1-07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7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6720840"/>
                <a:gridCol w="100584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Qué hace en el cierre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RACI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C-06 Supervisor de Colada Continua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Decide el cierre planeado o de emergencia; dirige la salida de cola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S-13 Operador de Plataforma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Cierre de olla y tapón; retiro del distribuidor; nivel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S-12 Operador de Púlpito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Velocidad por nivel, detención, salida de cola y modo de enfriamiento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S-14 Ayudante de Colada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Limpia la superficie de la cola en el molde; observa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S-16 Operador de Corte y Marcado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Corta el último planchón y despunta la cola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S-09 Operador de Grúa de Colada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Retira la última olla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C-08 Ingeniero de Proceso de CC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Parámetros de salida de cola; análisis de cierres no planeados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C-04 Jefe de Turno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Informado del cierre y sus causas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03 · EL PROCESO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cola es la parte más débil: se saca despacio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MO-CC1-07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691640"/>
            <a:ext cx="1461897" cy="640080"/>
          </a:xfrm>
          <a:prstGeom prst="homePlate">
            <a:avLst/>
          </a:prstGeom>
          <a:solidFill>
            <a:srgbClr val="FF8C47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13232" y="1691640"/>
            <a:ext cx="11327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Última olla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594360" y="2441448"/>
            <a:ext cx="129730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Aviso a todos; cierre con ≤ 4 t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1937385" y="1691640"/>
            <a:ext cx="1461897" cy="640080"/>
          </a:xfrm>
          <a:prstGeom prst="chevron">
            <a:avLst/>
          </a:prstGeom>
          <a:solidFill>
            <a:srgbClr val="FC6A4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2101977" y="1691640"/>
            <a:ext cx="11327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Drenar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983105" y="2441448"/>
            <a:ext cx="129730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800 → 0.9; 700 → 0.6; 600 → 0.4 m/min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3326130" y="1691640"/>
            <a:ext cx="1461897" cy="640080"/>
          </a:xfrm>
          <a:prstGeom prst="chevron">
            <a:avLst/>
          </a:prstGeom>
          <a:solidFill>
            <a:srgbClr val="FA464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490722" y="1691640"/>
            <a:ext cx="11327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Cerrar tapón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3371850" y="2441448"/>
            <a:ext cx="129730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400 mm (≈ 14 t), nunca menos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4714875" y="1691640"/>
            <a:ext cx="1461897" cy="640080"/>
          </a:xfrm>
          <a:prstGeom prst="chevron">
            <a:avLst/>
          </a:prstGeom>
          <a:solidFill>
            <a:srgbClr val="EA3450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879467" y="1691640"/>
            <a:ext cx="11327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Detener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4760595" y="2441448"/>
            <a:ext cx="129730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Agua de molde y oscilación encendidas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6103620" y="1691640"/>
            <a:ext cx="1461897" cy="640080"/>
          </a:xfrm>
          <a:prstGeom prst="chevron">
            <a:avLst/>
          </a:prstGeom>
          <a:solidFill>
            <a:srgbClr val="DB2259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6268212" y="1691640"/>
            <a:ext cx="11327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Limpiar y tapar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6149340" y="2441448"/>
            <a:ext cx="129730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Herramienta seca; 3–5 min sin agua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7492365" y="1691640"/>
            <a:ext cx="1461897" cy="640080"/>
          </a:xfrm>
          <a:prstGeom prst="chevron">
            <a:avLst/>
          </a:prstGeom>
          <a:solidFill>
            <a:srgbClr val="C8136C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7656957" y="1691640"/>
            <a:ext cx="11327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Extraer cola</a:t>
            </a:r>
            <a:endParaRPr lang="en-US" sz="900" dirty="0"/>
          </a:p>
        </p:txBody>
      </p:sp>
      <p:sp>
        <p:nvSpPr>
          <p:cNvPr id="24" name="Text 21"/>
          <p:cNvSpPr txBox="1"/>
          <p:nvPr/>
        </p:nvSpPr>
        <p:spPr>
          <a:xfrm>
            <a:off x="7538085" y="2441448"/>
            <a:ext cx="129730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0.3 m/min el primer metro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8881110" y="1691640"/>
            <a:ext cx="1461897" cy="640080"/>
          </a:xfrm>
          <a:prstGeom prst="chevron">
            <a:avLst/>
          </a:prstGeom>
          <a:solidFill>
            <a:srgbClr val="AA0582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9045702" y="1691640"/>
            <a:ext cx="11327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Salida</a:t>
            </a:r>
            <a:endParaRPr lang="en-US" sz="900" dirty="0"/>
          </a:p>
        </p:txBody>
      </p:sp>
      <p:sp>
        <p:nvSpPr>
          <p:cNvPr id="27" name="Text 24"/>
          <p:cNvSpPr txBox="1"/>
          <p:nvPr/>
        </p:nvSpPr>
        <p:spPr>
          <a:xfrm>
            <a:off x="8926830" y="2441448"/>
            <a:ext cx="129730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Rampa a ≈ 1.0 m/min; zonas se apagan</a:t>
            </a:r>
            <a:endParaRPr lang="en-US" sz="850" dirty="0"/>
          </a:p>
        </p:txBody>
      </p:sp>
      <p:sp>
        <p:nvSpPr>
          <p:cNvPr id="28" name="Shape 25"/>
          <p:cNvSpPr/>
          <p:nvPr/>
        </p:nvSpPr>
        <p:spPr>
          <a:xfrm>
            <a:off x="10269855" y="1691640"/>
            <a:ext cx="1461897" cy="640080"/>
          </a:xfrm>
          <a:prstGeom prst="chevron">
            <a:avLst/>
          </a:prstGeom>
          <a:solidFill>
            <a:srgbClr val="5B2A86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10434447" y="1691640"/>
            <a:ext cx="11327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Cortar y bloquear</a:t>
            </a:r>
            <a:endParaRPr lang="en-US" sz="900" dirty="0"/>
          </a:p>
        </p:txBody>
      </p:sp>
      <p:sp>
        <p:nvSpPr>
          <p:cNvPr id="30" name="Text 27"/>
          <p:cNvSpPr txBox="1"/>
          <p:nvPr/>
        </p:nvSpPr>
        <p:spPr>
          <a:xfrm>
            <a:off x="10315575" y="2441448"/>
            <a:ext cx="129730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Despunte 500–1,000 mm; LOTO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548640" y="3703320"/>
            <a:ext cx="11109960" cy="2514600"/>
          </a:xfrm>
          <a:prstGeom prst="roundRect">
            <a:avLst>
              <a:gd name="adj" fmla="val 2909"/>
            </a:avLst>
          </a:prstGeom>
          <a:solidFill>
            <a:srgbClr val="F4F5F9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822960" y="3886200"/>
            <a:ext cx="10561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PRINCIPIO DEL PROCESO</a:t>
            </a:r>
            <a:endParaRPr lang="en-US" sz="1000" dirty="0"/>
          </a:p>
        </p:txBody>
      </p:sp>
      <p:sp>
        <p:nvSpPr>
          <p:cNvPr id="33" name="Text 30"/>
          <p:cNvSpPr txBox="1"/>
          <p:nvPr/>
        </p:nvSpPr>
        <p:spPr>
          <a:xfrm>
            <a:off x="822960" y="431596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En un cierre no planeado se cierran olla y tapón de inmediato y se aplica MO-CC1-04 §9.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822960" y="5138928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tapón se cierra a 400 mm, la cola se saca despacio y nunca se echa agua sobre acero líquido.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03 · EL PROCESO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Bajo 400 mm el vórtice arrastra escoria al molde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MO-CC1-07 v0.1 (Borrador para validación) y FT-ACE-001 v0.3. Material de capacitación; no sustituye al manual. Figura: cc1-distribuidor.svg.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750" dirty="0"/>
          </a:p>
        </p:txBody>
      </p:sp>
      <p:pic>
        <p:nvPicPr>
          <p:cNvPr id="7" name="Image 1" descr="/home/user/HR/10-plantas/01-steelmaking/img/png/cc1-distribuido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1594" y="1417320"/>
            <a:ext cx="6640651" cy="484632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7543800" y="1463040"/>
            <a:ext cx="4114800" cy="4754880"/>
          </a:xfrm>
          <a:prstGeom prst="roundRect">
            <a:avLst>
              <a:gd name="adj" fmla="val 1778"/>
            </a:avLst>
          </a:prstGeom>
          <a:solidFill>
            <a:srgbClr val="F4F5F9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7818120" y="16459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LECTURA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7772400" y="2029968"/>
            <a:ext cx="36576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tapón se cierra con 400 mm (≈ 14 t) en el distribuidor.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Debajo de 400 mm se forma un vórtice que arrastra escoria y flux al molde.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distribuidor con residuo se lleva a la fosa seca por una ruta despejada.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03 · EL PROCESO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cola recorre ≈ 32 m hasta el oxicorte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MO-CC1-07 v0.1 (Borrador para validación) y FT-ACE-001 v0.3. Material de capacitación; no sustituye al manual. Figura: cc1-perfil-maquina.svg.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750" dirty="0"/>
          </a:p>
        </p:txBody>
      </p:sp>
      <p:pic>
        <p:nvPicPr>
          <p:cNvPr id="7" name="Image 1" descr="/home/user/HR/10-plantas/01-steelmaking/img/png/cc1-perfil-maquin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552" y="1417320"/>
            <a:ext cx="6376737" cy="484632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7543800" y="1463040"/>
            <a:ext cx="4114800" cy="4754880"/>
          </a:xfrm>
          <a:prstGeom prst="roundRect">
            <a:avLst>
              <a:gd name="adj" fmla="val 1778"/>
            </a:avLst>
          </a:prstGeom>
          <a:solidFill>
            <a:srgbClr val="F4F5F9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7818120" y="16459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LECTURA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7772400" y="2029968"/>
            <a:ext cx="36576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primer metro (dentro del molde) sale a 0.3 m/min: es el tramo más débil.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exclusión bajo el molde sigue hasta que la cola pasa el segmento 3.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Las zonas de enfriamiento se apagan por tracking para no sobreenfriar.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04 · EQUIPOS Y MAQUINARIA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Pesaje, tapón y modo cola deciden un cierre limpio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MO-CC1-07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7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743200"/>
                <a:gridCol w="3291840"/>
                <a:gridCol w="269748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Equipo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Función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Especificación clave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Verificar antes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Detector de escoria / pesaje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Cierre oportuno de la última olla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Peso residual 2–5 t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Señal disponible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Pesaje del distribuidor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Nivel de cierre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400 mm ≈ 14 t [Validar con OEM]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Calibrado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Barra tapón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Cierre final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Cierre total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Sin fuga al cerrar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Modo salida de cola (nivel 2)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Velocidad y apagado de zonas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Tracking de la cola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Activo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Herramientas de molde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Retiro de escoria de la cola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Secas, precalentadas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Inspeccionadas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Oxicorte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Corte final y despunte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O₂ + gas natural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Listo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Fosa del distribuidor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Recibe el distribuidor con residuo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Seca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Inspeccionada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05 · PARÁMETROS DE OPERACIÓN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Nivel de cierre, tapado y velocidad definen la cola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MO-CC1-07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7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331720"/>
                <a:gridCol w="1737360"/>
                <a:gridCol w="2057400"/>
                <a:gridCol w="2103120"/>
                <a:gridCol w="288036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Parámetro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Objetivo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Rango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Alarma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Acción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Peso residual última olla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3–4 t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2–5 t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Escoria en el chorro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Cerrar de inmediato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Nivel para cerrar tapón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400 mm (≈ 14 t)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400–450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&lt; 400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Cerrar de inmediato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SH final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≥ 15 °C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≥ 15 °C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&lt; 15 °C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No bajar velocidad; avisar C-08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Tapado de cola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4 min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3–5 min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&gt; 8 min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Riesgo de pegado; C-06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Agua de molde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Nominal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≥ 95 %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&lt; 90 %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MO-CC1-04 §9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Extracción inicial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0.3 m/min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0.2–0.4 m/min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—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Hasta ≈ 1 m fuera del molde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Salida de cola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1.0 m/min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0.8–1.2 m/min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&gt; 1.2 m/min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Riesgo de abombamiento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Despunte de cola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800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500–1,000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Rechupe visible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Aumentar hasta zona sana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48640" y="5897880"/>
            <a:ext cx="11109960" cy="365760"/>
          </a:xfrm>
          <a:prstGeom prst="rect">
            <a:avLst/>
          </a:prstGeom>
          <a:solidFill>
            <a:srgbClr val="FFF4D6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640080" y="5897880"/>
            <a:ext cx="10927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8A5A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POR CONFIRMAR  </a:t>
            </a:r>
            <a:pPr indent="0" marL="0">
              <a:buNone/>
            </a:pPr>
            <a:r>
              <a:rPr lang="en-US" sz="950" dirty="0">
                <a:solidFill>
                  <a:srgbClr val="8A5A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Agua de molde ≥ 10 min después de la salida de la cola. Nivel de cierre, tapado, velocidades y despunte: [Validar con OEM / Ingeniería de Proceso].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06 · SEGURIDAD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Breakout de cola y agua sobre acero: riesgo mortal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MO-CC1-07 v0.1 (Borrador para validación) y FT-ACE-001 v0.3. Material de capacitación; no sustituye al manual. Serie MS-ACE.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554480"/>
            <a:ext cx="566928" cy="566928"/>
          </a:xfrm>
          <a:prstGeom prst="ellipse">
            <a:avLst/>
          </a:prstGeom>
          <a:solidFill>
            <a:srgbClr val="FA4642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1700784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25880" y="1517904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Exclusión bajo el molde</a:t>
            </a:r>
            <a:endParaRPr lang="en-US" sz="1350" dirty="0"/>
          </a:p>
        </p:txBody>
      </p:sp>
      <p:sp>
        <p:nvSpPr>
          <p:cNvPr id="10" name="Text 6"/>
          <p:cNvSpPr txBox="1"/>
          <p:nvPr/>
        </p:nvSpPr>
        <p:spPr>
          <a:xfrm>
            <a:off x="1325880" y="1883664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Activa sin interrupción desde la colada estable; C-06 la reconfirma antes de extraer y dura hasta que la cola pase el segmento 3.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48640" y="2724912"/>
            <a:ext cx="566928" cy="566928"/>
          </a:xfrm>
          <a:prstGeom prst="ellipse">
            <a:avLst/>
          </a:prstGeom>
          <a:solidFill>
            <a:srgbClr val="DB2259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2871216"/>
            <a:ext cx="274320" cy="2743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325880" y="2688336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Nunca agua sobre la cola</a:t>
            </a:r>
            <a:endParaRPr lang="en-US" sz="1350" dirty="0"/>
          </a:p>
        </p:txBody>
      </p:sp>
      <p:sp>
        <p:nvSpPr>
          <p:cNvPr id="14" name="Text 9"/>
          <p:cNvSpPr txBox="1"/>
          <p:nvPr/>
        </p:nvSpPr>
        <p:spPr>
          <a:xfrm>
            <a:off x="1325880" y="3054096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Prohibido echar agua sobre la cola líquida; herramientas secas; solo práctica aprobada por OEM.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548640" y="3895344"/>
            <a:ext cx="566928" cy="566928"/>
          </a:xfrm>
          <a:prstGeom prst="ellipse">
            <a:avLst/>
          </a:prstGeom>
          <a:solidFill>
            <a:srgbClr val="AA0582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4041648"/>
            <a:ext cx="274320" cy="2743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325880" y="3858768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Cierre a 400 mm</a:t>
            </a:r>
            <a:endParaRPr lang="en-US" sz="1350" dirty="0"/>
          </a:p>
        </p:txBody>
      </p:sp>
      <p:sp>
        <p:nvSpPr>
          <p:cNvPr id="18" name="Text 12"/>
          <p:cNvSpPr txBox="1"/>
          <p:nvPr/>
        </p:nvSpPr>
        <p:spPr>
          <a:xfrm>
            <a:off x="1325880" y="4224528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No bajar de 400 mm: el vórtice arrastra escoria y provoca salpicaduras en el molde.</a:t>
            </a:r>
            <a:endParaRPr lang="en-US" sz="1100" dirty="0"/>
          </a:p>
        </p:txBody>
      </p:sp>
      <p:sp>
        <p:nvSpPr>
          <p:cNvPr id="19" name="Shape 13"/>
          <p:cNvSpPr/>
          <p:nvPr/>
        </p:nvSpPr>
        <p:spPr>
          <a:xfrm>
            <a:off x="548640" y="5065776"/>
            <a:ext cx="566928" cy="566928"/>
          </a:xfrm>
          <a:prstGeom prst="ellipse">
            <a:avLst/>
          </a:prstGeom>
          <a:solidFill>
            <a:srgbClr val="3F6FD1"/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944" y="5212080"/>
            <a:ext cx="274320" cy="27432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325880" y="5029200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Cargas y traslados</a:t>
            </a:r>
            <a:endParaRPr lang="en-US" sz="1350" dirty="0"/>
          </a:p>
        </p:txBody>
      </p:sp>
      <p:sp>
        <p:nvSpPr>
          <p:cNvPr id="22" name="Text 15"/>
          <p:cNvSpPr txBox="1"/>
          <p:nvPr/>
        </p:nvSpPr>
        <p:spPr>
          <a:xfrm>
            <a:off x="1325880" y="5394960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Olla con residuo: nadie bajo la carga. Distribuidor con ≈ 14 t: ruta despejada y fosa seca.</a:t>
            </a:r>
            <a:endParaRPr lang="en-US" sz="1100" dirty="0"/>
          </a:p>
        </p:txBody>
      </p:sp>
      <p:sp>
        <p:nvSpPr>
          <p:cNvPr id="23" name="Shape 16"/>
          <p:cNvSpPr/>
          <p:nvPr/>
        </p:nvSpPr>
        <p:spPr>
          <a:xfrm>
            <a:off x="6949440" y="1463040"/>
            <a:ext cx="4709160" cy="4754880"/>
          </a:xfrm>
          <a:prstGeom prst="roundRect">
            <a:avLst>
              <a:gd name="adj" fmla="val 1553"/>
            </a:avLst>
          </a:prstGeom>
          <a:solidFill>
            <a:srgbClr val="F4F5F9"/>
          </a:solidFill>
          <a:ln/>
        </p:spPr>
      </p:sp>
      <p:sp>
        <p:nvSpPr>
          <p:cNvPr id="24" name="Text 17"/>
          <p:cNvSpPr txBox="1"/>
          <p:nvPr/>
        </p:nvSpPr>
        <p:spPr>
          <a:xfrm>
            <a:off x="7223760" y="1645920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EPP OBLIGATORIO</a:t>
            </a:r>
            <a:endParaRPr lang="en-US" sz="1000" dirty="0"/>
          </a:p>
        </p:txBody>
      </p:sp>
      <p:sp>
        <p:nvSpPr>
          <p:cNvPr id="25" name="Text 18"/>
          <p:cNvSpPr txBox="1"/>
          <p:nvPr/>
        </p:nvSpPr>
        <p:spPr>
          <a:xfrm>
            <a:off x="7223760" y="2029968"/>
            <a:ext cx="420624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Aluminizado completo y careta IR (S-13, S-14)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Ropa FR, guantes y botas con metatarsal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Protección auditiva y detector de O₂/CO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Oxicorte (S-16): careta sombra 5 y guantes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06 · SEGURIDAD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 la cola fuera, la máquina se bloquea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MO-CC1-07 v0.1 (Borrador para validación) y FT-ACE-001 v0.3. Material de capacitación; no sustituye al manual. Figura: ms-loto-puntos-cc.svg.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750" dirty="0"/>
          </a:p>
        </p:txBody>
      </p:sp>
      <p:pic>
        <p:nvPicPr>
          <p:cNvPr id="7" name="Image 1" descr="/home/user/HR/10-plantas/01-steelmaking/img/png/ms-loto-puntos-c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7206" y="1417320"/>
            <a:ext cx="5769429" cy="484632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7543800" y="1463040"/>
            <a:ext cx="4114800" cy="4754880"/>
          </a:xfrm>
          <a:prstGeom prst="roundRect">
            <a:avLst>
              <a:gd name="adj" fmla="val 1778"/>
            </a:avLst>
          </a:prstGeom>
          <a:solidFill>
            <a:srgbClr val="F4F5F9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7818120" y="16459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LECTURA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7772400" y="2029968"/>
            <a:ext cx="36576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Solo se entra a inspeccionar con la cola fuera y la máquina detenida.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Se bloquean accionamientos, agua secundaria y oxicorte antes de entrar.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Cada trabajador pone su candado personal en la caja grupal.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07 · CALIDAD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despunte de cola llega hasta zona sana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MO-CC1-07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7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2834640"/>
                <a:gridCol w="3017520"/>
                <a:gridCol w="26974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Variable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Especificación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Cómo y cuándo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 falla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Escoria en el último planchón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Sin inclusiones macro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Cierre a 400 mm; inspección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Despunte mayor o rechazo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Despunte de cola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Hasta zona sana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Visual en el corte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Rechupe o porosidad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Últimos planchones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Marcados fin de secuencia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Tracking en MES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Inspección especial (MO-CC1-09)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Temperatura del último tramo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SH ≥ 15 °C hasta el cierre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Termopar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Congelamiento en SEN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548640" y="5623560"/>
            <a:ext cx="11109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 hubo escoria en el molde al final, se aumenta el despunte y el planchón se marca para C-09.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08 · PASO A PASO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Dieciséis pasos; seis no admiten error (1/3)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MO-CC1-07 v0.1 (Borrador para validación) y FT-ACE-001 v0.3. Material de capacitación; no sustituye al manual. ★ = paso crítico, se evalúa en la certificación.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7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594360"/>
                <a:gridCol w="2148840"/>
                <a:gridCol w="5074920"/>
                <a:gridCol w="2057400"/>
                <a:gridCol w="12344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#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Paso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Cómo hacerlo y qué medir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Criterio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Anuncia y cierra la olla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Aviso de última olla por radio a todos; cierra al primer signo de escoria o ≤ 4 t; retira el tubo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Olla cerrada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C-06 / S-13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Retira la olla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Giro de torreta y S-09 la lleva a escorial; nadie bajo la carga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Olla fuera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S-13 / S-09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3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Drena el distribuidor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Baja velocidad: 800 mm → 0.9; 700 mm → 0.6; 600 mm → 0.4 m/min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Nivel de molde ± 3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4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Mide la temperatura final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 ≈ 600 mm del distribuidor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SH ≥ 15 °C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S-13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Cierra el tapón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 400 mm del distribuidor, no menos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Cerrado sin fuga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S-13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Detén y retira distribuidor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Velocidad 0; agua de molde y oscilación encendidas; modo cola; distribuidor a fosa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Distribuidor fuera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S-12 / S-13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7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Reconfirma la exclusión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Por radio y visual: nadie bajo el molde ni en segmentos 1–3 antes de extraer la cola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Confirmación de C-06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08 · PASO A PASO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Dieciséis pasos; seis no admiten error (2/3)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MO-CC1-07 v0.1 (Borrador para validación) y FT-ACE-001 v0.3. Material de capacitación; no sustituye al manual. ★ = paso crítico, se evalúa en la certificación.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7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594360"/>
                <a:gridCol w="2148840"/>
                <a:gridCol w="5074920"/>
                <a:gridCol w="2057400"/>
                <a:gridCol w="12344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#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Paso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Cómo hacerlo y qué medir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Criterio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8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Limpia la cola en el molde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Retira escoria y polvo con herramienta seca, sin romper la cáscara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Superficie limpia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S-14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9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Tapa la cola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Espera 3–5 min con la línea detenida; no eches agua sobre acero líquido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Costra superior formada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S-14 / S-12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10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Extrae la cola del molde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0.3 m/min hasta que la cola salga del molde (≈ 1 m)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Sin alarma BOP ni fuga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Sube a velocidad de salida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Rampa ≤ 0.2 m/min por minuto hasta ≈ 1.0 m/min; zonas se apagan al paso de la cola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Sin abombamiento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Levanta la exclusión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Cuando la cola pase el segmento 3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Autorización de C-06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13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Mantén el agua de molde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≥ 10 min después de la salida de la cola; luego según OEM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Registro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14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Corta el último planchón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Longitud según programa; despunte de cola 500–1,000 mm hasta zona sana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Corte sano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08 · PASO A PASO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Dieciséis pasos; seis no admiten error (3/3)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MO-CC1-07 v0.1 (Borrador para validación) y FT-ACE-001 v0.3. Material de capacitación; no sustituye al manual. ★ = paso crítico, se evalúa en la certificación.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7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594360"/>
                <a:gridCol w="2148840"/>
                <a:gridCol w="5074920"/>
                <a:gridCol w="2057400"/>
                <a:gridCol w="12344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#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Paso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Cómo hacerlo y qué medir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Criterio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Bloquea e inspecciona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LOTO (MS-ACE-02); rodillos, boquillas, molde y restos de acero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Reporte para MO-CC1-02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S-14 / C-06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Registra la secuencia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Coladas, t, causa del cierre, residuos, vida de distribuidor y SEN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Hoja de secuencia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09 · CONDICIONES ANORMALES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Fuga al extraer la cola: detén y evacúa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MO-CC1-07 v0.1 (Borrador para validación) y FT-ACE-001 v0.3. Material de capacitación; no sustituye al manual. Serie MS-ACE-09 para emergencias.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7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6400800"/>
                <a:gridCol w="196596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Síntoma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Acción inmediata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Avisar 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Escoria en el molde al final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Cierra el tapón; aumenta el despunte; marca el planchón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C-06, C-09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Fuga al extraer la cola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Detén la línea; evacúa; respuesta a breakout (MO-CC1-04 §9)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C-04, C-06, C-16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La cola no se mueve (pegada)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Mantén oscilación; par gradual según OEM; sin O₂ sin autorización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C-06, C-08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Tapón no cierra completo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Cierre de emergencia del distribuidor (subirlo) según OEM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Zona de enfriamiento no se apaga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Apaga manual la zona; evita sobreenfriar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Cola abombada entre rodillos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Baja la velocidad; revisa el agua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C-08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Falla de agua de molde en tapado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Agua de emergencia ≤ 15 s; si no entra, evacúa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C-04, C-12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 · COMPETENCIA Y CERTIFICACIÓN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Certificación nivel U: demostrar, no asistir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MO-CC1-07 v0.1 (Borrador para validación) y FT-ACE-001 v0.3. Material de capacitación; no sustituye al manual. TD-P07. ILUO: I Introducción · L Práctica supervisada · U Ejecución autónoma · O Dominio e instrucción.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554480"/>
            <a:ext cx="502920" cy="502920"/>
          </a:xfrm>
          <a:prstGeom prst="ellipse">
            <a:avLst/>
          </a:prstGeom>
          <a:solidFill>
            <a:srgbClr val="D6D8E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4864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1097280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Introducción y Conocimiento</a:t>
            </a:r>
            <a:endParaRPr lang="en-US" sz="750" dirty="0"/>
          </a:p>
        </p:txBody>
      </p:sp>
      <p:sp>
        <p:nvSpPr>
          <p:cNvPr id="10" name="Shape 7"/>
          <p:cNvSpPr/>
          <p:nvPr/>
        </p:nvSpPr>
        <p:spPr>
          <a:xfrm>
            <a:off x="2121408" y="1554480"/>
            <a:ext cx="502920" cy="502920"/>
          </a:xfrm>
          <a:prstGeom prst="ellipse">
            <a:avLst/>
          </a:prstGeom>
          <a:solidFill>
            <a:srgbClr val="D6D8EA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2121408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2670048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Aprendizaje y Práctica Supervisada</a:t>
            </a:r>
            <a:endParaRPr lang="en-US" sz="750" dirty="0"/>
          </a:p>
        </p:txBody>
      </p:sp>
      <p:sp>
        <p:nvSpPr>
          <p:cNvPr id="13" name="Shape 10"/>
          <p:cNvSpPr/>
          <p:nvPr/>
        </p:nvSpPr>
        <p:spPr>
          <a:xfrm>
            <a:off x="3694176" y="1554480"/>
            <a:ext cx="502920" cy="502920"/>
          </a:xfrm>
          <a:prstGeom prst="ellipse">
            <a:avLst/>
          </a:prstGeom>
          <a:solidFill>
            <a:srgbClr val="E8551B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694176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4242816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Ejecución Autónoma y Habilitada</a:t>
            </a:r>
            <a:endParaRPr lang="en-US" sz="750" dirty="0"/>
          </a:p>
        </p:txBody>
      </p:sp>
      <p:sp>
        <p:nvSpPr>
          <p:cNvPr id="16" name="Shape 13"/>
          <p:cNvSpPr/>
          <p:nvPr/>
        </p:nvSpPr>
        <p:spPr>
          <a:xfrm>
            <a:off x="5266944" y="1554480"/>
            <a:ext cx="502920" cy="502920"/>
          </a:xfrm>
          <a:prstGeom prst="ellipse">
            <a:avLst/>
          </a:prstGeom>
          <a:solidFill>
            <a:srgbClr val="D6D8E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5266944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5815584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Dominio, Optimización e Instrucción</a:t>
            </a:r>
            <a:endParaRPr lang="en-US" sz="75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377440"/>
          <a:ext cx="65836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594360"/>
                <a:gridCol w="1097280"/>
                <a:gridCol w="1737360"/>
                <a:gridCol w="10515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ILUO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Teoría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OJT supervisado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Vigencia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S-13 Operador de Plataforma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8 h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6 cierres de secuencia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24 meses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S-12 Operador de Púlpito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8 h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6 cierres (1 no planeado en simulador)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24 meses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S-14 Ayudante de Colada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6 h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6 cierres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24 meses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C-06 Supervisor de CC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 (evaluador)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8 h + evaluador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—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24 meses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</a:tbl>
          </a:graphicData>
        </a:graphic>
      </p:graphicFrame>
      <p:sp>
        <p:nvSpPr>
          <p:cNvPr id="20" name="Shape 16"/>
          <p:cNvSpPr/>
          <p:nvPr/>
        </p:nvSpPr>
        <p:spPr>
          <a:xfrm>
            <a:off x="7406640" y="1463040"/>
            <a:ext cx="4251960" cy="4754880"/>
          </a:xfrm>
          <a:prstGeom prst="roundRect">
            <a:avLst>
              <a:gd name="adj" fmla="val 1720"/>
            </a:avLst>
          </a:prstGeom>
          <a:solidFill>
            <a:srgbClr val="F4F5F9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7680960" y="16459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PASOS ★ QUE SE EVALÚAN</a:t>
            </a:r>
            <a:endParaRPr lang="en-US" sz="1000" dirty="0"/>
          </a:p>
        </p:txBody>
      </p:sp>
      <p:sp>
        <p:nvSpPr>
          <p:cNvPr id="22" name="Text 18"/>
          <p:cNvSpPr txBox="1"/>
          <p:nvPr/>
        </p:nvSpPr>
        <p:spPr>
          <a:xfrm>
            <a:off x="7680960" y="2029968"/>
            <a:ext cx="374904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Cierra el tapón a 400 mm, nunca por debajo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Mantiene la exclusión bajo el molde todo el cierre y la reconfirma antes de extraer la cola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Retira la olla sin nadie bajo la carga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Limpia la cola con herramienta seca y no echa agua sobre el acero líquido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Extrae el primer metro a 0.3 m/min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 · COMPETENCIA Y CERTIFICACIÓN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 la teoría a la certificación en seis pasos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MO-CC1-07 v0.1 (Borrador para validación) y FT-ACE-001 v0.3. Material de capacitación; no sustituye al manual. Registro de competencia en IMaS; constancia DC-3/SIRCE (obligación STPS).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1474470" y="1920240"/>
            <a:ext cx="9258300" cy="0"/>
          </a:xfrm>
          <a:prstGeom prst="line">
            <a:avLst/>
          </a:prstGeom>
          <a:noFill/>
          <a:ln w="12700">
            <a:solidFill>
              <a:srgbClr val="D6D8E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291590" y="1737360"/>
            <a:ext cx="365760" cy="365760"/>
          </a:xfrm>
          <a:prstGeom prst="ellipse">
            <a:avLst/>
          </a:prstGeom>
          <a:solidFill>
            <a:srgbClr val="FF8C47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29159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Teoría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59436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8 h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143250" y="1737360"/>
            <a:ext cx="365760" cy="365760"/>
          </a:xfrm>
          <a:prstGeom prst="ellipse">
            <a:avLst/>
          </a:prstGeom>
          <a:solidFill>
            <a:srgbClr val="FC6A4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14325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244602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Autoevaluación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244602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≥ 80 %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4994910" y="1737360"/>
            <a:ext cx="365760" cy="365760"/>
          </a:xfrm>
          <a:prstGeom prst="ellipse">
            <a:avLst/>
          </a:prstGeom>
          <a:solidFill>
            <a:srgbClr val="EA3450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99491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429768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OJT supervisado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429768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 cierres de secuencia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6846570" y="1737360"/>
            <a:ext cx="365760" cy="365760"/>
          </a:xfrm>
          <a:prstGeom prst="ellipse">
            <a:avLst/>
          </a:prstGeom>
          <a:solidFill>
            <a:srgbClr val="DB225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684657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614934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Evaluación práctica ★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614934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100 % pasos ★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8698230" y="1737360"/>
            <a:ext cx="365760" cy="365760"/>
          </a:xfrm>
          <a:prstGeom prst="ellipse">
            <a:avLst/>
          </a:prstGeom>
          <a:solidFill>
            <a:srgbClr val="AA0582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869823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800100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Registro IMaS y DC-3/SIRCE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800100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≤ 10 días hábiles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10549890" y="1737360"/>
            <a:ext cx="365760" cy="365760"/>
          </a:xfrm>
          <a:prstGeom prst="ellipse">
            <a:avLst/>
          </a:prstGeom>
          <a:solidFill>
            <a:srgbClr val="5B2A86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1054989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985266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Recertificación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985266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24 meses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548640" y="3429000"/>
            <a:ext cx="11109960" cy="2788920"/>
          </a:xfrm>
          <a:prstGeom prst="roundRect">
            <a:avLst>
              <a:gd name="adj" fmla="val 2623"/>
            </a:avLst>
          </a:prstGeom>
          <a:solidFill>
            <a:srgbClr val="F4F5F9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822960" y="3611880"/>
            <a:ext cx="10561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REGLAS DE LA CERTIFICACIÓN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822960" y="3995928"/>
            <a:ext cx="105156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certificación vale solo para el proceso y el rol evaluados; se suspende tras un incidente grave hasta reevaluar.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trabajador con experiencia puede solicitar la evaluación directa como examen de suficiencia (LFT art. 153-U).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Sin certificación vigente no se ejecuta la tarea crítica: el permiso de trabajo lo bloquea.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 · AUTOEVALUACIÓN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Autoevaluación: cinco preguntas antes del OJT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MO-CC1-07 v0.1 (Borrador para validación) y FT-ACE-001 v0.3. Material de capacitación; no sustituye al manual. Respuestas en las notas del orador.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46304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8" name="Shape 5"/>
          <p:cNvSpPr/>
          <p:nvPr/>
        </p:nvSpPr>
        <p:spPr>
          <a:xfrm>
            <a:off x="731520" y="1645920"/>
            <a:ext cx="457200" cy="457200"/>
          </a:xfrm>
          <a:prstGeom prst="ellipse">
            <a:avLst/>
          </a:prstGeom>
          <a:solidFill>
            <a:srgbClr val="FC6A4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298448" y="17373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1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22402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¿A qué nivel del distribuidor se cierra el tapón al final de la secuencia?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271576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200 mm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400 mm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700 mm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297680" y="146304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13" name="Shape 10"/>
          <p:cNvSpPr/>
          <p:nvPr/>
        </p:nvSpPr>
        <p:spPr>
          <a:xfrm>
            <a:off x="4480560" y="1645920"/>
            <a:ext cx="457200" cy="457200"/>
          </a:xfrm>
          <a:prstGeom prst="ellipse">
            <a:avLst/>
          </a:prstGeom>
          <a:solidFill>
            <a:srgbClr val="FA464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47488" y="17373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2</a:t>
            </a:r>
            <a:endParaRPr lang="en-US" sz="800" dirty="0"/>
          </a:p>
        </p:txBody>
      </p:sp>
      <p:sp>
        <p:nvSpPr>
          <p:cNvPr id="15" name="Text 12"/>
          <p:cNvSpPr txBox="1"/>
          <p:nvPr/>
        </p:nvSpPr>
        <p:spPr>
          <a:xfrm>
            <a:off x="4480560" y="22402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¿Cuánto tiempo se tapa la cola con la línea detenida?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4480560" y="271576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30 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3–5 min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15 min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8046720" y="146304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18" name="Shape 15"/>
          <p:cNvSpPr/>
          <p:nvPr/>
        </p:nvSpPr>
        <p:spPr>
          <a:xfrm>
            <a:off x="8229600" y="1645920"/>
            <a:ext cx="457200" cy="457200"/>
          </a:xfrm>
          <a:prstGeom prst="ellipse">
            <a:avLst/>
          </a:prstGeom>
          <a:solidFill>
            <a:srgbClr val="EA3450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796528" y="17373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3</a:t>
            </a:r>
            <a:endParaRPr lang="en-US" sz="800" dirty="0"/>
          </a:p>
        </p:txBody>
      </p:sp>
      <p:sp>
        <p:nvSpPr>
          <p:cNvPr id="20" name="Text 17"/>
          <p:cNvSpPr txBox="1"/>
          <p:nvPr/>
        </p:nvSpPr>
        <p:spPr>
          <a:xfrm>
            <a:off x="8229600" y="22402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¿A qué velocidad se extrae el primer metro de la cola?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8229600" y="271576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0.3 m/min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1.0 m/min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1.6 m/min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548640" y="388620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23" name="Shape 20"/>
          <p:cNvSpPr/>
          <p:nvPr/>
        </p:nvSpPr>
        <p:spPr>
          <a:xfrm>
            <a:off x="731520" y="4069080"/>
            <a:ext cx="457200" cy="457200"/>
          </a:xfrm>
          <a:prstGeom prst="ellipse">
            <a:avLst/>
          </a:prstGeom>
          <a:solidFill>
            <a:srgbClr val="DB2259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1298448" y="41605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4</a:t>
            </a:r>
            <a:endParaRPr lang="en-US" sz="800" dirty="0"/>
          </a:p>
        </p:txBody>
      </p:sp>
      <p:sp>
        <p:nvSpPr>
          <p:cNvPr id="25" name="Text 22"/>
          <p:cNvSpPr txBox="1"/>
          <p:nvPr/>
        </p:nvSpPr>
        <p:spPr>
          <a:xfrm>
            <a:off x="731520" y="46634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¿Se puede echar agua sobre la cola líquida para acelerar el tapado?</a:t>
            </a:r>
            <a:endParaRPr lang="en-US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731520" y="513892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Sí, con manguera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Sí, poca cantidad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No, nunca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4297680" y="388620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28" name="Shape 25"/>
          <p:cNvSpPr/>
          <p:nvPr/>
        </p:nvSpPr>
        <p:spPr>
          <a:xfrm>
            <a:off x="4480560" y="4069080"/>
            <a:ext cx="457200" cy="457200"/>
          </a:xfrm>
          <a:prstGeom prst="ellipse">
            <a:avLst/>
          </a:prstGeom>
          <a:solidFill>
            <a:srgbClr val="C8136C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5047488" y="41605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5</a:t>
            </a:r>
            <a:endParaRPr lang="en-US" sz="800" dirty="0"/>
          </a:p>
        </p:txBody>
      </p:sp>
      <p:sp>
        <p:nvSpPr>
          <p:cNvPr id="30" name="Text 27"/>
          <p:cNvSpPr txBox="1"/>
          <p:nvPr/>
        </p:nvSpPr>
        <p:spPr>
          <a:xfrm>
            <a:off x="4480560" y="46634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Hay breakout durante la colada. ¿Esperas a 400 mm para cerrar?</a:t>
            </a:r>
            <a:endParaRPr lang="en-US" sz="1250" dirty="0"/>
          </a:p>
        </p:txBody>
      </p:sp>
      <p:sp>
        <p:nvSpPr>
          <p:cNvPr id="31" name="Text 28"/>
          <p:cNvSpPr txBox="1"/>
          <p:nvPr/>
        </p:nvSpPr>
        <p:spPr>
          <a:xfrm>
            <a:off x="4480560" y="513892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Sí, siempre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No, se cierra de inmediato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Solo si lo pide LF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8046720" y="388620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33" name="Shape 30"/>
          <p:cNvSpPr/>
          <p:nvPr/>
        </p:nvSpPr>
        <p:spPr>
          <a:xfrm>
            <a:off x="8229600" y="4069080"/>
            <a:ext cx="457200" cy="457200"/>
          </a:xfrm>
          <a:prstGeom prst="ellipse">
            <a:avLst/>
          </a:prstGeom>
          <a:solidFill>
            <a:srgbClr val="3F6FD1"/>
          </a:solidFill>
          <a:ln/>
        </p:spPr>
      </p:sp>
      <p:pic>
        <p:nvPicPr>
          <p:cNvPr id="3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8472" y="4187952"/>
            <a:ext cx="219456" cy="219456"/>
          </a:xfrm>
          <a:prstGeom prst="rect">
            <a:avLst/>
          </a:prstGeom>
        </p:spPr>
      </p:pic>
      <p:sp>
        <p:nvSpPr>
          <p:cNvPr id="35" name="Text 31"/>
          <p:cNvSpPr txBox="1"/>
          <p:nvPr/>
        </p:nvSpPr>
        <p:spPr>
          <a:xfrm>
            <a:off x="8796528" y="41605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3F6FD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CRITERIO</a:t>
            </a:r>
            <a:endParaRPr lang="en-US" sz="800" dirty="0"/>
          </a:p>
        </p:txBody>
      </p:sp>
      <p:sp>
        <p:nvSpPr>
          <p:cNvPr id="36" name="Text 32"/>
          <p:cNvSpPr txBox="1"/>
          <p:nvPr/>
        </p:nvSpPr>
        <p:spPr>
          <a:xfrm>
            <a:off x="8229600" y="46634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Mínimo 4 de 5 correctas</a:t>
            </a:r>
            <a:endParaRPr lang="en-US" sz="1250" dirty="0"/>
          </a:p>
        </p:txBody>
      </p:sp>
      <p:sp>
        <p:nvSpPr>
          <p:cNvPr id="37" name="Text 33"/>
          <p:cNvSpPr txBox="1"/>
          <p:nvPr/>
        </p:nvSpPr>
        <p:spPr>
          <a:xfrm>
            <a:off x="8229600" y="513892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 4 o más pasas al OJT supervisado. Con menos, repasa el manual con tu instructor y repite la autoevaluación.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11 · CIERRE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Reglas del cierre que no se negocian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Siguiente paso: OJT supervisado y evaluación práctica (TD-P07); registro en IMaS y DC-3/SIRCE. Validación: visto bueno técnica (pendientes: seguridad, laboral, diseño instruccional).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8288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31520" y="2029968"/>
            <a:ext cx="365760" cy="365760"/>
          </a:xfrm>
          <a:prstGeom prst="ellipse">
            <a:avLst/>
          </a:prstGeom>
          <a:solidFill>
            <a:srgbClr val="FF8C47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31520" y="2029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1280160" y="19933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Tapón cerrado a 400 mm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1280160" y="23957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Nunca por debajo: el vórtice arrastra escoria al molde.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6126480" y="18288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309360" y="2029968"/>
            <a:ext cx="365760" cy="365760"/>
          </a:xfrm>
          <a:prstGeom prst="ellipse">
            <a:avLst/>
          </a:prstGeom>
          <a:solidFill>
            <a:srgbClr val="FA464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309360" y="2029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6858000" y="19933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Nunca agua sobre la cola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6858000" y="23957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Herramientas secas; agua sobre acero líquido = explosión (MS-ACE-03).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548640" y="32004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31520" y="3401568"/>
            <a:ext cx="365760" cy="365760"/>
          </a:xfrm>
          <a:prstGeom prst="ellipse">
            <a:avLst/>
          </a:prstGeom>
          <a:solidFill>
            <a:srgbClr val="DB225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31520" y="34015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1280160" y="33649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Nadie bajo el molde en el cierre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1280160" y="37673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exclusión se levanta solo cuando la cola pasa el segmento 3.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6126480" y="32004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309360" y="3401568"/>
            <a:ext cx="365760" cy="365760"/>
          </a:xfrm>
          <a:prstGeom prst="ellipse">
            <a:avLst/>
          </a:prstGeom>
          <a:solidFill>
            <a:srgbClr val="AA0582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6309360" y="34015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6858000" y="33649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cola sale despacio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6858000" y="37673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0.3 m/min el primer metro; salida máxima 1.2 m/min.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ArcelorMittal México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MO-CC1-07 — Fin de colada y cierre de secuencia · Capacitación</dc:title>
  <dc:subject>PptxGenJS Presentation</dc:subject>
  <dc:creator>Gerencia de Capacitación y Desarrollo</dc:creator>
  <cp:lastModifiedBy>Gerencia de Capacitación y Desarrollo</cp:lastModifiedBy>
  <cp:revision>1</cp:revision>
  <dcterms:created xsi:type="dcterms:W3CDTF">2026-09-25T19:42:27Z</dcterms:created>
  <dcterms:modified xsi:type="dcterms:W3CDTF">2026-09-25T19:42:27Z</dcterms:modified>
</cp:coreProperties>
</file>