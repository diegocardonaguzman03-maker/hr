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de esta lámina (texto completo y enlace):
• México captó USD 440.8 millones de capital de riesgo en el 2T 2026, el mayor monto de LatAm en el trimestre. Fuente: KPMG México, 2026. https://kpmg.com/mx/es/sala-de-prensa/comunicados-de-prensa/2026/08/cp-mexico-capta-usd-440-millones-en-capital-de-riesgo-y-reafirma-su-relevancia-en-america-latina.html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de esta lámina (texto completo y enlace):
• Las startups con sede en México levantaron 21% más capital en 2025 que en 2024. Fuente: LAVCA, 2026. https://www.lavca.org/research/2026-lavca-trends-in-tech/
• 53% de los líderes dice que la productividad debe aumentar; 80% de la fuerza laboral dice que le falta tiempo o energía. Fuente: Microsoft Work Trend Index, 2025. https://www.microsoft.com/en-us/worklab/work-trend-index/2025-the-year-the-frontier-firm-is-born
• Solo 16% de las organizaciones ha rediseñado por completo roles, procesos y modelo operativo para integrar la IA. Fuente: Deloitte, 2025. https://www.deloitte.com/us/en/about/press-room/work-design-essential-to-ai-roi.html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CONFIDENCIAL</a:t>
            </a:r>
            <a:endParaRPr lang="en-US" sz="800" dirty="0"/>
          </a:p>
        </p:txBody>
      </p:sp>
      <p:pic>
        <p:nvPicPr>
          <p:cNvPr id="4" name="Image 0" descr="Praxia (logo provisional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502920"/>
            <a:ext cx="1961388" cy="4754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0972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HUMAN &amp; AI TRANSFORMATION ADVISORY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48640" y="212598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057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PRESENTACIÓN EJECUTIVA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468880"/>
            <a:ext cx="9692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Escalar no es contratar. Es </a:t>
            </a:r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adoptar</a:t>
            </a:r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otra forma de operar.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7548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fundadores y equipos directivos que crecen más rápido que su forma de decidir, gestionar y medir.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806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PREPARADO PARA  ·  </a:t>
            </a:r>
            <a:pPr indent="0" marL="0">
              <a:buNone/>
            </a:pPr>
            <a:r>
              <a:rPr lang="en-US" sz="1000" b="1" spc="3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STARTUPS Y SCALE-UPS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985455" y="5806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OCTUBRE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EL MOMENTO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 — EL MOMENTO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51660"/>
            <a:ext cx="996696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ronda compra crecimiento. No compra una organización lista para escalar.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384548"/>
            <a:ext cx="78638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México captó USD 440.8 millones de capital de riesgo en el 2T 2026, el mayor monto de LatAm en el trimestre (KPMG México, 2026).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EL PROBLEMA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— EL PROBLEMA REAL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5394960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</a:t>
            </a:r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 Gap</a:t>
            </a:r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después de la ronda.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plantilla se duplica y los derechos de decisión siguen siendo los de cuando eran 40. Los valores viven en la wiki, y cada equipo usa IA por su cuenta sin que nadie sepa si cambió la productividad.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75120" y="5257800"/>
            <a:ext cx="4965192" cy="0"/>
          </a:xfrm>
          <a:prstGeom prst="line">
            <a:avLst/>
          </a:prstGeom>
          <a:noFill/>
          <a:ln w="12700">
            <a:solidFill>
              <a:srgbClr val="A7AA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86600" y="1417320"/>
            <a:ext cx="1417320" cy="3840480"/>
          </a:xfrm>
          <a:prstGeom prst="rect">
            <a:avLst/>
          </a:prstGeom>
          <a:solidFill>
            <a:srgbClr val="15161D"/>
          </a:solidFill>
          <a:ln w="9525">
            <a:solidFill>
              <a:srgbClr val="A7AA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64040" y="3611880"/>
            <a:ext cx="1417320" cy="1645920"/>
          </a:xfrm>
          <a:prstGeom prst="rect">
            <a:avLst/>
          </a:prstGeom>
          <a:solidFill>
            <a:srgbClr val="F5F2EC"/>
          </a:solidFill>
          <a:ln/>
        </p:spPr>
      </p:sp>
      <p:sp>
        <p:nvSpPr>
          <p:cNvPr id="12" name="Shape 10"/>
          <p:cNvSpPr/>
          <p:nvPr/>
        </p:nvSpPr>
        <p:spPr>
          <a:xfrm>
            <a:off x="8503920" y="1417320"/>
            <a:ext cx="2377440" cy="0"/>
          </a:xfrm>
          <a:prstGeom prst="line">
            <a:avLst/>
          </a:prstGeom>
          <a:noFill/>
          <a:ln w="9525">
            <a:solidFill>
              <a:srgbClr val="A7AAB5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464040" y="1417320"/>
            <a:ext cx="1417320" cy="2139696"/>
          </a:xfrm>
          <a:prstGeom prst="rect">
            <a:avLst/>
          </a:prstGeom>
          <a:ln w="15875">
            <a:solidFill>
              <a:srgbClr val="E9663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1045952" y="1417320"/>
            <a:ext cx="0" cy="2139696"/>
          </a:xfrm>
          <a:prstGeom prst="line">
            <a:avLst/>
          </a:prstGeom>
          <a:noFill/>
          <a:ln w="19050">
            <a:solidFill>
              <a:srgbClr val="E966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54512" y="1417320"/>
            <a:ext cx="91440" cy="0"/>
          </a:xfrm>
          <a:prstGeom prst="line">
            <a:avLst/>
          </a:prstGeom>
          <a:noFill/>
          <a:ln w="19050">
            <a:solidFill>
              <a:srgbClr val="E966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3557016"/>
            <a:ext cx="91440" cy="0"/>
          </a:xfrm>
          <a:prstGeom prst="line">
            <a:avLst/>
          </a:prstGeom>
          <a:noFill/>
          <a:ln w="19050">
            <a:solidFill>
              <a:srgbClr val="E966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55480" y="155448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 BRECHA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5394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CAPITAL, PLANTILLA Y SOFTWARE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5394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CÓMO SE DECIDE Y SE GESTIONA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7985455" y="60533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ESQUEMA CONCEPTUAL · NO A ESCALA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EL COSTO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— EL COSTO DE LA BRECHA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9144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capital crece más rápido que la capacidad de la organización para usarlo.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3515258" cy="3429000"/>
          </a:xfrm>
          <a:prstGeom prst="rect">
            <a:avLst/>
          </a:prstGeom>
          <a:solidFill>
            <a:srgbClr val="15161D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917594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63898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917594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63898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260604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+21%</a:t>
            </a:r>
            <a:endParaRPr lang="en-US" sz="64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capital levantaron en 2025 las startups con sede en México que en 2024.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1663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FUENTE · LAVCA, 2026 · Trends in Tech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338218" y="2377440"/>
            <a:ext cx="3515258" cy="3429000"/>
          </a:xfrm>
          <a:prstGeom prst="rect">
            <a:avLst/>
          </a:prstGeom>
          <a:solidFill>
            <a:srgbClr val="15161D"/>
          </a:solidFill>
          <a:ln/>
        </p:spPr>
      </p:sp>
      <p:sp>
        <p:nvSpPr>
          <p:cNvPr id="22" name="Shape 19"/>
          <p:cNvSpPr/>
          <p:nvPr/>
        </p:nvSpPr>
        <p:spPr>
          <a:xfrm>
            <a:off x="4338218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38218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07173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853477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38218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338218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707173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853477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612538" y="260604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80%</a:t>
            </a:r>
            <a:endParaRPr lang="en-US" sz="6400" dirty="0"/>
          </a:p>
        </p:txBody>
      </p:sp>
      <p:sp>
        <p:nvSpPr>
          <p:cNvPr id="31" name="Text 28"/>
          <p:cNvSpPr txBox="1"/>
          <p:nvPr/>
        </p:nvSpPr>
        <p:spPr>
          <a:xfrm>
            <a:off x="4612538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la fuerza laboral dice que le falta tiempo o energía para su trabajo.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2538" y="51663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FUENTE · Microsoft Work Trend Index, 2025 · global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8127797" y="2377440"/>
            <a:ext cx="3515258" cy="3429000"/>
          </a:xfrm>
          <a:prstGeom prst="rect">
            <a:avLst/>
          </a:prstGeom>
          <a:solidFill>
            <a:srgbClr val="15161D"/>
          </a:solidFill>
          <a:ln/>
        </p:spPr>
      </p:sp>
      <p:sp>
        <p:nvSpPr>
          <p:cNvPr id="34" name="Shape 31"/>
          <p:cNvSpPr/>
          <p:nvPr/>
        </p:nvSpPr>
        <p:spPr>
          <a:xfrm>
            <a:off x="8127797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127797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1496751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1643055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127797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127797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1496751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1643055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02117" y="260604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16%</a:t>
            </a:r>
            <a:endParaRPr lang="en-US" sz="6400" dirty="0"/>
          </a:p>
        </p:txBody>
      </p:sp>
      <p:sp>
        <p:nvSpPr>
          <p:cNvPr id="43" name="Text 40"/>
          <p:cNvSpPr txBox="1"/>
          <p:nvPr/>
        </p:nvSpPr>
        <p:spPr>
          <a:xfrm>
            <a:off x="8402117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las empresas ha rediseñado por completo roles, procesos y modelo operativo para la IA.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8402117" y="51663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FUENTE · Deloitte, 2025 · global</a:t>
            </a:r>
            <a:endParaRPr lang="en-US" sz="800" dirty="0"/>
          </a:p>
        </p:txBody>
      </p:sp>
      <p:sp>
        <p:nvSpPr>
          <p:cNvPr id="45" name="Text 42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Universos distintos (México y global): las cifras no se suman ni se restan. Fuentes completas en las notas.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QUÉ HACEMOS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— QUÉ HACEMOS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5394960" cy="206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Diseñamos la organización que tu siguiente etapa necesita.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65856"/>
            <a:ext cx="5120640" cy="277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Después de una ronda, la plantilla crece en meses y la forma de decidir se queda atrás. Medimos dónde se rompe la ejecución y rediseñamos derechos de decisión, cadencia de gestión y el rol de los primeros managers.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46520" y="91440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914400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96751" y="91440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43055" y="914400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248412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2337816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96751" y="248412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43055" y="2337816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11795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1143000"/>
            <a:ext cx="4007815" cy="32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Diagnosticamos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1532636"/>
            <a:ext cx="4007815" cy="81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Dónde se atora la ejecución: decisiones, handoffs entre equipos, primeros managers y uso real de IA.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26670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26670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96751" y="26670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643055" y="26670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42367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40904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96751" y="42367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643055" y="40904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20840" y="2932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360920" y="2895600"/>
            <a:ext cx="4007815" cy="32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Diseñamos el sistema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7360920" y="3285236"/>
            <a:ext cx="4007815" cy="81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Derechos de decisión, cadencia de gestión, roles y métricas para operar a la nueva escala.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46520" y="44196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6520" y="44196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496751" y="44196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643055" y="44196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59893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58430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96751" y="59893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643055" y="58430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20840" y="46847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360920" y="4648200"/>
            <a:ext cx="4007815" cy="32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Medimos el cambio</a:t>
            </a:r>
            <a:endParaRPr lang="en-US" sz="1900" dirty="0"/>
          </a:p>
        </p:txBody>
      </p:sp>
      <p:sp>
        <p:nvSpPr>
          <p:cNvPr id="41" name="Text 39"/>
          <p:cNvSpPr txBox="1"/>
          <p:nvPr/>
        </p:nvSpPr>
        <p:spPr>
          <a:xfrm>
            <a:off x="7360920" y="5037836"/>
            <a:ext cx="4007815" cy="81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Uso, comportamiento e impacto en velocidad de ejecución, productividad y burn. Nunca horas de curso.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POR QUÉ PRAXIA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 — POR QUÉ DISTINTO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Otros entregan el plan. Nosotros respondemos por la adopción.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17594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3898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17594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63898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262432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FIRMAS DE ESTRATEGIA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10896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Recomiendan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16052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plan sólido para la siguiente etapa. La organización que debe ejecutarlo queda como un «workstream» más.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38218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38218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07173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53477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38218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38218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07173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53477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12538" y="262432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CONSULTORAS DE CULTURA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612538" y="310896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Facilitan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4612538" y="416052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Offsites, valores y encuestas de clima con buena intención, sin un número que el CEO pueda gestionar.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27797" y="2331720"/>
            <a:ext cx="3515258" cy="3474720"/>
          </a:xfrm>
          <a:prstGeom prst="rect">
            <a:avLst/>
          </a:prstGeom>
          <a:solidFill>
            <a:srgbClr val="0C0D12"/>
          </a:solidFill>
          <a:ln/>
        </p:spPr>
      </p:sp>
      <p:sp>
        <p:nvSpPr>
          <p:cNvPr id="31" name="Shape 29"/>
          <p:cNvSpPr/>
          <p:nvPr/>
        </p:nvSpPr>
        <p:spPr>
          <a:xfrm>
            <a:off x="8054645" y="225856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54645" y="225856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569903" y="225856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716207" y="225856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54645" y="587959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54645" y="573328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569903" y="587959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716207" y="573328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pic>
        <p:nvPicPr>
          <p:cNvPr id="39" name="Image 0" descr="Símbolo Prax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2606040"/>
            <a:ext cx="411480" cy="274320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8402117" y="2624328"/>
            <a:ext cx="2600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8402117" y="310896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Asegura la adopción</a:t>
            </a:r>
            <a:endParaRPr lang="en-US" sz="2800" dirty="0"/>
          </a:p>
        </p:txBody>
      </p:sp>
      <p:sp>
        <p:nvSpPr>
          <p:cNvPr id="42" name="Text 39"/>
          <p:cNvSpPr txBox="1"/>
          <p:nvPr/>
        </p:nvSpPr>
        <p:spPr>
          <a:xfrm>
            <a:off x="8402117" y="416052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Diseña y mide cómo decide, gestiona y usa la IA tu organización, hasta que se nota en velocidad, productividad y burn.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MÉTODO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 — CÓMO TRABAJAMOS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Adoption System en cuatro etapas.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91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sistema repetible y medible, al ritmo del hypergrowth. Cada etapa cierra con un gate del sponsor.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1094415" cy="0"/>
          </a:xfrm>
          <a:prstGeom prst="line">
            <a:avLst/>
          </a:prstGeom>
          <a:noFill/>
          <a:ln w="9525">
            <a:solidFill>
              <a:srgbClr val="0C0D1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542032"/>
            <a:ext cx="128016" cy="128016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 · SENSE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Diagnosticar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de ejecución: decisiones atoradas, handoffs, cadencia de gestión, uso real de IA y costo de no actuar.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06776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16504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06776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16504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G0 · BUSINESS CASE APROBADO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90824" y="2542032"/>
            <a:ext cx="128016" cy="128016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390824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· ALIGN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390824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Alinear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3390824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Derechos de decisión, rol de los primeros managers, rituales y métricas en una tesis de cambio para la nueva escala.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90824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90824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48960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58688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90824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90824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48960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58688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555416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G1 · TESIS Y ROADMAP APROBADOS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33008" y="2542032"/>
            <a:ext cx="128016" cy="128016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33008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· ADOPT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233008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Adoptar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6233008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Piloto en uno o dos equipos, habilitación de managers, flujos de trabajo humano-IA y mecanismos de refuerzo.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33008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33008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91143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00871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33008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33008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91143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00871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397600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G2 · KPIS DE ADOPCIÓN POR OLA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075191" y="2542032"/>
            <a:ext cx="128016" cy="128016"/>
          </a:xfrm>
          <a:prstGeom prst="rect">
            <a:avLst/>
          </a:prstGeom>
          <a:solidFill>
            <a:srgbClr val="E9663C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075191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· SUSTAIN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9075191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Sostener</a:t>
            </a:r>
            <a:endParaRPr lang="en-US" sz="2200" dirty="0"/>
          </a:p>
        </p:txBody>
      </p:sp>
      <p:sp>
        <p:nvSpPr>
          <p:cNvPr id="52" name="Text 50"/>
          <p:cNvSpPr txBox="1"/>
          <p:nvPr/>
        </p:nvSpPr>
        <p:spPr>
          <a:xfrm>
            <a:off x="9075191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Re-medición después de cada ola de contratación y transferencia del método a tu equipo de People.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9075191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75191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533327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643055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075191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075191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33327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43055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239783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G3 · RE-MEDICIÓN PERIÓDICA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estrategia se compra. La </a:t>
            </a:r>
            <a:pPr indent="0" marL="0">
              <a:buNone/>
            </a:pPr>
            <a:r>
              <a:rPr lang="en-US" sz="1300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adopción</a:t>
            </a:r>
            <a:pPr indent="0" marL="0">
              <a:buNone/>
            </a:pPr>
            <a:r>
              <a:rPr lang="en-US" sz="1300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se diseña.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PUNTO DE ENTRADA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 — PUNTO DE ENTRADA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5760720" cy="112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Empieza midiendo: Adoption Gap Diagnostic.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23008"/>
            <a:ext cx="5669280" cy="184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3 a 5 semanas medimos la distancia entre la organización que tu plan de crecimiento exige y la que hoy opera, y construimos el business case del cambio con datos de tu propia operación.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82112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31596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DURACIÓN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4535424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3–5 semanas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474720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08192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08192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39312" y="431596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QUÉ MEDIMOS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3639312" y="4535424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capas × 5 niveles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82112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82112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3232" y="525780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EVIDENCIA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547725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Cualitativa y cuantitativa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3474720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472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08192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74720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7472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08192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1792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639312" y="525780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INVERSIÓN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3639312" y="547725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Según alcance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812280" y="914400"/>
            <a:ext cx="4830775" cy="4983480"/>
          </a:xfrm>
          <a:prstGeom prst="rect">
            <a:avLst/>
          </a:prstGeom>
          <a:solidFill>
            <a:srgbClr val="0C0D12"/>
          </a:solidFill>
          <a:ln/>
        </p:spPr>
      </p:sp>
      <p:sp>
        <p:nvSpPr>
          <p:cNvPr id="50" name="Shape 48"/>
          <p:cNvSpPr/>
          <p:nvPr/>
        </p:nvSpPr>
        <p:spPr>
          <a:xfrm>
            <a:off x="6739128" y="84124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39128" y="84124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569903" y="84124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716207" y="84124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39128" y="597103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39128" y="582472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569903" y="597103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716207" y="582472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178040" y="1280160"/>
            <a:ext cx="40992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 QUE RECIBES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7178040" y="1801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7726680" y="1783080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Hallazgos en las cinco capas, del equipo fundador a los primeros managers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178040" y="2478024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178040" y="2569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7726680" y="2551176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de adopción: decisiones, rituales y uso real de IA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7178040" y="3246120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178040" y="3337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7726680" y="3319272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Costo de la brecha en velocidad de ejecución y productividad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7178040" y="4014216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178040" y="41056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7726680" y="4087368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Prioridades por impacto y esfuerzo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7178040" y="4782312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178040" y="4873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7726680" y="4855464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de 90 y 180 días para la siguiente etapa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SERVICIOS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 — CÓMO SEGUIMOS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 diagnóstico a una organización que escala.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13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276856"/>
            <a:ext cx="40233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 Gap Diagnostic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2295144"/>
            <a:ext cx="44805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de ejecución, costo de la brecha y business case. De 3 a 5 semanas.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0" y="2322576"/>
            <a:ext cx="1584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PUNTO DE ENTRADA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312039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8498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248406"/>
            <a:ext cx="40233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Strategy-to-Adoption Sprint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3266694"/>
            <a:ext cx="44805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model post-ronda: derechos de decisión, cadencia y roles. De 6 a 10 semanas.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09194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2565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219956"/>
            <a:ext cx="40233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Adoption Accelerator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4238244"/>
            <a:ext cx="44805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en un flujo de trabajo prioritario, con uso e impacto medidos. De 6 a 12 semanas.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06349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22808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191506"/>
            <a:ext cx="40233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Executive Advisory Retainer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440680" y="5209794"/>
            <a:ext cx="44805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Gobernanza y seguimiento mensual con el CEO y el equipo directivo.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QUIÉN ESTÁ DETRÁS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09 — QUIÉN ESTÁ DETRÁS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2286000" cy="2286000"/>
          </a:xfrm>
          <a:prstGeom prst="ellipse">
            <a:avLst/>
          </a:prstGeom>
          <a:solidFill>
            <a:srgbClr val="15161D"/>
          </a:solidFill>
          <a:ln w="12700">
            <a:solidFill>
              <a:srgbClr val="A7AAB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4173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FC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371600"/>
            <a:ext cx="8214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Francisco Cardona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084832"/>
            <a:ext cx="8214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FOUNDER &amp; PRINCIPAL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606040"/>
            <a:ext cx="793973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PRAXIA es una firma senior-led y basada en evidencia. Francisco trabaja de par a par con la dirección, desde el P&amp;L y el riesgo, para que la estrategia se convierta en decisiones, comportamientos e indicadores que cambian.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29000" y="4306824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30168" y="4233672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Liderazgo en un grupo industrial multinacional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73188" y="4306824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74356" y="4233672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Talento, aprendizaje, desarrollo organizacional y people analytics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29000" y="4873752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30168" y="4800600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Exposición internacional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73188" y="4873752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74356" y="4800600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Proyectos de transformación y productividad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EMPECEMOS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 — EMPECEMOS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35024"/>
            <a:ext cx="9601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Mide tu </a:t>
            </a:r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 Gap</a:t>
            </a:r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04872"/>
            <a:ext cx="7863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diagnóstico de 3 a 5 semanas te dice dónde tu organización no está a la altura de tu plan de crecimiento y qué hacer antes de la siguiente ola de contratación.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54170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3898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54170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3898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849624"/>
            <a:ext cx="2692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Conversación ejecutiva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20624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minutos sobre la etapa, el plan de crecimiento y el valor en juego.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38218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38218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43749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53477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38218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38218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43749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53477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39386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978298" y="3849624"/>
            <a:ext cx="2692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Hipótesis de valor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978298" y="420624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Resumimos en una página la brecha, el valor en juego y el siguiente paso.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127797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27797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533327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643055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27797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27797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533327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643055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28965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767877" y="3849624"/>
            <a:ext cx="2692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Diagnóstico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8767877" y="420624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Alcance, entregables e inversión según alcance, listos para decidir.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48640" y="5394960"/>
            <a:ext cx="3383280" cy="932688"/>
          </a:xfrm>
          <a:prstGeom prst="rect">
            <a:avLst/>
          </a:prstGeom>
          <a:solidFill>
            <a:srgbClr val="E9663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77240" y="53949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Agenda tu diagnóstico →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4251960" y="5394960"/>
            <a:ext cx="6019495" cy="566928"/>
          </a:xfrm>
          <a:prstGeom prst="rect">
            <a:avLst/>
          </a:prstGeom>
          <a:ln w="12700">
            <a:solidFill>
              <a:srgbClr val="E9663C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4480560" y="5394960"/>
            <a:ext cx="5562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[CANAL DE CONTACTO — COMPLETAR]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GRACIAS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</a:t>
            </a:r>
            <a:endParaRPr lang="en-US" sz="800" dirty="0"/>
          </a:p>
        </p:txBody>
      </p:sp>
      <p:pic>
        <p:nvPicPr>
          <p:cNvPr id="5" name="Image 0" descr="Praxia (logo provisional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790" y="2148840"/>
            <a:ext cx="3206115" cy="777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3246120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Turn </a:t>
            </a:r>
            <a:pPr algn="ctr" indent="0" marL="0">
              <a:buNone/>
            </a:pPr>
            <a:r>
              <a:rPr lang="en-US" sz="3000" b="1" dirty="0">
                <a:solidFill>
                  <a:srgbClr val="5B4B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strategy</a:t>
            </a:r>
            <a:pPr algn="ctr" indent="0" marL="0">
              <a:buNone/>
            </a:pPr>
            <a:r>
              <a:rPr lang="en-US" sz="3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into </a:t>
            </a:r>
            <a:pPr algn="ctr" indent="0" marL="0">
              <a:buNone/>
            </a:pPr>
            <a:r>
              <a:rPr lang="en-US" sz="30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</a:t>
            </a:r>
            <a:pPr algn="ctr" indent="0" marL="0">
              <a:buNone/>
            </a:pPr>
            <a:r>
              <a:rPr lang="en-US" sz="3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4069080"/>
            <a:ext cx="9448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6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HUMAN &amp; AI TRANSFORMATION ADVISORY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4800600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[CANAL DE CONTACTO — COMPLETAR]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PRAXIA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PRAXIA · Startups y scale-ups</dc:title>
  <dc:subject>Preparado para · Startups y scale-ups</dc:subject>
  <dc:creator>PRAXIA</dc:creator>
  <cp:lastModifiedBy>PRAXIA</cp:lastModifiedBy>
  <cp:revision>1</cp:revision>
  <dcterms:created xsi:type="dcterms:W3CDTF">2026-10-09T17:46:14Z</dcterms:created>
  <dcterms:modified xsi:type="dcterms:W3CDTF">2026-10-09T17:46:14Z</dcterms:modified>
</cp:coreProperties>
</file>