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de esta lámina (texto completo y enlace):
• México recibió una IED récord de 40,871 mdd en 2025; las nuevas inversiones crecieron 132.9%. Fuente: Secretaría de Economía, 2026. https://www.gob.mx/se/prensa/mexico-alcanza-cifra-historica-de-inversion-extranjera-directa-en-2025-40-871-millones-de-dolares-crecio-un-10-8-anual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de esta lámina (texto completo y enlace):
• 95% de los fabricantes ha invertido o planea invertir en IA/ML en los próximos cinco años. Fuente: Rockwell Automation, 2025. https://www.rockwellautomation.com/en-gb/company/news/press-releases/Ninety-Five-Percent-of-Manufacturers-Are-Investing-in-AI-to-Navigate-Uncertainty-and-Accelerate-Smart-Manufacturing.html
• Solo 4.8% de las empresas manufactureras mexicanas (más de 10 empleados) usa IA, contra 8.0% del promedio nacional y 19.1% del promedio de la OCDE. Fuente: CMD con datos del INEGI (Censos Económicos 2024). https://centromexico.digital/la-manufactura-que-produce-mas-y-paga-mejor-lo-que-revela-la-adopcion-de-inteligencia-artificial-en-mexico/
• En manufactura, cada 10 puntos más de adopción de IA se asocian con 18.8% más de producción bruta por empresa (asociación, no causalidad). Fuente: CMD con datos del INEGI. https://centromexico.digital/la-manufactura-que-produce-mas-y-paga-mejor-lo-que-revela-la-adopcion-de-inteligencia-artificial-en-mexico/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CONFIDENCIAL</a:t>
            </a:r>
            <a:endParaRPr lang="en-US" sz="800" dirty="0"/>
          </a:p>
        </p:txBody>
      </p:sp>
      <p:pic>
        <p:nvPicPr>
          <p:cNvPr id="4" name="Image 0" descr="Praxia (logo provisional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502920"/>
            <a:ext cx="1961388" cy="4754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5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HUMAN &amp; AI TRANSFORMATION ADVISORY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48640" y="212598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057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PRESENTACIÓN EJECUTIVA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468880"/>
            <a:ext cx="9692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Invertiste en la planta. Falta que el turno </a:t>
            </a:r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adopte</a:t>
            </a:r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7548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direcciones de operaciones y de planta que ya invirtieron en capacidad y digitalización, y no ven el cambio en el piso.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806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PREPARADO PARA  ·  </a:t>
            </a:r>
            <a:pPr indent="0" marL="0">
              <a:buNone/>
            </a:pPr>
            <a:r>
              <a:rPr lang="en-US" sz="1000" b="1" spc="3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MANUFACTURA E INDUSTRIA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985455" y="5806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OCTUBRE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EL MOMENTO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— EL MOMENTO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342644"/>
            <a:ext cx="9966960" cy="3011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inversión llegó a la planta. La nueva forma de operar todavía no llega al turno.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582668"/>
            <a:ext cx="78638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México recibió una IED récord de 40,871 mdd en 2025 (Secretaría de Economía, 2026). La capacidad se instala en meses; el ramp-up depende de cómo opera el turno.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EL PROBLEMA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— EL PROBLEMA REAL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5394960" cy="1184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</a:t>
            </a:r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 Gap</a:t>
            </a:r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en piso de planta.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5120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compraron MES, mantenimiento predictivo y visión artificial. El supervisor sigue decidiendo con la hoja de turno, el tablero se revisa después del paro y el OEE no se mueve.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75120" y="5257800"/>
            <a:ext cx="4965192" cy="0"/>
          </a:xfrm>
          <a:prstGeom prst="line">
            <a:avLst/>
          </a:prstGeom>
          <a:noFill/>
          <a:ln w="12700">
            <a:solidFill>
              <a:srgbClr val="A7AA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86600" y="1417320"/>
            <a:ext cx="1417320" cy="3840480"/>
          </a:xfrm>
          <a:prstGeom prst="rect">
            <a:avLst/>
          </a:prstGeom>
          <a:solidFill>
            <a:srgbClr val="15161D"/>
          </a:solidFill>
          <a:ln w="9525">
            <a:solidFill>
              <a:srgbClr val="A7AA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64040" y="3611880"/>
            <a:ext cx="1417320" cy="1645920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12" name="Shape 10"/>
          <p:cNvSpPr/>
          <p:nvPr/>
        </p:nvSpPr>
        <p:spPr>
          <a:xfrm>
            <a:off x="8503920" y="1417320"/>
            <a:ext cx="2377440" cy="0"/>
          </a:xfrm>
          <a:prstGeom prst="line">
            <a:avLst/>
          </a:prstGeom>
          <a:noFill/>
          <a:ln w="9525">
            <a:solidFill>
              <a:srgbClr val="A7AAB5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464040" y="1417320"/>
            <a:ext cx="1417320" cy="2139696"/>
          </a:xfrm>
          <a:prstGeom prst="rect">
            <a:avLst/>
          </a:prstGeom>
          <a:ln w="15875">
            <a:solidFill>
              <a:srgbClr val="E9663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1045952" y="1417320"/>
            <a:ext cx="0" cy="2139696"/>
          </a:xfrm>
          <a:prstGeom prst="line">
            <a:avLst/>
          </a:prstGeom>
          <a:noFill/>
          <a:ln w="19050">
            <a:solidFill>
              <a:srgbClr val="E966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54512" y="1417320"/>
            <a:ext cx="91440" cy="0"/>
          </a:xfrm>
          <a:prstGeom prst="line">
            <a:avLst/>
          </a:prstGeom>
          <a:noFill/>
          <a:ln w="19050">
            <a:solidFill>
              <a:srgbClr val="E966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3557016"/>
            <a:ext cx="91440" cy="0"/>
          </a:xfrm>
          <a:prstGeom prst="line">
            <a:avLst/>
          </a:prstGeom>
          <a:noFill/>
          <a:ln w="19050">
            <a:solidFill>
              <a:srgbClr val="E966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55480" y="155448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 BRECHA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5394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MES, SENSORES Y TABLEROS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5394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RUTINA DE TURNO QUE CAMBIÓ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7985455" y="6053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ESQUEMA CONCEPTUAL · NO A ESCALA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EL COSTO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— EL COSTO DE LA BRECHA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9144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conversación global es de inversión. En la planta mexicana, el uso real sigue bajo.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3515258" cy="3429000"/>
          </a:xfrm>
          <a:prstGeom prst="rect">
            <a:avLst/>
          </a:prstGeom>
          <a:solidFill>
            <a:srgbClr val="15161D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917594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63898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917594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63898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260604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95%</a:t>
            </a:r>
            <a:endParaRPr lang="en-US" sz="64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los fabricantes ha invertido o planea invertir en IA/ML en los próximos cinco años.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1663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FUENTE · Rockwell Automation, 2025 · global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338218" y="2377440"/>
            <a:ext cx="3515258" cy="3429000"/>
          </a:xfrm>
          <a:prstGeom prst="rect">
            <a:avLst/>
          </a:prstGeom>
          <a:solidFill>
            <a:srgbClr val="15161D"/>
          </a:solidFill>
          <a:ln/>
        </p:spPr>
      </p:sp>
      <p:sp>
        <p:nvSpPr>
          <p:cNvPr id="22" name="Shape 19"/>
          <p:cNvSpPr/>
          <p:nvPr/>
        </p:nvSpPr>
        <p:spPr>
          <a:xfrm>
            <a:off x="4338218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38218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07173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853477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38218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38218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707173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853477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612538" y="260604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4.8%</a:t>
            </a:r>
            <a:endParaRPr lang="en-US" sz="6400" dirty="0"/>
          </a:p>
        </p:txBody>
      </p:sp>
      <p:sp>
        <p:nvSpPr>
          <p:cNvPr id="31" name="Text 28"/>
          <p:cNvSpPr txBox="1"/>
          <p:nvPr/>
        </p:nvSpPr>
        <p:spPr>
          <a:xfrm>
            <a:off x="4612538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las manufactureras mexicanas (más de 10 empleados) usa IA; 8.0% nacional y 19.1% OCDE.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2538" y="51663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FUENTE · CMD con datos del INEGI (Censos Económicos 2024)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8127797" y="2377440"/>
            <a:ext cx="3515258" cy="3429000"/>
          </a:xfrm>
          <a:prstGeom prst="rect">
            <a:avLst/>
          </a:prstGeom>
          <a:solidFill>
            <a:srgbClr val="15161D"/>
          </a:solidFill>
          <a:ln/>
        </p:spPr>
      </p:sp>
      <p:sp>
        <p:nvSpPr>
          <p:cNvPr id="34" name="Shape 31"/>
          <p:cNvSpPr/>
          <p:nvPr/>
        </p:nvSpPr>
        <p:spPr>
          <a:xfrm>
            <a:off x="8127797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127797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1496751" y="2377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1643055" y="2377440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127797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127797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1496751" y="5806440"/>
            <a:ext cx="146304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1643055" y="5660136"/>
            <a:ext cx="0" cy="146304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02117" y="2606040"/>
            <a:ext cx="30580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+18.8%</a:t>
            </a:r>
            <a:endParaRPr lang="en-US" sz="6000" dirty="0"/>
          </a:p>
        </p:txBody>
      </p:sp>
      <p:sp>
        <p:nvSpPr>
          <p:cNvPr id="43" name="Text 40"/>
          <p:cNvSpPr txBox="1"/>
          <p:nvPr/>
        </p:nvSpPr>
        <p:spPr>
          <a:xfrm>
            <a:off x="8402117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producción bruta por empresa por cada 10 puntos más de adopción de IA en la industria.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8402117" y="5166360"/>
            <a:ext cx="29666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FUENTE · CMD con datos del INEGI · asociación, no causalidad</a:t>
            </a:r>
            <a:endParaRPr lang="en-US" sz="80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y México miden universos distintos: no se restan. La cifra de CMD es una asociación, no un efecto causal.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QUÉ HACEMOS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— QUÉ HACEMOS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5394960" cy="2068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Convertimos la inversión en planta en operación que se sostiene.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65856"/>
            <a:ext cx="5120640" cy="277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inversión en digitalización rinde cuando supervisores y operadores cambian cómo deciden en el turno. Medimos esa brecha y la cerramos: conectamos la decisión del comité con el arranque de turno, el estándar y el tablero de piso.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46520" y="91440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914400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96751" y="91440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43055" y="914400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248412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2337816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96751" y="2484120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643055" y="2337816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11795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1143000"/>
            <a:ext cx="4007815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Diagnosticamos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1532636"/>
            <a:ext cx="4007815" cy="81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Dónde se rompe la adopción: arranque de turno, uso del MES, estándares, mandos medios y datos.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46520" y="26670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26670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96751" y="26670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643055" y="26670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42367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40904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496751" y="42367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643055" y="40904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20840" y="2932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360920" y="2895600"/>
            <a:ext cx="4007815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Diseñamos el sistema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7360920" y="3285236"/>
            <a:ext cx="4007815" cy="81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Roles de supervisión, rutinas de turno, incentivos y métricas para que el tablero gobierne la decisión.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46520" y="44196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44196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496751" y="441960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643055" y="4419600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46520" y="59893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58430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496751" y="5989320"/>
            <a:ext cx="146304" cy="0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643055" y="5843016"/>
            <a:ext cx="0" cy="146304"/>
          </a:xfrm>
          <a:prstGeom prst="line">
            <a:avLst/>
          </a:prstGeom>
          <a:noFill/>
          <a:ln w="15875">
            <a:solidFill>
              <a:srgbClr val="D9D4C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20840" y="46847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7360920" y="4648200"/>
            <a:ext cx="4007815" cy="32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9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Medimos el cambio</a:t>
            </a:r>
            <a:endParaRPr lang="en-US" sz="1900" dirty="0"/>
          </a:p>
        </p:txBody>
      </p:sp>
      <p:sp>
        <p:nvSpPr>
          <p:cNvPr id="41" name="Text 39"/>
          <p:cNvSpPr txBox="1"/>
          <p:nvPr/>
        </p:nvSpPr>
        <p:spPr>
          <a:xfrm>
            <a:off x="7360920" y="5037836"/>
            <a:ext cx="4007815" cy="81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Uso, comportamiento e impacto en OEE, calidad y seguridad. Nunca asistencia ni horas de formación.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POR QUÉ PRAXIA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 — POR QUÉ DISTINTO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Otros instalan o capacitan. Nosotros respondemos por la adopción.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17594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3898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17594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63898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262432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INTEGRADORES INDUSTRIA 4.0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10896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Instalan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16052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MES, sensores y tableros que funcionan. Su alcance termina en el go-live; la rutina del turno queda fuera.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38218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38218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07173" y="233172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53477" y="2331720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38218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8218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07173" y="5806440"/>
            <a:ext cx="146304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53477" y="5660136"/>
            <a:ext cx="0" cy="146304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12538" y="262432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CAPACITACIÓN TÉCNICA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612538" y="310896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Entrenan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4612538" y="416052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Horas de formación que crecen mientras la variabilidad de calidad y el OEE siguen igual.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127797" y="2331720"/>
            <a:ext cx="3515258" cy="3474720"/>
          </a:xfrm>
          <a:prstGeom prst="rect">
            <a:avLst/>
          </a:prstGeom>
          <a:solidFill>
            <a:srgbClr val="0C0D12"/>
          </a:solidFill>
          <a:ln/>
        </p:spPr>
      </p:sp>
      <p:sp>
        <p:nvSpPr>
          <p:cNvPr id="31" name="Shape 29"/>
          <p:cNvSpPr/>
          <p:nvPr/>
        </p:nvSpPr>
        <p:spPr>
          <a:xfrm>
            <a:off x="8054645" y="225856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54645" y="225856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569903" y="225856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716207" y="225856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54645" y="587959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54645" y="573328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569903" y="587959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716207" y="573328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pic>
        <p:nvPicPr>
          <p:cNvPr id="39" name="Image 0" descr="Símbolo Prax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2606040"/>
            <a:ext cx="411480" cy="274320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8402117" y="2624328"/>
            <a:ext cx="26008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900" dirty="0"/>
          </a:p>
        </p:txBody>
      </p:sp>
      <p:sp>
        <p:nvSpPr>
          <p:cNvPr id="41" name="Text 38"/>
          <p:cNvSpPr txBox="1"/>
          <p:nvPr/>
        </p:nvSpPr>
        <p:spPr>
          <a:xfrm>
            <a:off x="8402117" y="3108960"/>
            <a:ext cx="29666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Asegura la adopción</a:t>
            </a:r>
            <a:endParaRPr lang="en-US" sz="2800" dirty="0"/>
          </a:p>
        </p:txBody>
      </p:sp>
      <p:sp>
        <p:nvSpPr>
          <p:cNvPr id="42" name="Text 39"/>
          <p:cNvSpPr txBox="1"/>
          <p:nvPr/>
        </p:nvSpPr>
        <p:spPr>
          <a:xfrm>
            <a:off x="8402117" y="416052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 y mide el cambio en decisiones de turno, estándares y mandos medios, hasta que se nota en OEE, calidad y seguridad.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MÉTODO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 — CÓMO TRABAJAMOS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Adoption System en cuatro etapas.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91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B6E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sistema repetible y medible, del comité al turno. Cada etapa cierra con un gate que aprueba el sponsor.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1094415" cy="0"/>
          </a:xfrm>
          <a:prstGeom prst="line">
            <a:avLst/>
          </a:prstGeom>
          <a:noFill/>
          <a:ln w="9525">
            <a:solidFill>
              <a:srgbClr val="0C0D1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42032"/>
            <a:ext cx="128016" cy="128016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· SENSE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Diagnosticar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por planta y turno: uso del MES, estándares, rutinas de mandos medios y costo de no actuar.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06776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16504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06776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16504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G0 · BUSINESS CASE APROBADO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90824" y="2542032"/>
            <a:ext cx="128016" cy="128016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390824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· ALIGN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390824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Alinear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3390824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Resultados, roles de supervisión, decision rights y métricas de OEE y calidad en una tesis de cambio.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90824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90824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48960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58688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90824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90824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48960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58688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55416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G1 · TESIS Y ROADMAP APROBADOS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33008" y="2542032"/>
            <a:ext cx="128016" cy="128016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33008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· ADOPT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233008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Adoptar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6233008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Piloto en una línea o un turno, rutinas de arranque, habilitación en puesto y refuerzo de mandos medios.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33008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33008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91143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00871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33008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33008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91143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00871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397600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G2 · KPIS DE ADOPCIÓN POR OLA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9075191" y="2542032"/>
            <a:ext cx="128016" cy="128016"/>
          </a:xfrm>
          <a:prstGeom prst="rect">
            <a:avLst/>
          </a:prstGeom>
          <a:solidFill>
            <a:srgbClr val="E9663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075191" y="2926080"/>
            <a:ext cx="256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· SUSTAIN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9075191" y="3264408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Sostener</a:t>
            </a:r>
            <a:endParaRPr lang="en-US" sz="2200" dirty="0"/>
          </a:p>
        </p:txBody>
      </p:sp>
      <p:sp>
        <p:nvSpPr>
          <p:cNvPr id="52" name="Text 50"/>
          <p:cNvSpPr txBox="1"/>
          <p:nvPr/>
        </p:nvSpPr>
        <p:spPr>
          <a:xfrm>
            <a:off x="9075191" y="3794760"/>
            <a:ext cx="24764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Re-medición por planta, evidencia de impacto en OEE y calidad, y transferencia del método a tu equipo.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9075191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75191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533327" y="521208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643055" y="52120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075191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075191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33327" y="5779008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43055" y="566928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239783" y="5212080"/>
            <a:ext cx="223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G3 · RE-MEDICIÓN PERIÓDICA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estrategia se compra. La </a:t>
            </a:r>
            <a:pPr indent="0" marL="0">
              <a:buNone/>
            </a:pPr>
            <a:r>
              <a:rPr lang="en-US" sz="1300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adopción</a:t>
            </a:r>
            <a:pPr indent="0" marL="0">
              <a:buNone/>
            </a:pPr>
            <a:r>
              <a:rPr lang="en-US" sz="1300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se diseña.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PUNTO DE ENTRADA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 — PUNTO DE ENTRADA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5760720" cy="112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Empieza midiendo: Adoption Gap Diagnostic.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23008"/>
            <a:ext cx="5669280" cy="184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3 a 5 semanas medimos la distancia entre lo que tu planta ya invirtió y lo que realmente se usa en el turno, y construimos el business case del cambio con evidencia de tu operación.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2112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431596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DURACIÓN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453542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3–5 semanas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474720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08192" y="4206240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4206240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08192" y="501091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901184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39312" y="4315968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QUÉ MEDIMOS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3639312" y="453542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 capas × 5 niveles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82112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9184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82112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3232" y="525780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EVIDENCIA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547725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Cualitativa y cuantitativa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3474720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08192" y="5148072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5148072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74720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7472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08192" y="5952744"/>
            <a:ext cx="109728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17920" y="5843016"/>
            <a:ext cx="0" cy="109728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639312" y="5257800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INVERSIÓN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3639312" y="5477256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Según alcance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6812280" y="914400"/>
            <a:ext cx="4830775" cy="4983480"/>
          </a:xfrm>
          <a:prstGeom prst="rect">
            <a:avLst/>
          </a:prstGeom>
          <a:solidFill>
            <a:srgbClr val="0C0D12"/>
          </a:solidFill>
          <a:ln/>
        </p:spPr>
      </p:sp>
      <p:sp>
        <p:nvSpPr>
          <p:cNvPr id="50" name="Shape 48"/>
          <p:cNvSpPr/>
          <p:nvPr/>
        </p:nvSpPr>
        <p:spPr>
          <a:xfrm>
            <a:off x="6739128" y="84124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39128" y="84124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569903" y="841248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716207" y="84124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39128" y="597103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39128" y="582472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569903" y="5971032"/>
            <a:ext cx="146304" cy="0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716207" y="5824728"/>
            <a:ext cx="0" cy="146304"/>
          </a:xfrm>
          <a:prstGeom prst="line">
            <a:avLst/>
          </a:prstGeom>
          <a:noFill/>
          <a:ln w="15875">
            <a:solidFill>
              <a:srgbClr val="5B4B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178040" y="1280160"/>
            <a:ext cx="40992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 QUE RECIBES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7178040" y="1801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7726680" y="1783080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Hallazgos en las cinco capas, de la dirección al supervisor de turno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178040" y="2478024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178040" y="2569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7726680" y="2551176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de adopción por planta, línea y turno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7178040" y="3246120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178040" y="3337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7726680" y="3319272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Costo de la brecha en OEE, calidad y ramp-up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7178040" y="4014216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178040" y="4105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726680" y="4087368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Prioridades por impacto y esfuerzo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7178040" y="4782312"/>
            <a:ext cx="4099255" cy="0"/>
          </a:xfrm>
          <a:prstGeom prst="line">
            <a:avLst/>
          </a:prstGeom>
          <a:noFill/>
          <a:ln w="9525">
            <a:solidFill>
              <a:srgbClr val="2A2B33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178040" y="4873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7726680" y="4855464"/>
            <a:ext cx="35506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de 90 y 180 días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C0D1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SERVICIOS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6E7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 — CÓMO SEGUIMOS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9144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 diagnóstico a la adopción en piso.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134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276856"/>
            <a:ext cx="40233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 Gap Diagnostic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2295144"/>
            <a:ext cx="44805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por planta y turno, costo de la brecha y business case. De 3 a 5 semanas.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0" y="2322576"/>
            <a:ext cx="1584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PUNTO DE ENTRADA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312039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8498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248406"/>
            <a:ext cx="40233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Strategy-to-Adoption Sprint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3266694"/>
            <a:ext cx="44805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prioridad activada: ramp-up de planta nueva o estándar de turno. De 6 a 10 semanas.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09194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2565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219956"/>
            <a:ext cx="40233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Adoption Accelerator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4238244"/>
            <a:ext cx="44805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 en mantenimiento predictivo o calidad, con uso real medido. De 6 a 12 semanas.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063490"/>
            <a:ext cx="11094415" cy="0"/>
          </a:xfrm>
          <a:prstGeom prst="line">
            <a:avLst/>
          </a:prstGeom>
          <a:noFill/>
          <a:ln w="9525">
            <a:solidFill>
              <a:srgbClr val="D9D4C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522808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4B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191506"/>
            <a:ext cx="40233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Transformation Adoption Program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440680" y="5209794"/>
            <a:ext cx="4480560" cy="770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C0D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Supervisores y mandos medios como palanca de adopción en varias plantas. De 3 a 6 meses.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QUIÉN ESTÁ DETRÁS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 — QUIÉN ESTÁ DETRÁS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286000" cy="2286000"/>
          </a:xfrm>
          <a:prstGeom prst="ellipse">
            <a:avLst/>
          </a:prstGeom>
          <a:solidFill>
            <a:srgbClr val="15161D"/>
          </a:solidFill>
          <a:ln w="12700">
            <a:solidFill>
              <a:srgbClr val="A7AA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4173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FC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371600"/>
            <a:ext cx="82140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Francisco Cardona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084832"/>
            <a:ext cx="8214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FOUNDER &amp; PRINCIPAL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606040"/>
            <a:ext cx="793973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5F2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PRAXIA es una firma senior-led y basada en evidencia. Francisco trabaja de par a par con la dirección, desde el P&amp;L y el riesgo, para que la estrategia se convierta en decisiones, comportamientos e indicadores que cambian.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29000" y="4306824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30168" y="4233672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Liderazgo en un grupo industrial multinacional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73188" y="4306824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74356" y="4233672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Talento, aprendizaje, desarrollo organizacional y people analytics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29000" y="4873752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30168" y="4800600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Exposición internacional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73188" y="4873752"/>
            <a:ext cx="73152" cy="73152"/>
          </a:xfrm>
          <a:prstGeom prst="rect">
            <a:avLst/>
          </a:prstGeom>
          <a:solidFill>
            <a:srgbClr val="5B4B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874356" y="4800600"/>
            <a:ext cx="37412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Proyectos de transformación y productividad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EMPECEMOS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48640" y="571500"/>
            <a:ext cx="82296" cy="82296"/>
          </a:xfrm>
          <a:prstGeom prst="rect">
            <a:avLst/>
          </a:prstGeom>
          <a:solidFill>
            <a:srgbClr val="5B4BFF"/>
          </a:solidFill>
          <a:ln w="12700">
            <a:solidFill>
              <a:srgbClr val="5B4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 — EMPECEMOS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35024"/>
            <a:ext cx="96012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Mide tu </a:t>
            </a:r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 Gap</a:t>
            </a:r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04872"/>
            <a:ext cx="7863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diagnóstico de 3 a 5 semanas te dice dónde tu planta no está adoptando lo que ya invirtió y qué hacer al respecto. Es el punto de partida de menor riesgo.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54170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3898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54170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3898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849624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Conversación ejecutiva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20624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 minutos sobre la transformación en curso, la planta y el valor en juego.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38218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38218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43749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53477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38218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38218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43749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53477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39386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978298" y="3849624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Hipótesis de valor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978298" y="420624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Resumimos en una página la brecha, el valor en juego y el siguiente paso.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127797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27797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533327" y="370332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643055" y="3703320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27797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27797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533327" y="5029200"/>
            <a:ext cx="109728" cy="0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643055" y="4919472"/>
            <a:ext cx="0" cy="109728"/>
          </a:xfrm>
          <a:prstGeom prst="line">
            <a:avLst/>
          </a:prstGeom>
          <a:noFill/>
          <a:ln w="12700">
            <a:solidFill>
              <a:srgbClr val="2A2B3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28965" y="38862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767877" y="3849624"/>
            <a:ext cx="26922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Diagnóstico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8767877" y="4206240"/>
            <a:ext cx="2692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7A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Alcance, entregables e inversión según alcance, listos para decidir.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48640" y="5394960"/>
            <a:ext cx="3383280" cy="932688"/>
          </a:xfrm>
          <a:prstGeom prst="rect">
            <a:avLst/>
          </a:prstGeom>
          <a:solidFill>
            <a:srgbClr val="E9663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77240" y="539496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0D1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Agenda tu diagnóstico →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251960" y="5394960"/>
            <a:ext cx="6019495" cy="566928"/>
          </a:xfrm>
          <a:prstGeom prst="rect">
            <a:avLst/>
          </a:prstGeom>
          <a:ln w="12700">
            <a:solidFill>
              <a:srgbClr val="E9663C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4480560" y="5394960"/>
            <a:ext cx="5562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[CANAL DE CONTACTO — COMPLETAR]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F2E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PRAXIA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141732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·   GRACIAS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10911535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</a:t>
            </a:r>
            <a:endParaRPr lang="en-US" sz="800" dirty="0"/>
          </a:p>
        </p:txBody>
      </p:sp>
      <p:pic>
        <p:nvPicPr>
          <p:cNvPr id="5" name="Image 0" descr="Praxia (logo provisional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790" y="2148840"/>
            <a:ext cx="3206115" cy="777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3246120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Turn </a:t>
            </a:r>
            <a:pPr algn="ctr" indent="0" marL="0">
              <a:buNone/>
            </a:pPr>
            <a:r>
              <a:rPr lang="en-US" sz="3000" b="1" dirty="0">
                <a:solidFill>
                  <a:srgbClr val="5B4B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strategy</a:t>
            </a:r>
            <a:pPr algn="ctr" indent="0" marL="0"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into </a:t>
            </a:r>
            <a:pPr algn="ctr" indent="0" marL="0">
              <a:buNone/>
            </a:pPr>
            <a:r>
              <a:rPr lang="en-US" sz="3000" b="1" dirty="0">
                <a:solidFill>
                  <a:srgbClr val="E966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adoption</a:t>
            </a:r>
            <a:pPr algn="ctr" indent="0" marL="0">
              <a:buNone/>
            </a:pPr>
            <a:r>
              <a:rPr lang="en-US" sz="3000" b="1" dirty="0">
                <a:solidFill>
                  <a:srgbClr val="F5F2E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4069080"/>
            <a:ext cx="94484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spc="600" kern="0" dirty="0">
                <a:solidFill>
                  <a:srgbClr val="A7AAB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HUMAN &amp; AI TRANSFORMATION ADVISORY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4800600"/>
            <a:ext cx="9448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E9663C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[CANAL DE CONTACTO — COMPLETAR]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PRAXIA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PRAXIA · Manufactura e industria</dc:title>
  <dc:subject>Preparado para · Manufactura e industria</dc:subject>
  <dc:creator>PRAXIA</dc:creator>
  <cp:lastModifiedBy>PRAXIA</cp:lastModifiedBy>
  <cp:revision>1</cp:revision>
  <dcterms:created xsi:type="dcterms:W3CDTF">2026-10-09T17:46:10Z</dcterms:created>
  <dcterms:modified xsi:type="dcterms:W3CDTF">2026-10-09T17:46:10Z</dcterms:modified>
</cp:coreProperties>
</file>