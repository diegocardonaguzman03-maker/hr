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esta lámina (texto completo y enlace):
• México recibió una IED récord de 40,871 mdd en 2025; las nuevas inversiones crecieron 132.9%. Fuente: Secretaría de Economía, 2026. https://www.gob.mx/se/prensa/mexico-alcanza-cifra-historica-de-inversion-extranjera-directa-en-2025-40-871-millones-de-dolares-crecio-un-10-8-anual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esta lámina (texto completo y enlace):
• En México, 56% de las empresas aún no identifica con claridad el valor de negocio de la IA, y solo 27% tiene una estrategia de IA bien definida. Fuente: KPMG México, 2025. https://kpmg.com/mx/es/sala-de-prensa/comunicados-de-prensa/2025/10/cp-empresas-en-mexico-y-centroamerica-apuestan-por-la-ia.html
• Solo 16% de las organizaciones ha rediseñado por completo roles, procesos y modelo operativo para integrar la IA. Fuente: Deloitte, 2025. https://www.deloitte.com/us/en/about/press-room/work-design-essential-to-ai-roi.html
• Gartner prevé que más de 40% de los proyectos de IA agéntica se cancelará para finales de 2027. Fuente: Gartner, 2025 (predicción). https://www.gartner.com/en/newsroom/press-releases/2025-06-25-gartner-predicts-over-40-percent-of-agentic-ai-projects-will-be-canceled-by-end-of-2027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CONFIDENCIAL</a:t>
            </a:r>
            <a:endParaRPr lang="en-US" sz="800" dirty="0"/>
          </a:p>
        </p:txBody>
      </p:sp>
      <p:pic>
        <p:nvPicPr>
          <p:cNvPr id="4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502920"/>
            <a:ext cx="19613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212598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PRESENTACIÓN EJECUTIVA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Implementar el WMS no es 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adoptarlo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7548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operadores logísticos y cadenas de suministro que crecieron con el nearshoring y necesitan que el sistema gobierne el turno.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PREPARADO PARA  ·  </a:t>
            </a:r>
            <a:pPr indent="0" marL="0">
              <a:buNone/>
            </a:pPr>
            <a:r>
              <a:rPr lang="en-US" sz="1000" b="1" spc="3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LOGÍSTICA Y CADENA DE SUMINISTRO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5806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OCTUBRE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MOMENTO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— EL MOMENTO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42644"/>
            <a:ext cx="9966960" cy="301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nearshoring llenó las naves. La capacidad de gestión no creció al mismo ritmo.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82668"/>
            <a:ext cx="78638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México recibió una IED récord de 40,871 mdd en 2025 (Secretaría de Economía, 2026). CEDIS, cruces y rutas nuevas exigen otra forma de operar el turno.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PROBLEMA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— EL PROBLEMA REAL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</a:t>
            </a:r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 el CEDIS.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3368"/>
            <a:ext cx="5120640" cy="3288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WMS y el TMS están implementados; supervisores y despachadores siguen en Excel y WhatsApp. La rotación de almacenistas y operadores reinicia la curva, y el OTIF depende de quién esté en el turno.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5257800"/>
            <a:ext cx="4965192" cy="0"/>
          </a:xfrm>
          <a:prstGeom prst="line">
            <a:avLst/>
          </a:prstGeom>
          <a:noFill/>
          <a:ln w="12700">
            <a:solidFill>
              <a:srgbClr val="A7A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417320"/>
            <a:ext cx="1417320" cy="3840480"/>
          </a:xfrm>
          <a:prstGeom prst="rect">
            <a:avLst/>
          </a:prstGeom>
          <a:solidFill>
            <a:srgbClr val="15161D"/>
          </a:solidFill>
          <a:ln w="9525">
            <a:solidFill>
              <a:srgbClr val="A7A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64040" y="3611880"/>
            <a:ext cx="1417320" cy="164592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1417320"/>
            <a:ext cx="2377440" cy="0"/>
          </a:xfrm>
          <a:prstGeom prst="line">
            <a:avLst/>
          </a:prstGeom>
          <a:noFill/>
          <a:ln w="9525">
            <a:solidFill>
              <a:srgbClr val="A7AAB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464040" y="1417320"/>
            <a:ext cx="1417320" cy="2139696"/>
          </a:xfrm>
          <a:prstGeom prst="rect">
            <a:avLst/>
          </a:prstGeom>
          <a:ln w="15875">
            <a:solidFill>
              <a:srgbClr val="E9663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045952" y="1417320"/>
            <a:ext cx="0" cy="2139696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4512" y="1417320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3557016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155448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BRECHA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WMS, TMS Y TORRE DE CONTROL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TURNO GOBERNADO POR EL SISTEMA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985455" y="6053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ESQUEMA CONCEPTUAL · NO A ESCALA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COSTO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— EL COSTO DE LA BRECHA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Implementar no es capturar valor. La brecha se paga en la operación.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17594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6389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56%</a:t>
            </a:r>
            <a:endParaRPr lang="en-US" sz="6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empresas en México aún no identifica con claridad el valor de negocio de la IA.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KPMG México, 2025 · México, transversal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338218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22" name="Shape 19"/>
          <p:cNvSpPr/>
          <p:nvPr/>
        </p:nvSpPr>
        <p:spPr>
          <a:xfrm>
            <a:off x="4338218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3821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07173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5347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12538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16%</a:t>
            </a:r>
            <a:endParaRPr lang="en-US" sz="6400" dirty="0"/>
          </a:p>
        </p:txBody>
      </p:sp>
      <p:sp>
        <p:nvSpPr>
          <p:cNvPr id="31" name="Text 28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empresas ha rediseñado por completo roles, procesos y modelo operativo para la IA.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2538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Deloitte, 2025 · global, transversal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127797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34" name="Shape 31"/>
          <p:cNvSpPr/>
          <p:nvPr/>
        </p:nvSpPr>
        <p:spPr>
          <a:xfrm>
            <a:off x="8127797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12779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496751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643055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127797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2779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496751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643055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02117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&gt;40%</a:t>
            </a:r>
            <a:endParaRPr lang="en-US" sz="6400" dirty="0"/>
          </a:p>
        </p:txBody>
      </p:sp>
      <p:sp>
        <p:nvSpPr>
          <p:cNvPr id="43" name="Text 40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los proyectos de IA agéntica se cancelará para finales de 2027, prevé Gartner.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402117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Gartner, 2025 (predicción) · global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Cifras transversales de México y globales, no específicas de logística. La de Gartner es una predicción.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QUÉ HACEMOS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— QUÉ HACEMOS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1597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Convertimos el sistema instalado en operación gobernada.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4432"/>
            <a:ext cx="5120640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inversión en WMS, TMS y automatización rinde cuando supervisores, despachadores y almacenistas deciden con el sistema. Medimos esa brecha y la cerramos: del comité a la junta de arranque de turno en cada CEDIS.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96751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43055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96751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43055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179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11430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Diagnosticamos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15326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Dónde se rompe la adopción: almacén, despacho, flota, mandos medios y datos de uso.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96751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43055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96751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43055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2932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8956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Diseñamos el sistema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2852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de supervisión, rutinas de turno, incentivos y métricas de OTIF, exactitud y seguridad.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46520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96751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96751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0840" y="4684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360920" y="46482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Medimos el cambio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50378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del sistema, comportamiento e impacto en OTIF y errores de surtido. Nunca asistencia.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POR QUÉ PRAXIA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— POR QUÉ DISTINTO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Otros implementan o capacitan. Nosotros respondemos por la adopción.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7594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389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INTEGRADORES DE WMS Y TMS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Implementan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configurado y en producción. Su alcance termina en el go-live; el turno queda fuera.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38218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7173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53477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2538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CAPACITACIÓN OPERATIVA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612538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Entrenan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4612538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Cursos medidos en asistencia, que la rotación borra sin mover errores de surtido ni OTIF.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7797" y="2331720"/>
            <a:ext cx="3515258" cy="347472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31" name="Shape 29"/>
          <p:cNvSpPr/>
          <p:nvPr/>
        </p:nvSpPr>
        <p:spPr>
          <a:xfrm>
            <a:off x="8054645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4645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69903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16207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54645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4645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69903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716207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pic>
        <p:nvPicPr>
          <p:cNvPr id="39" name="Image 0" descr="Símbolo Prax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606040"/>
            <a:ext cx="411480" cy="27432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8402117" y="2624328"/>
            <a:ext cx="2600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402117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Asegura la adopción</a:t>
            </a:r>
            <a:endParaRPr lang="en-US" sz="2800" dirty="0"/>
          </a:p>
        </p:txBody>
      </p:sp>
      <p:sp>
        <p:nvSpPr>
          <p:cNvPr id="42" name="Text 39"/>
          <p:cNvSpPr txBox="1"/>
          <p:nvPr/>
        </p:nvSpPr>
        <p:spPr>
          <a:xfrm>
            <a:off x="8402117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 y mide la adopción en cada almacén, flota y turno, hasta que se nota en OTIF, exactitud y seguridad.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MÉTODO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— CÓMO TRABAJAMOS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Adoption System en cuatro etapas.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sistema repetible y medible, del comité al turno. Cada etapa cierra con un gate que aprueba el sponsor.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94415" cy="0"/>
          </a:xfrm>
          <a:prstGeom prst="line">
            <a:avLst/>
          </a:prstGeom>
          <a:noFill/>
          <a:ln w="9525">
            <a:solidFill>
              <a:srgbClr val="0C0D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SENSE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uso del WMS y TMS por CEDIS y turno, rutinas de supervisión, rotación y costo de no actuar.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6776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650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6776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1650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G0 · BUSINESS CASE APROBADO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90824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90824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ALIGN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90824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Alinear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3390824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de supervisión, decision rights, rutinas de turno y métricas de OTIF y exactitud en un roadmap.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90824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9082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4896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868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0824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082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4896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5868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55416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G1 · TESIS Y ROADMAP APROBADOS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33008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33008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ADOPT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33008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Adoptar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6233008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en un CEDIS o una ruta, habilitación en puesto, junta de arranque y refuerzo de supervisores.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33008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300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1143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0087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3008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300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91143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7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97600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G2 · KPIS DE ADOPCIÓN POR OLA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075191" y="2542032"/>
            <a:ext cx="128016" cy="128016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075191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SUSTAIN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075191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Sostener</a:t>
            </a:r>
            <a:endParaRPr lang="en-US" sz="2200" dirty="0"/>
          </a:p>
        </p:txBody>
      </p:sp>
      <p:sp>
        <p:nvSpPr>
          <p:cNvPr id="52" name="Text 50"/>
          <p:cNvSpPr txBox="1"/>
          <p:nvPr/>
        </p:nvSpPr>
        <p:spPr>
          <a:xfrm>
            <a:off x="9075191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 por olas en la red, re-medición de OTIF y exactitud, y transferencia del método a tu equipo.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075191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7519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33327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43055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75191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7519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33327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43055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39783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G3 · RE-MEDICIÓN PERIÓDICA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estrategia se compra. La </a:t>
            </a:r>
            <a:pPr indent="0" marL="0">
              <a:buNone/>
            </a:pPr>
            <a:r>
              <a:rPr lang="en-US" sz="1300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adopción</a:t>
            </a:r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 diseña.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PUNTO DE ENTRADA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— PUNTO DE ENTRADA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760720" cy="112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Empieza midiendo: Adoption Gap Diagnostic.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23008"/>
            <a:ext cx="5669280" cy="184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3 a 5 semanas medimos la distancia entre lo que tu operación implementó (WMS, TMS, automatización) y lo que realmente gobierna el turno, y construimos el business case con tus datos.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DURACIÓN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3–5 semanas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7472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931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QUÉ MEDIMOS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63931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capas × 5 niveles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211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211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EVIDENCIA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Cualitativa y cuantitativa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47472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3931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363931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Según alcance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12280" y="914400"/>
            <a:ext cx="4830775" cy="498348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50" name="Shape 48"/>
          <p:cNvSpPr/>
          <p:nvPr/>
        </p:nvSpPr>
        <p:spPr>
          <a:xfrm>
            <a:off x="6739128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9128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69903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16207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9128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39128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569903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716207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78040" y="1280160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 QUE RECIBES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17804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726680" y="1783080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en las cinco capas, del comité al supervisor de turno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178040" y="2478024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178040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726680" y="2551176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adopción por CEDIS, ruta y turno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178040" y="3246120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17804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7726680" y="3319272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de la brecha en OTIF, exactitud y rotación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178040" y="4014216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178040" y="4105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4087368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Prioridades por impacto y esfuerzo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178040" y="4782312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178040" y="4873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7726680" y="4855464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de 90 y 180 días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SERVICIOS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— CÓMO SEGUIMOS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diagnóstico a una operación que adopta.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13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768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 Diagnostic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2951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por CEDIS y turno, costo de la brecha y business case. De 3 a 5 semanas.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322576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PUNTO DE ENTRADA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1203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849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484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Strategy-to-Adoption Sprint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2666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prioridad activada: arranque de CEDIS o adopción del WMS. De 6 a 10 semanas.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919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565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199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Transformation Adoption Program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42382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o red de CEDIS por olas, con supervisores como palanca. De 3 a 6 meses.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634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2280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1915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Adoption Accelerator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52097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en planeación de demanda o ruteo de flota, con uso real medido. De 6 a 12 semanas.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QUIÉN ESTÁ DETRÁS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— QUIÉN ESTÁ DETRÁS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286000" cy="2286000"/>
          </a:xfrm>
          <a:prstGeom prst="ellipse">
            <a:avLst/>
          </a:prstGeom>
          <a:solidFill>
            <a:srgbClr val="15161D"/>
          </a:solidFill>
          <a:ln w="12700">
            <a:solidFill>
              <a:srgbClr val="A7AA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FC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371600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Francisco Cardona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84832"/>
            <a:ext cx="8214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 &amp; PRINCIPAL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06040"/>
            <a:ext cx="79397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PRAXIA es una firma senior-led y basada en evidencia. Francisco trabaja de par a par con la dirección, desde el P&amp;L y el riesgo, para que la estrategia se convierta en decisiones, comportamientos e indicadores que cambian.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0168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Liderazgo en un grupo industrial multinacional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73188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74356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Talento, aprendizaje, desarrollo organizacional y people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30168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Exposición internacional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73188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74356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de transformación y productividad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EMPECEMOS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— EMPECEMOS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35024"/>
            <a:ext cx="9601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Mide tu 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04872"/>
            <a:ext cx="7863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diagnóstico de 3 a 5 semanas te dice dónde tu operación no está adoptando lo que ya implementó y qué hacer al respecto. Es el punto de partida de menor riesgo.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417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389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417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389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Conversación ejecutiva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minutos sobre la operación, la red de CEDIS y el valor en juego.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38218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821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43749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347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3749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5347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39386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78298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Hipótesis de valor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978298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Resumimos en una página la brecha, el valor en juego y el siguiente paso.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2779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779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3332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2779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779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3332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8965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767877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767877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Alcance, entregables e inversión según alcance, listos para decidir.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394960"/>
            <a:ext cx="3383280" cy="932688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 tu diagnóstico 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251960" y="5394960"/>
            <a:ext cx="6019495" cy="566928"/>
          </a:xfrm>
          <a:prstGeom prst="rect">
            <a:avLst/>
          </a:prstGeom>
          <a:ln w="12700">
            <a:solidFill>
              <a:srgbClr val="E9663C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4480560" y="5394960"/>
            <a:ext cx="5562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GRACIAS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800" dirty="0"/>
          </a:p>
        </p:txBody>
      </p:sp>
      <p:pic>
        <p:nvPicPr>
          <p:cNvPr id="5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790" y="2148840"/>
            <a:ext cx="3206115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4612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</a:t>
            </a:r>
            <a:pPr algn="ctr" indent="0" marL="0">
              <a:buNone/>
            </a:pPr>
            <a:r>
              <a:rPr lang="en-US" sz="3000" b="1" dirty="0">
                <a:solidFill>
                  <a:srgbClr val="5B4B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into </a:t>
            </a:r>
            <a:pPr algn="ctr" indent="0" marL="0">
              <a:buNone/>
            </a:pPr>
            <a:r>
              <a:rPr lang="en-US" sz="30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069080"/>
            <a:ext cx="9448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800600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PRAXIA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PRAXIA · Logística y cadena de suministro</dc:title>
  <dc:subject>Preparado para · Logística y cadena de suministro</dc:subject>
  <dc:creator>PRAXIA</dc:creator>
  <cp:lastModifiedBy>PRAXIA</cp:lastModifiedBy>
  <cp:revision>1</cp:revision>
  <dcterms:created xsi:type="dcterms:W3CDTF">2026-10-09T17:46:34Z</dcterms:created>
  <dcterms:modified xsi:type="dcterms:W3CDTF">2026-10-09T17:46:34Z</dcterms:modified>
</cp:coreProperties>
</file>