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esta lámina (texto completo y enlace):
• En México, 56% de las empresas aún no identifica con claridad el valor de negocio de la IA, y solo 27% tiene una estrategia de IA bien definida. Fuente: KPMG México, 2025. https://kpmg.com/mx/es/sala-de-prensa/comunicados-de-prensa/2025/10/cp-empresas-en-mexico-y-centroamerica-apuestan-por-la-ia.html
• Las organizaciones con un enfoque de IA centrado en la tecnología (59%) tienen 1.6 veces más probabilidad de no lograr retornos que superen sus expectativas que las que ponen a las personas al centro. Fuente: Deloitte, 2026. https://www.deloitte.com/us/en/insights/topics/talent/human-capital-trends.html
• Gartner prevé que 50% de las organizaciones abandonará sus planes de reducir la fuerza laboral de servicio al cliente debido a la IA. Fuente: Gartner, 2025 (predicción). https://www.gartner.com/en/newsroom/press-releases/2025-06-10-gartner-predicts-50-percent-of-organizations-will-abandon-plans-to-reduce-customer-service-workforce-due-to-ai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CONFIDENCIAL</a:t>
            </a:r>
            <a:endParaRPr lang="en-US" sz="800" dirty="0"/>
          </a:p>
        </p:txBody>
      </p:sp>
      <p:pic>
        <p:nvPicPr>
          <p:cNvPr id="4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502920"/>
            <a:ext cx="19613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212598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PRESENTACIÓN EJECUTIVA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Omnicanal en la estrategia. </a:t>
            </a:r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 la tienda.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7548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cadenas de retail, consumo y e-commerce que ya desplegaron la tecnología y cuyo último metro sigue operando igual.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PREPARADO PARA  ·  </a:t>
            </a:r>
            <a:pPr indent="0" marL="0">
              <a:buNone/>
            </a:pPr>
            <a:r>
              <a:rPr lang="en-US" sz="1000" b="1" spc="3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RETAIL, CONSUMO Y E-COMMERCE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5806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OCTUBRE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MOMENTO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— EL MOMENTO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2996"/>
            <a:ext cx="99669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estrategia es omnicanal. En muchas cadenas, la tienda sigue operando como un solo canal.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52316"/>
            <a:ext cx="78638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App, clic y recoge, CRM, pricing dinámico e IA en atención ya están desplegados. El último metro es el gerente de tienda, con los incentivos y rituales de siempre.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PROBLEMA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— EL PROBLEMA REAL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 el último metro.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 y recoge, CRM y pricing dinámico desplegados; el gerente de tienda opera con los incentivos de siempre. Chatbots que escalan más de lo que resuelven y una rotación que borra cada capacitación antes de volverse hábito.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5257800"/>
            <a:ext cx="4965192" cy="0"/>
          </a:xfrm>
          <a:prstGeom prst="line">
            <a:avLst/>
          </a:prstGeom>
          <a:noFill/>
          <a:ln w="12700">
            <a:solidFill>
              <a:srgbClr val="A7A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417320"/>
            <a:ext cx="1417320" cy="3840480"/>
          </a:xfrm>
          <a:prstGeom prst="rect">
            <a:avLst/>
          </a:prstGeom>
          <a:solidFill>
            <a:srgbClr val="15161D"/>
          </a:solidFill>
          <a:ln w="9525">
            <a:solidFill>
              <a:srgbClr val="A7A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4040" y="3611880"/>
            <a:ext cx="1417320" cy="164592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1417320"/>
            <a:ext cx="2377440" cy="0"/>
          </a:xfrm>
          <a:prstGeom prst="line">
            <a:avLst/>
          </a:prstGeom>
          <a:noFill/>
          <a:ln w="9525">
            <a:solidFill>
              <a:srgbClr val="A7AAB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464040" y="1417320"/>
            <a:ext cx="1417320" cy="2139696"/>
          </a:xfrm>
          <a:prstGeom prst="rect">
            <a:avLst/>
          </a:prstGeom>
          <a:ln w="15875">
            <a:solidFill>
              <a:srgbClr val="E9663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045952" y="1417320"/>
            <a:ext cx="0" cy="2139696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1417320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3557016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55448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BRECHA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OMNICANAL, CRM E IA LANZADOS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QUE CAMBIÓ EN TIENDA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985455" y="6053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ESQUEMA CONCEPTUAL · NO A ESCALA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COSTO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— EL COSTO DE LA BRECHA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Desplegar es rápido. Capturar el valor, no.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17594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6389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56%</a:t>
            </a:r>
            <a:endParaRPr lang="en-US" sz="6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empresas en México aún no identifica con claridad el valor de negocio de la IA.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KPMG México, 2025 · México, transversal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338218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22" name="Shape 19"/>
          <p:cNvSpPr/>
          <p:nvPr/>
        </p:nvSpPr>
        <p:spPr>
          <a:xfrm>
            <a:off x="4338218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3821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07173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5347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2538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1.6×</a:t>
            </a:r>
            <a:endParaRPr lang="en-US" sz="6400" dirty="0"/>
          </a:p>
        </p:txBody>
      </p:sp>
      <p:sp>
        <p:nvSpPr>
          <p:cNvPr id="31" name="Text 28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probable no lograr retornos que superen expectativas con IA centrada en tecnología.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2538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Deloitte, 2026 · global, transversal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127797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34" name="Shape 31"/>
          <p:cNvSpPr/>
          <p:nvPr/>
        </p:nvSpPr>
        <p:spPr>
          <a:xfrm>
            <a:off x="8127797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2779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496751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643055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127797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2779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496751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643055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02117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50%</a:t>
            </a:r>
            <a:endParaRPr lang="en-US" sz="6400" dirty="0"/>
          </a:p>
        </p:txBody>
      </p:sp>
      <p:sp>
        <p:nvSpPr>
          <p:cNvPr id="43" name="Text 40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abandonará sus planes de reducir personal de servicio al cliente por la IA, prevé Gartner.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402117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Gartner, 2025 (predicción) · organizaciones, global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Cifras transversales de México y globales, no específicas de retail. La de Gartner es una predicción.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QUÉ HACEMOS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— QUÉ HACEMOS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206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Convertimos la estrategia omnicanal en operación de tienda.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65856"/>
            <a:ext cx="5120640" cy="277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inversión en omnicanal e IA rinde cuando el gerente de tienda, el piso de ventas y atención cambian cómo trabajan. Medimos esa brecha y la cerramos: del comité a la junta de arranque de cada tienda.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96751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43055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96751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43055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179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11430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Diagnosticamos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15326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Dónde se rompe la adopción: tienda, fulfillment, atención, incentivos y rotación.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96751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43055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96751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43055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2932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8956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Diseñamos el sistema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2852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 del gerente de tienda, rituales, incentivos y métricas alineadas al cliente omnicanal.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96751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96751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4684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46482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Medimos el cambio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50378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Uso, comportamiento e impacto en venta, conversión y servicio. Nunca horas de formación.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POR QUÉ PRAXIA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— POR QUÉ DISTINTO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Otros despliegan o entrenan. Nosotros respondemos por la adopción.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7594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89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PROVEEDORES DE TECNOLOGÍA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Despliegan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App, CRM y chatbots funcionando. Su alcance termina en el lanzamiento; la operación de tienda queda fuera.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38218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7173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3477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2538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PROGRAMAS DE CAPACITACIÓN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12538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Entrenan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612538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curso por cada lanzamiento, que la rotación borra antes de que se vuelva hábito.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2331720"/>
            <a:ext cx="3515258" cy="347472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4645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4645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69903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16207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4645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4645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69903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16207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pic>
        <p:nvPicPr>
          <p:cNvPr id="39" name="Image 0" descr="Símbolo Prax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06040"/>
            <a:ext cx="411480" cy="27432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402117" y="2624328"/>
            <a:ext cx="260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402117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Asegura la adopción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8402117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 y mide la adopción en la red de tiendas y en atención, hasta que se nota en venta, servicio y rotación.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MÉTODO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— CÓMO TRABAJAMOS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Adoption System en cuatro etapas.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sistema repetible y medible, del comité a la tienda. Cada etapa cierra con un gate que aprueba el sponsor.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4415" cy="0"/>
          </a:xfrm>
          <a:prstGeom prst="line">
            <a:avLst/>
          </a:prstGeom>
          <a:noFill/>
          <a:ln w="9525">
            <a:solidFill>
              <a:srgbClr val="0C0D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SENSE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por formato, región y tienda: uso de herramientas, rituales, incentivos y costo de no actuar.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6776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650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6776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650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G0 · BUSINESS CASE APROBADO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90824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90824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ALIGN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90824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Alinear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3390824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 del gerente de tienda, decision rights, incentivos y métricas omnicanal en una tesis de cambio.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90824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082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896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868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0824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082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4896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5868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55416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G1 · TESIS Y ROADMAP APROBADOS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33008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33008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ADOPT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33008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6233008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Pilotos en tiendas seleccionadas, habilitación en piso, rutinas de arranque y refuerzo del gerente regional.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3008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300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1143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0087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3008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300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91143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7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97600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G2 · KPIS DE ADOPCIÓN POR OLA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75191" y="2542032"/>
            <a:ext cx="128016" cy="128016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075191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SUSTAIN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075191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Sostener</a:t>
            </a:r>
            <a:endParaRPr lang="en-US" sz="2200" dirty="0"/>
          </a:p>
        </p:txBody>
      </p:sp>
      <p:sp>
        <p:nvSpPr>
          <p:cNvPr id="52" name="Text 50"/>
          <p:cNvSpPr txBox="1"/>
          <p:nvPr/>
        </p:nvSpPr>
        <p:spPr>
          <a:xfrm>
            <a:off x="9075191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 por olas en la red, re-medición por tienda y transferencia del método a tu equipo.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75191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7519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33327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3055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75191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7519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33327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43055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39783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G3 · RE-MEDICIÓN PERIÓDICA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estrategia se compra. La </a:t>
            </a:r>
            <a:pPr indent="0" marL="0">
              <a:buNone/>
            </a:pPr>
            <a:r>
              <a:rPr lang="en-US" sz="1300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 diseña.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PUNTO DE ENTRADA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— PUNTO DE ENTRADA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760720" cy="112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Empieza midiendo: Adoption Gap Diagnostic.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23008"/>
            <a:ext cx="5669280" cy="184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3 a 5 semanas medimos la distancia entre lo que tu cadena desplegó (omnicanal, CRM, IA) y lo que realmente se usa en tienda y en atención, y construimos el business case con tus datos.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DURACIÓN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3–5 semanas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931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QUÉ MEDIMOS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63931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capas × 5 niveles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211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EVIDENCIA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Cualitativa y cuantitativa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47472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3931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363931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Según alcance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12280" y="914400"/>
            <a:ext cx="4830775" cy="498348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50" name="Shape 48"/>
          <p:cNvSpPr/>
          <p:nvPr/>
        </p:nvSpPr>
        <p:spPr>
          <a:xfrm>
            <a:off x="6739128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9128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69903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16207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9128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569903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716207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78040" y="1280160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QUE RECIBES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17804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26680" y="1783080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en las cinco capas, del comité al gerente de tienda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78040" y="2478024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78040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2551176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adopción por formato, región y tienda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178040" y="3246120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7804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7726680" y="3319272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de la brecha en venta, servicio y rotación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178040" y="4014216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178040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4087368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Prioridades por impacto y esfuerzo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178040" y="4782312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78040" y="4873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726680" y="4855464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de 90 y 180 días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SERVICIOS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— CÓMO SEGUIMOS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diagnóstico a la adopción en toda la red.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768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 Diagnostic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2951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por formato y tienda, costo de la brecha y business case. De 3 a 5 semanas.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322576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PUNTO DE ENTRADA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1203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49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484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Transformation Adoption Program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2666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Adopción por olas en la red de tiendas, con el gerente como palanca. De 3 a 6 meses.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919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565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199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Adoption Accelerator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42382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en atención, pricing o surtido, con uso real medido. De 6 a 12 semanas.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634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280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1915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Strategy-to-Adoption Sprint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52097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prioridad: clic y recoge o tienda como centro de fulfillment. De 6 a 10 semanas.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QUIÉN ESTÁ DETRÁS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— QUIÉN ESTÁ DETRÁS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286000" cy="2286000"/>
          </a:xfrm>
          <a:prstGeom prst="ellipse">
            <a:avLst/>
          </a:prstGeom>
          <a:solidFill>
            <a:srgbClr val="15161D"/>
          </a:solidFill>
          <a:ln w="12700">
            <a:solidFill>
              <a:srgbClr val="A7AA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FC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37160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Francisco Cardona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84832"/>
            <a:ext cx="8214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 &amp; PRINCIPAL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06040"/>
            <a:ext cx="79397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PRAXIA es una firma senior-led y basada en evidencia. Francisco trabaja de par a par con la dirección, desde el P&amp;L y el riesgo, para que la estrategia se convierta en decisiones, comportamientos e indicadores que cambian.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Liderazgo en un grupo industrial multinacional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73188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74356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Talento, aprendizaje, desarrollo organizacional y people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30168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Exposición internacional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73188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74356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de transformación y productividad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EMPECEMOS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— EMPECEMOS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35024"/>
            <a:ext cx="9601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Mide tu 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04872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diagnóstico de 3 a 5 semanas te dice dónde tu red de tiendas no está adoptando lo que ya desplegaste y qué hacer al respecto. Es el punto de partida de menor riesgo.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417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389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417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389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Conversación ejecutiva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minutos sobre la estrategia omnicanal, la red de tiendas y el valor en juego.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8218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821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43749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347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3749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347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39386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78298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Hipótesis de valor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78298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Resumimos en una página la brecha, el valor en juego y el siguiente paso.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2779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779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3332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2779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779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3332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8965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767877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767877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Alcance, entregables e inversión según alcance, listos para decidir.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394960"/>
            <a:ext cx="3383280" cy="932688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 tu diagnóstico 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251960" y="5394960"/>
            <a:ext cx="6019495" cy="566928"/>
          </a:xfrm>
          <a:prstGeom prst="rect">
            <a:avLst/>
          </a:prstGeom>
          <a:ln w="12700">
            <a:solidFill>
              <a:srgbClr val="E9663C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4480560" y="5394960"/>
            <a:ext cx="5562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GRACIAS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800" dirty="0"/>
          </a:p>
        </p:txBody>
      </p:sp>
      <p:pic>
        <p:nvPicPr>
          <p:cNvPr id="5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790" y="2148840"/>
            <a:ext cx="3206115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461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</a:t>
            </a:r>
            <a:pPr algn="ctr" indent="0" marL="0">
              <a:buNone/>
            </a:pPr>
            <a:r>
              <a:rPr lang="en-US" sz="3000" b="1" dirty="0">
                <a:solidFill>
                  <a:srgbClr val="5B4B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into </a:t>
            </a:r>
            <a:pPr algn="ctr" indent="0" marL="0">
              <a:buNone/>
            </a:pPr>
            <a:r>
              <a:rPr lang="en-US" sz="30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069080"/>
            <a:ext cx="9448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800600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PRAXIA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PRAXIA · Retail, consumo y e-commerce</dc:title>
  <dc:subject>Preparado para · Retail, consumo y e-commerce</dc:subject>
  <dc:creator>PRAXIA</dc:creator>
  <cp:lastModifiedBy>PRAXIA</cp:lastModifiedBy>
  <cp:revision>1</cp:revision>
  <dcterms:created xsi:type="dcterms:W3CDTF">2026-10-09T17:47:57Z</dcterms:created>
  <dcterms:modified xsi:type="dcterms:W3CDTF">2026-10-09T17:47:57Z</dcterms:modified>
</cp:coreProperties>
</file>