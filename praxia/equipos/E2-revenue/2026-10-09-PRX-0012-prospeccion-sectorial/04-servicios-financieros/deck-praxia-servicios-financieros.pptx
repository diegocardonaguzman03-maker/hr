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 de esta lámina (texto completo y enlace):
• En México, 56% de las empresas aún no identifica con claridad el valor de negocio de la IA, y solo 27% tiene una estrategia de IA bien definida. Fuente: KPMG México, 2025. https://kpmg.com/mx/es/sala-de-prensa/comunicados-de-prensa/2025/10/cp-empresas-en-mexico-y-centroamerica-apuestan-por-la-ia.html
• Las organizaciones con un enfoque de IA centrado en la tecnología (59%) tienen 1.6 veces más probabilidad de no lograr retornos que superen sus expectativas que las que ponen a las personas al centro. Fuente: Deloitte, 2026. https://www.deloitte.com/us/en/insights/topics/talent/human-capital-trends.html
• Solo 16% de las organizaciones ha rediseñado por completo roles, procesos y modelo operativo para integrar la IA. Fuente: Deloitte, 2025. https://www.deloitte.com/us/en/about/press-room/work-design-essential-to-ai-roi.html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F5F2E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PRAXIA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41732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·   CONFIDENCIAL</a:t>
            </a:r>
            <a:endParaRPr lang="en-US" sz="800" dirty="0"/>
          </a:p>
        </p:txBody>
      </p:sp>
      <p:pic>
        <p:nvPicPr>
          <p:cNvPr id="4" name="Image 0" descr="Praxia (logo provisional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502920"/>
            <a:ext cx="1961388" cy="47548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0972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500" kern="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HUMAN &amp; AI TRANSFORMATION ADVISORY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548640" y="2125980"/>
            <a:ext cx="82296" cy="82296"/>
          </a:xfrm>
          <a:prstGeom prst="rect">
            <a:avLst/>
          </a:prstGeom>
          <a:solidFill>
            <a:srgbClr val="5B4BFF"/>
          </a:solidFill>
          <a:ln w="12700">
            <a:solidFill>
              <a:srgbClr val="5B4B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20574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B5CF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PRESENTACIÓN EJECUTIVA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468880"/>
            <a:ext cx="96926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5600" b="1" dirty="0">
                <a:solidFill>
                  <a:srgbClr val="F5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 </a:t>
            </a:r>
            <a:pPr indent="0" marL="0">
              <a:lnSpc>
                <a:spcPct val="95000"/>
              </a:lnSpc>
              <a:buNone/>
            </a:pPr>
            <a:r>
              <a:rPr lang="en-US" sz="5600" b="1" dirty="0">
                <a:solidFill>
                  <a:srgbClr val="5B4B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inversión</a:t>
            </a:r>
            <a:pPr indent="0" marL="0">
              <a:lnSpc>
                <a:spcPct val="95000"/>
              </a:lnSpc>
              <a:buNone/>
            </a:pPr>
            <a:r>
              <a:rPr lang="en-US" sz="5600" b="1" dirty="0">
                <a:solidFill>
                  <a:srgbClr val="F5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ya está hecha. Falta la </a:t>
            </a:r>
            <a:pPr indent="0" marL="0">
              <a:lnSpc>
                <a:spcPct val="95000"/>
              </a:lnSpc>
              <a:buNone/>
            </a:pPr>
            <a:r>
              <a:rPr lang="en-US" sz="5600" b="1" dirty="0">
                <a:solidFill>
                  <a:srgbClr val="E966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adopción</a:t>
            </a:r>
            <a:pPr indent="0" marL="0">
              <a:lnSpc>
                <a:spcPct val="95000"/>
              </a:lnSpc>
              <a:buNone/>
            </a:pPr>
            <a:r>
              <a:rPr lang="en-US" sz="5600" b="1" dirty="0">
                <a:solidFill>
                  <a:srgbClr val="F5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.</a:t>
            </a:r>
            <a:endParaRPr lang="en-US" sz="56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475488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7AA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 bancos, aseguradoras y fintech que ya compraron el core, la IA o la integración, y cuyo valor depende de operar distinto.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58064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PREPARADO PARA  ·  </a:t>
            </a:r>
            <a:pPr indent="0" marL="0">
              <a:buNone/>
            </a:pPr>
            <a:r>
              <a:rPr lang="en-US" sz="1000" b="1" spc="300" kern="0" dirty="0">
                <a:solidFill>
                  <a:srgbClr val="F5F2E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SERVICIOS FINANCIEROS Y FINTECH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7985455" y="58064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OCTUBRE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F5F2E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PRAXIA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41732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·   EL MOMENTO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0911535" y="6400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48640" y="571500"/>
            <a:ext cx="82296" cy="82296"/>
          </a:xfrm>
          <a:prstGeom prst="rect">
            <a:avLst/>
          </a:prstGeom>
          <a:solidFill>
            <a:srgbClr val="5B4BFF"/>
          </a:solidFill>
          <a:ln w="12700">
            <a:solidFill>
              <a:srgbClr val="5B4B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502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B5CF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01 — EL MOMENTO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578356"/>
            <a:ext cx="996696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5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Licencia, core bancario, adquisición o IA: la inversión ya está hecha. El valor depende de operar distinto.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346956"/>
            <a:ext cx="786384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A7AA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Relevos en la dirección, fintech que se convierten en bancos, cores nuevos e IA a escala. Todo bajo regulación y con el riesgo operacional a la vista.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F5F2E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PRAXIA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41732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·   EL PROBLEMA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0911535" y="6400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03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48640" y="571500"/>
            <a:ext cx="82296" cy="82296"/>
          </a:xfrm>
          <a:prstGeom prst="rect">
            <a:avLst/>
          </a:prstGeom>
          <a:solidFill>
            <a:srgbClr val="5B4BFF"/>
          </a:solidFill>
          <a:ln w="12700">
            <a:solidFill>
              <a:srgbClr val="5B4B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502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B5CF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02 — EL PROBLEMA REAL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914400"/>
            <a:ext cx="5394960" cy="1184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F5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</a:t>
            </a:r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E966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Adoption Gap</a:t>
            </a:r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F5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en un sector regulado.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377440"/>
            <a:ext cx="51206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7AA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canales digitales están lanzados y la sucursal y el centro de atención siguen absorbiendo la operación. Los pilotos de IA no salen de la prueba porque negocio, riesgo y cumplimiento no comparten derechos de decisión.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675120" y="5257800"/>
            <a:ext cx="4965192" cy="0"/>
          </a:xfrm>
          <a:prstGeom prst="line">
            <a:avLst/>
          </a:prstGeom>
          <a:noFill/>
          <a:ln w="12700">
            <a:solidFill>
              <a:srgbClr val="A7AAB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86600" y="1417320"/>
            <a:ext cx="1417320" cy="3840480"/>
          </a:xfrm>
          <a:prstGeom prst="rect">
            <a:avLst/>
          </a:prstGeom>
          <a:solidFill>
            <a:srgbClr val="15161D"/>
          </a:solidFill>
          <a:ln w="9525">
            <a:solidFill>
              <a:srgbClr val="A7AAB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464040" y="3611880"/>
            <a:ext cx="1417320" cy="1645920"/>
          </a:xfrm>
          <a:prstGeom prst="rect">
            <a:avLst/>
          </a:prstGeom>
          <a:solidFill>
            <a:srgbClr val="F5F2EC"/>
          </a:solidFill>
          <a:ln/>
        </p:spPr>
      </p:sp>
      <p:sp>
        <p:nvSpPr>
          <p:cNvPr id="12" name="Shape 10"/>
          <p:cNvSpPr/>
          <p:nvPr/>
        </p:nvSpPr>
        <p:spPr>
          <a:xfrm>
            <a:off x="8503920" y="1417320"/>
            <a:ext cx="2377440" cy="0"/>
          </a:xfrm>
          <a:prstGeom prst="line">
            <a:avLst/>
          </a:prstGeom>
          <a:noFill/>
          <a:ln w="9525">
            <a:solidFill>
              <a:srgbClr val="A7AAB5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9464040" y="1417320"/>
            <a:ext cx="1417320" cy="2139696"/>
          </a:xfrm>
          <a:prstGeom prst="rect">
            <a:avLst/>
          </a:prstGeom>
          <a:ln w="15875">
            <a:solidFill>
              <a:srgbClr val="E9663C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11045952" y="1417320"/>
            <a:ext cx="0" cy="2139696"/>
          </a:xfrm>
          <a:prstGeom prst="line">
            <a:avLst/>
          </a:prstGeom>
          <a:noFill/>
          <a:ln w="19050">
            <a:solidFill>
              <a:srgbClr val="E9663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954512" y="1417320"/>
            <a:ext cx="91440" cy="0"/>
          </a:xfrm>
          <a:prstGeom prst="line">
            <a:avLst/>
          </a:prstGeom>
          <a:noFill/>
          <a:ln w="19050">
            <a:solidFill>
              <a:srgbClr val="E9663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54512" y="3557016"/>
            <a:ext cx="91440" cy="0"/>
          </a:xfrm>
          <a:prstGeom prst="line">
            <a:avLst/>
          </a:prstGeom>
          <a:noFill/>
          <a:ln w="19050">
            <a:solidFill>
              <a:srgbClr val="E9663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555480" y="1554480"/>
            <a:ext cx="1234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E9663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LA BRECHA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766560" y="53949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spc="200" kern="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CORE, CANALES E IA DESPLEGADOS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9144000" y="53949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spc="200" kern="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OPERACIÓN QUE CAMBIÓ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7985455" y="605332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ESQUEMA CONCEPTUAL · NO A ESCALA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F5F2E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PRAXIA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41732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·   EL COSTO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0911535" y="6400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04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48640" y="571500"/>
            <a:ext cx="82296" cy="82296"/>
          </a:xfrm>
          <a:prstGeom prst="rect">
            <a:avLst/>
          </a:prstGeom>
          <a:solidFill>
            <a:srgbClr val="5B4BFF"/>
          </a:solidFill>
          <a:ln w="12700">
            <a:solidFill>
              <a:srgbClr val="5B4B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502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B5CF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03 — EL COSTO DE LA BRECHA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91440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5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Comprar tecnología no es capturar valor. Tampoco en servicios financieros.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548640" y="2377440"/>
            <a:ext cx="3515258" cy="3429000"/>
          </a:xfrm>
          <a:prstGeom prst="rect">
            <a:avLst/>
          </a:prstGeom>
          <a:solidFill>
            <a:srgbClr val="15161D"/>
          </a:solidFill>
          <a:ln/>
        </p:spPr>
      </p:sp>
      <p:sp>
        <p:nvSpPr>
          <p:cNvPr id="10" name="Shape 7"/>
          <p:cNvSpPr/>
          <p:nvPr/>
        </p:nvSpPr>
        <p:spPr>
          <a:xfrm>
            <a:off x="548640" y="2377440"/>
            <a:ext cx="146304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48640" y="2377440"/>
            <a:ext cx="0" cy="146304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917594" y="2377440"/>
            <a:ext cx="146304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063898" y="2377440"/>
            <a:ext cx="0" cy="146304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48640" y="5806440"/>
            <a:ext cx="146304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48640" y="5660136"/>
            <a:ext cx="0" cy="146304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917594" y="5806440"/>
            <a:ext cx="146304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063898" y="5660136"/>
            <a:ext cx="0" cy="146304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22960" y="2606040"/>
            <a:ext cx="30580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5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56%</a:t>
            </a:r>
            <a:endParaRPr lang="en-US" sz="6400" dirty="0"/>
          </a:p>
        </p:txBody>
      </p:sp>
      <p:sp>
        <p:nvSpPr>
          <p:cNvPr id="19" name="Text 16"/>
          <p:cNvSpPr txBox="1"/>
          <p:nvPr/>
        </p:nvSpPr>
        <p:spPr>
          <a:xfrm>
            <a:off x="822960" y="3840480"/>
            <a:ext cx="29666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5F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las empresas en México aún no identifica con claridad el valor de negocio de la IA.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822960" y="5166360"/>
            <a:ext cx="29666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FUENTE · KPMG México, 2025 · México, transversal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4338218" y="2377440"/>
            <a:ext cx="3515258" cy="3429000"/>
          </a:xfrm>
          <a:prstGeom prst="rect">
            <a:avLst/>
          </a:prstGeom>
          <a:solidFill>
            <a:srgbClr val="15161D"/>
          </a:solidFill>
          <a:ln/>
        </p:spPr>
      </p:sp>
      <p:sp>
        <p:nvSpPr>
          <p:cNvPr id="22" name="Shape 19"/>
          <p:cNvSpPr/>
          <p:nvPr/>
        </p:nvSpPr>
        <p:spPr>
          <a:xfrm>
            <a:off x="4338218" y="2377440"/>
            <a:ext cx="146304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338218" y="2377440"/>
            <a:ext cx="0" cy="146304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707173" y="2377440"/>
            <a:ext cx="146304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853477" y="2377440"/>
            <a:ext cx="0" cy="146304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338218" y="5806440"/>
            <a:ext cx="146304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338218" y="5660136"/>
            <a:ext cx="0" cy="146304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707173" y="5806440"/>
            <a:ext cx="146304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853477" y="5660136"/>
            <a:ext cx="0" cy="146304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612538" y="2606040"/>
            <a:ext cx="30580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5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1.6×</a:t>
            </a:r>
            <a:endParaRPr lang="en-US" sz="6400" dirty="0"/>
          </a:p>
        </p:txBody>
      </p:sp>
      <p:sp>
        <p:nvSpPr>
          <p:cNvPr id="31" name="Text 28"/>
          <p:cNvSpPr txBox="1"/>
          <p:nvPr/>
        </p:nvSpPr>
        <p:spPr>
          <a:xfrm>
            <a:off x="4612538" y="3840480"/>
            <a:ext cx="29666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5F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más probable no lograr retornos que superen expectativas con IA centrada en tecnología.</a:t>
            </a:r>
            <a:endParaRPr lang="en-US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4612538" y="5166360"/>
            <a:ext cx="29666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FUENTE · Deloitte, 2026 · global, transversal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8127797" y="2377440"/>
            <a:ext cx="3515258" cy="3429000"/>
          </a:xfrm>
          <a:prstGeom prst="rect">
            <a:avLst/>
          </a:prstGeom>
          <a:solidFill>
            <a:srgbClr val="15161D"/>
          </a:solidFill>
          <a:ln/>
        </p:spPr>
      </p:sp>
      <p:sp>
        <p:nvSpPr>
          <p:cNvPr id="34" name="Shape 31"/>
          <p:cNvSpPr/>
          <p:nvPr/>
        </p:nvSpPr>
        <p:spPr>
          <a:xfrm>
            <a:off x="8127797" y="2377440"/>
            <a:ext cx="146304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8127797" y="2377440"/>
            <a:ext cx="0" cy="146304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11496751" y="2377440"/>
            <a:ext cx="146304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11643055" y="2377440"/>
            <a:ext cx="0" cy="146304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8127797" y="5806440"/>
            <a:ext cx="146304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8127797" y="5660136"/>
            <a:ext cx="0" cy="146304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11496751" y="5806440"/>
            <a:ext cx="146304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11643055" y="5660136"/>
            <a:ext cx="0" cy="146304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402117" y="2606040"/>
            <a:ext cx="30580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5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16%</a:t>
            </a:r>
            <a:endParaRPr lang="en-US" sz="6400" dirty="0"/>
          </a:p>
        </p:txBody>
      </p:sp>
      <p:sp>
        <p:nvSpPr>
          <p:cNvPr id="43" name="Text 40"/>
          <p:cNvSpPr txBox="1"/>
          <p:nvPr/>
        </p:nvSpPr>
        <p:spPr>
          <a:xfrm>
            <a:off x="8402117" y="3840480"/>
            <a:ext cx="29666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5F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las empresas ha rediseñado por completo roles, procesos y modelo operativo para la IA.</a:t>
            </a:r>
            <a:endParaRPr lang="en-US" sz="1500" dirty="0"/>
          </a:p>
        </p:txBody>
      </p:sp>
      <p:sp>
        <p:nvSpPr>
          <p:cNvPr id="44" name="Text 41"/>
          <p:cNvSpPr txBox="1"/>
          <p:nvPr/>
        </p:nvSpPr>
        <p:spPr>
          <a:xfrm>
            <a:off x="8402117" y="5166360"/>
            <a:ext cx="29666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FUENTE · Deloitte, 2025 · global, transversal</a:t>
            </a:r>
            <a:endParaRPr lang="en-US" sz="800" dirty="0"/>
          </a:p>
        </p:txBody>
      </p:sp>
      <p:sp>
        <p:nvSpPr>
          <p:cNvPr id="45" name="Text 42"/>
          <p:cNvSpPr txBox="1"/>
          <p:nvPr/>
        </p:nvSpPr>
        <p:spPr>
          <a:xfrm>
            <a:off x="548640" y="59436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7AA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Cifras transversales de México y globales, no específicas de servicios financieros. Fuentes completas en las notas.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0C0D1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PRAXIA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41732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B6E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·   QUÉ HACEMOS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0911535" y="6400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B6E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05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48640" y="571500"/>
            <a:ext cx="82296" cy="82296"/>
          </a:xfrm>
          <a:prstGeom prst="rect">
            <a:avLst/>
          </a:prstGeom>
          <a:solidFill>
            <a:srgbClr val="5B4BFF"/>
          </a:solidFill>
          <a:ln w="12700">
            <a:solidFill>
              <a:srgbClr val="5B4B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502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5B4B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04 — QUÉ HACEMOS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914400"/>
            <a:ext cx="5394960" cy="2068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Convertimos la inversión en core, canales e IA en operación.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165856"/>
            <a:ext cx="5120640" cy="277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0C0D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inversión rinde cuando ejecutivos, cobranza, riesgo y atención cambian cómo deciden y trabajan. Medimos esa brecha y la cerramos con evidencia que resiste una revisión de riesgo y cumplimiento.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46520" y="914400"/>
            <a:ext cx="146304" cy="0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914400"/>
            <a:ext cx="0" cy="146304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96751" y="914400"/>
            <a:ext cx="146304" cy="0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643055" y="914400"/>
            <a:ext cx="0" cy="146304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46520" y="2484120"/>
            <a:ext cx="146304" cy="0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46520" y="2337816"/>
            <a:ext cx="0" cy="146304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496751" y="2484120"/>
            <a:ext cx="146304" cy="0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643055" y="2337816"/>
            <a:ext cx="0" cy="146304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720840" y="11795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4B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01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7360920" y="1143000"/>
            <a:ext cx="4007815" cy="325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9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Diagnosticamos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7360920" y="1532636"/>
            <a:ext cx="4007815" cy="814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B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Dónde se rompe la adopción: sucursal, centro de atención, crédito, cobranza, riesgo y cumplimiento.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46520" y="2667000"/>
            <a:ext cx="146304" cy="0"/>
          </a:xfrm>
          <a:prstGeom prst="line">
            <a:avLst/>
          </a:prstGeom>
          <a:noFill/>
          <a:ln w="15875">
            <a:solidFill>
              <a:srgbClr val="D9D4C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46520" y="2667000"/>
            <a:ext cx="0" cy="146304"/>
          </a:xfrm>
          <a:prstGeom prst="line">
            <a:avLst/>
          </a:prstGeom>
          <a:noFill/>
          <a:ln w="15875">
            <a:solidFill>
              <a:srgbClr val="D9D4C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496751" y="2667000"/>
            <a:ext cx="146304" cy="0"/>
          </a:xfrm>
          <a:prstGeom prst="line">
            <a:avLst/>
          </a:prstGeom>
          <a:noFill/>
          <a:ln w="15875">
            <a:solidFill>
              <a:srgbClr val="D9D4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643055" y="2667000"/>
            <a:ext cx="0" cy="146304"/>
          </a:xfrm>
          <a:prstGeom prst="line">
            <a:avLst/>
          </a:prstGeom>
          <a:noFill/>
          <a:ln w="15875">
            <a:solidFill>
              <a:srgbClr val="D9D4C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46520" y="4236720"/>
            <a:ext cx="146304" cy="0"/>
          </a:xfrm>
          <a:prstGeom prst="line">
            <a:avLst/>
          </a:prstGeom>
          <a:noFill/>
          <a:ln w="15875">
            <a:solidFill>
              <a:srgbClr val="D9D4C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46520" y="4090416"/>
            <a:ext cx="0" cy="146304"/>
          </a:xfrm>
          <a:prstGeom prst="line">
            <a:avLst/>
          </a:prstGeom>
          <a:noFill/>
          <a:ln w="15875">
            <a:solidFill>
              <a:srgbClr val="D9D4C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496751" y="4236720"/>
            <a:ext cx="146304" cy="0"/>
          </a:xfrm>
          <a:prstGeom prst="line">
            <a:avLst/>
          </a:prstGeom>
          <a:noFill/>
          <a:ln w="15875">
            <a:solidFill>
              <a:srgbClr val="D9D4C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643055" y="4090416"/>
            <a:ext cx="0" cy="146304"/>
          </a:xfrm>
          <a:prstGeom prst="line">
            <a:avLst/>
          </a:prstGeom>
          <a:noFill/>
          <a:ln w="15875">
            <a:solidFill>
              <a:srgbClr val="D9D4C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720840" y="29321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4B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02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7360920" y="2895600"/>
            <a:ext cx="4007815" cy="325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9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Diseñamos el sistema</a:t>
            </a:r>
            <a:endParaRPr lang="en-US" sz="1900" dirty="0"/>
          </a:p>
        </p:txBody>
      </p:sp>
      <p:sp>
        <p:nvSpPr>
          <p:cNvPr id="30" name="Text 28"/>
          <p:cNvSpPr txBox="1"/>
          <p:nvPr/>
        </p:nvSpPr>
        <p:spPr>
          <a:xfrm>
            <a:off x="7360920" y="3285236"/>
            <a:ext cx="4007815" cy="814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B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Derechos de decisión entre negocio, riesgo y cumplimiento; roles, rituales, incentivos y métricas.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446520" y="4419600"/>
            <a:ext cx="146304" cy="0"/>
          </a:xfrm>
          <a:prstGeom prst="line">
            <a:avLst/>
          </a:prstGeom>
          <a:noFill/>
          <a:ln w="15875">
            <a:solidFill>
              <a:srgbClr val="D9D4C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46520" y="4419600"/>
            <a:ext cx="0" cy="146304"/>
          </a:xfrm>
          <a:prstGeom prst="line">
            <a:avLst/>
          </a:prstGeom>
          <a:noFill/>
          <a:ln w="15875">
            <a:solidFill>
              <a:srgbClr val="D9D4C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1496751" y="4419600"/>
            <a:ext cx="146304" cy="0"/>
          </a:xfrm>
          <a:prstGeom prst="line">
            <a:avLst/>
          </a:prstGeom>
          <a:noFill/>
          <a:ln w="15875">
            <a:solidFill>
              <a:srgbClr val="D9D4C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1643055" y="4419600"/>
            <a:ext cx="0" cy="146304"/>
          </a:xfrm>
          <a:prstGeom prst="line">
            <a:avLst/>
          </a:prstGeom>
          <a:noFill/>
          <a:ln w="15875">
            <a:solidFill>
              <a:srgbClr val="D9D4C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46520" y="5989320"/>
            <a:ext cx="146304" cy="0"/>
          </a:xfrm>
          <a:prstGeom prst="line">
            <a:avLst/>
          </a:prstGeom>
          <a:noFill/>
          <a:ln w="15875">
            <a:solidFill>
              <a:srgbClr val="D9D4C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46520" y="5843016"/>
            <a:ext cx="0" cy="146304"/>
          </a:xfrm>
          <a:prstGeom prst="line">
            <a:avLst/>
          </a:prstGeom>
          <a:noFill/>
          <a:ln w="15875">
            <a:solidFill>
              <a:srgbClr val="D9D4C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496751" y="5989320"/>
            <a:ext cx="146304" cy="0"/>
          </a:xfrm>
          <a:prstGeom prst="line">
            <a:avLst/>
          </a:prstGeom>
          <a:noFill/>
          <a:ln w="15875">
            <a:solidFill>
              <a:srgbClr val="D9D4C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1643055" y="5843016"/>
            <a:ext cx="0" cy="146304"/>
          </a:xfrm>
          <a:prstGeom prst="line">
            <a:avLst/>
          </a:prstGeom>
          <a:noFill/>
          <a:ln w="15875">
            <a:solidFill>
              <a:srgbClr val="D9D4C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720840" y="46847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4B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03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7360920" y="4648200"/>
            <a:ext cx="4007815" cy="325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9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Medimos el cambio</a:t>
            </a:r>
            <a:endParaRPr lang="en-US" sz="1900" dirty="0"/>
          </a:p>
        </p:txBody>
      </p:sp>
      <p:sp>
        <p:nvSpPr>
          <p:cNvPr id="41" name="Text 39"/>
          <p:cNvSpPr txBox="1"/>
          <p:nvPr/>
        </p:nvSpPr>
        <p:spPr>
          <a:xfrm>
            <a:off x="7360920" y="5037836"/>
            <a:ext cx="4007815" cy="814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B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Evidencia trazable de uso, comportamiento e impacto. Nunca asistencia ni horas de formación.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0C0D1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PRAXIA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41732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B6E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·   POR QUÉ PRAXIA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0911535" y="6400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B6E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48640" y="571500"/>
            <a:ext cx="82296" cy="82296"/>
          </a:xfrm>
          <a:prstGeom prst="rect">
            <a:avLst/>
          </a:prstGeom>
          <a:solidFill>
            <a:srgbClr val="5B4BFF"/>
          </a:solidFill>
          <a:ln w="12700">
            <a:solidFill>
              <a:srgbClr val="5B4B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502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5B4B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05 — POR QUÉ DISTINTO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91440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Otros implementan la tecnología. Nosotros respondemos por la adopción.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146304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331720"/>
            <a:ext cx="0" cy="146304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17594" y="2331720"/>
            <a:ext cx="146304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63898" y="2331720"/>
            <a:ext cx="0" cy="146304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5806440"/>
            <a:ext cx="146304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5660136"/>
            <a:ext cx="0" cy="146304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917594" y="5806440"/>
            <a:ext cx="146304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063898" y="5660136"/>
            <a:ext cx="0" cy="146304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2624328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6E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INTEGRADORES Y PROVEEDORES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3108960"/>
            <a:ext cx="29666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Implementan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160520"/>
            <a:ext cx="296661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C0D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Core, apps y modelos en producción. Su alcance termina en el go-live; la operación que debe cambiar queda fuera.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338218" y="2331720"/>
            <a:ext cx="146304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38218" y="2331720"/>
            <a:ext cx="0" cy="146304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07173" y="2331720"/>
            <a:ext cx="146304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853477" y="2331720"/>
            <a:ext cx="0" cy="146304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38218" y="5806440"/>
            <a:ext cx="146304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38218" y="5660136"/>
            <a:ext cx="0" cy="146304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07173" y="5806440"/>
            <a:ext cx="146304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53477" y="5660136"/>
            <a:ext cx="0" cy="146304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612538" y="2624328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6E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CONSULTORAS DE RH Y CAMBIO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4612538" y="3108960"/>
            <a:ext cx="29666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Facilitan</a:t>
            </a:r>
            <a:endParaRPr lang="en-US" sz="2800" dirty="0"/>
          </a:p>
        </p:txBody>
      </p:sp>
      <p:sp>
        <p:nvSpPr>
          <p:cNvPr id="29" name="Text 27"/>
          <p:cNvSpPr txBox="1"/>
          <p:nvPr/>
        </p:nvSpPr>
        <p:spPr>
          <a:xfrm>
            <a:off x="4612538" y="4160520"/>
            <a:ext cx="296661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C0D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Comunicación y talleres con buena intención, sin la evidencia que pide un comité de riesgo.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127797" y="2331720"/>
            <a:ext cx="3515258" cy="3474720"/>
          </a:xfrm>
          <a:prstGeom prst="rect">
            <a:avLst/>
          </a:prstGeom>
          <a:solidFill>
            <a:srgbClr val="0C0D12"/>
          </a:solidFill>
          <a:ln/>
        </p:spPr>
      </p:sp>
      <p:sp>
        <p:nvSpPr>
          <p:cNvPr id="31" name="Shape 29"/>
          <p:cNvSpPr/>
          <p:nvPr/>
        </p:nvSpPr>
        <p:spPr>
          <a:xfrm>
            <a:off x="8054645" y="2258568"/>
            <a:ext cx="146304" cy="0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054645" y="2258568"/>
            <a:ext cx="0" cy="146304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1569903" y="2258568"/>
            <a:ext cx="146304" cy="0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1716207" y="2258568"/>
            <a:ext cx="0" cy="146304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054645" y="5879592"/>
            <a:ext cx="146304" cy="0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054645" y="5733288"/>
            <a:ext cx="0" cy="146304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569903" y="5879592"/>
            <a:ext cx="146304" cy="0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1716207" y="5733288"/>
            <a:ext cx="0" cy="146304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pic>
        <p:nvPicPr>
          <p:cNvPr id="39" name="Image 0" descr="Símbolo Praxi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7255" y="2606040"/>
            <a:ext cx="411480" cy="274320"/>
          </a:xfrm>
          <a:prstGeom prst="rect">
            <a:avLst/>
          </a:prstGeom>
        </p:spPr>
      </p:pic>
      <p:sp>
        <p:nvSpPr>
          <p:cNvPr id="40" name="Text 37"/>
          <p:cNvSpPr txBox="1"/>
          <p:nvPr/>
        </p:nvSpPr>
        <p:spPr>
          <a:xfrm>
            <a:off x="8402117" y="2624328"/>
            <a:ext cx="26008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B5CF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PRAXIA</a:t>
            </a:r>
            <a:endParaRPr lang="en-US" sz="900" dirty="0"/>
          </a:p>
        </p:txBody>
      </p:sp>
      <p:sp>
        <p:nvSpPr>
          <p:cNvPr id="41" name="Text 38"/>
          <p:cNvSpPr txBox="1"/>
          <p:nvPr/>
        </p:nvSpPr>
        <p:spPr>
          <a:xfrm>
            <a:off x="8402117" y="3108960"/>
            <a:ext cx="29666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E966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Asegura la adopción</a:t>
            </a:r>
            <a:endParaRPr lang="en-US" sz="2800" dirty="0"/>
          </a:p>
        </p:txBody>
      </p:sp>
      <p:sp>
        <p:nvSpPr>
          <p:cNvPr id="42" name="Text 39"/>
          <p:cNvSpPr txBox="1"/>
          <p:nvPr/>
        </p:nvSpPr>
        <p:spPr>
          <a:xfrm>
            <a:off x="8402117" y="4160520"/>
            <a:ext cx="296661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5F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Diseña y mide la adopción en sucursal, atención, crédito y riesgo, con evidencia trazable y KPIs del negocio.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0C0D1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PRAXIA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41732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B6E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·   MÉTODO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0911535" y="6400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B6E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07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48640" y="571500"/>
            <a:ext cx="82296" cy="82296"/>
          </a:xfrm>
          <a:prstGeom prst="rect">
            <a:avLst/>
          </a:prstGeom>
          <a:solidFill>
            <a:srgbClr val="5B4BFF"/>
          </a:solidFill>
          <a:ln w="12700">
            <a:solidFill>
              <a:srgbClr val="5B4B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502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5B4B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06 — CÓMO TRABAJAMOS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91440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Adoption System en cuatro etapas.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69164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6B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sistema repetible, medible y trazable. Cada etapa cierra con un gate que aprueba el sponsor.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606040"/>
            <a:ext cx="11094415" cy="0"/>
          </a:xfrm>
          <a:prstGeom prst="line">
            <a:avLst/>
          </a:prstGeom>
          <a:noFill/>
          <a:ln w="9525">
            <a:solidFill>
              <a:srgbClr val="0C0D1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542032"/>
            <a:ext cx="128016" cy="128016"/>
          </a:xfrm>
          <a:prstGeom prst="rect">
            <a:avLst/>
          </a:prstGeom>
          <a:solidFill>
            <a:srgbClr val="5B4B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926080"/>
            <a:ext cx="256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B4B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01 · SENSE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264408"/>
            <a:ext cx="2567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Diagnosticar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794760"/>
            <a:ext cx="24764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C0D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Baseline por canal y función, decisiones entre negocio, riesgo y cumplimiento, y costo de no actuar.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5212080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5212080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006776" y="5212080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116504" y="5212080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5779008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5669280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006776" y="5779008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116504" y="5669280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13232" y="5212080"/>
            <a:ext cx="223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6E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G0 · BUSINESS CASE APROBADO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390824" y="2542032"/>
            <a:ext cx="128016" cy="128016"/>
          </a:xfrm>
          <a:prstGeom prst="rect">
            <a:avLst/>
          </a:prstGeom>
          <a:solidFill>
            <a:srgbClr val="5B4BF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3390824" y="2926080"/>
            <a:ext cx="256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B4B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02 · ALIGN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3390824" y="3264408"/>
            <a:ext cx="2567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Alinear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3390824" y="3794760"/>
            <a:ext cx="24764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C0D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Casos de uso con dueño, decision rights, criterios de evidencia, roles y métricas en una tesis de cambio.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390824" y="5212080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90824" y="5212080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848960" y="5212080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58688" y="5212080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90824" y="5779008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390824" y="5669280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848960" y="5779008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958688" y="5669280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555416" y="5212080"/>
            <a:ext cx="223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6E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G1 · TESIS Y ROADMAP APROBADOS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233008" y="2542032"/>
            <a:ext cx="128016" cy="128016"/>
          </a:xfrm>
          <a:prstGeom prst="rect">
            <a:avLst/>
          </a:prstGeom>
          <a:solidFill>
            <a:srgbClr val="5B4BFF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233008" y="2926080"/>
            <a:ext cx="256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B4B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03 · ADOPT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6233008" y="3264408"/>
            <a:ext cx="2567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Adoptar</a:t>
            </a:r>
            <a:endParaRPr lang="en-US" sz="2200" dirty="0"/>
          </a:p>
        </p:txBody>
      </p:sp>
      <p:sp>
        <p:nvSpPr>
          <p:cNvPr id="39" name="Text 37"/>
          <p:cNvSpPr txBox="1"/>
          <p:nvPr/>
        </p:nvSpPr>
        <p:spPr>
          <a:xfrm>
            <a:off x="6233008" y="3794760"/>
            <a:ext cx="24764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C0D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Pilotos acotados en una función, habilitación por rol, flujos humano-IA con controles y refuerzo de líderes.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233008" y="5212080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233008" y="5212080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691143" y="5212080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800871" y="5212080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233008" y="5779008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233008" y="5669280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691143" y="5779008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800871" y="5669280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397600" y="5212080"/>
            <a:ext cx="223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6E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G2 · KPIS DE ADOPCIÓN POR OLA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9075191" y="2542032"/>
            <a:ext cx="128016" cy="128016"/>
          </a:xfrm>
          <a:prstGeom prst="rect">
            <a:avLst/>
          </a:prstGeom>
          <a:solidFill>
            <a:srgbClr val="E9663C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9075191" y="2926080"/>
            <a:ext cx="256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B4B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04 · SUSTAIN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9075191" y="3264408"/>
            <a:ext cx="2567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Sostener</a:t>
            </a:r>
            <a:endParaRPr lang="en-US" sz="2200" dirty="0"/>
          </a:p>
        </p:txBody>
      </p:sp>
      <p:sp>
        <p:nvSpPr>
          <p:cNvPr id="52" name="Text 50"/>
          <p:cNvSpPr txBox="1"/>
          <p:nvPr/>
        </p:nvSpPr>
        <p:spPr>
          <a:xfrm>
            <a:off x="9075191" y="3794760"/>
            <a:ext cx="24764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C0D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Re-medición con evidencia trazable, beneficios capturados y transferencia del método a tu PMO.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9075191" y="5212080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075191" y="5212080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1533327" y="5212080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1643055" y="5212080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075191" y="5779008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075191" y="5669280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1533327" y="5779008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1643055" y="5669280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9239783" y="5212080"/>
            <a:ext cx="223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6E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G3 · RE-MEDICIÓN PERIÓDICA</a:t>
            </a:r>
            <a:endParaRPr lang="en-US" sz="800" dirty="0"/>
          </a:p>
        </p:txBody>
      </p:sp>
      <p:sp>
        <p:nvSpPr>
          <p:cNvPr id="62" name="Text 60"/>
          <p:cNvSpPr txBox="1"/>
          <p:nvPr/>
        </p:nvSpPr>
        <p:spPr>
          <a:xfrm>
            <a:off x="548640" y="59436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 estrategia se compra. La </a:t>
            </a:r>
            <a:pPr indent="0" marL="0">
              <a:buNone/>
            </a:pPr>
            <a:r>
              <a:rPr lang="en-US" sz="1300" dirty="0">
                <a:solidFill>
                  <a:srgbClr val="E966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adopción</a:t>
            </a:r>
            <a:pPr indent="0" marL="0">
              <a:buNone/>
            </a:pPr>
            <a:r>
              <a:rPr lang="en-US" sz="1300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se diseña.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0C0D1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PRAXIA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41732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B6E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·   PUNTO DE ENTRADA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0911535" y="6400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B6E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08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48640" y="571500"/>
            <a:ext cx="82296" cy="82296"/>
          </a:xfrm>
          <a:prstGeom prst="rect">
            <a:avLst/>
          </a:prstGeom>
          <a:solidFill>
            <a:srgbClr val="5B4BFF"/>
          </a:solidFill>
          <a:ln w="12700">
            <a:solidFill>
              <a:srgbClr val="5B4B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502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5B4B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07 — PUNTO DE ENTRADA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914400"/>
            <a:ext cx="5760720" cy="112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Empieza midiendo: Adoption Gap Diagnostic.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223008"/>
            <a:ext cx="5669280" cy="184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0C0D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3 a 5 semanas medimos la distancia entre lo que tu institución ya desplegó (core, canales, IA o integración) y lo que realmente se usa, y construimos el business case con tu propia evidencia.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4206240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4206240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82112" y="4206240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91840" y="4206240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5010912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4901184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82112" y="5010912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4901184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3232" y="4315968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B6E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DURACIÓN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713232" y="4535424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3–5 semanas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474720" y="4206240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0" y="4206240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08192" y="4206240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7920" y="4206240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74720" y="5010912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4901184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08192" y="5010912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17920" y="4901184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639312" y="4315968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B6E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QUÉ MEDIMOS</a:t>
            </a:r>
            <a:endParaRPr lang="en-US" sz="800" dirty="0"/>
          </a:p>
        </p:txBody>
      </p:sp>
      <p:sp>
        <p:nvSpPr>
          <p:cNvPr id="28" name="Text 26"/>
          <p:cNvSpPr txBox="1"/>
          <p:nvPr/>
        </p:nvSpPr>
        <p:spPr>
          <a:xfrm>
            <a:off x="3639312" y="4535424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 capas × 5 niveles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548640" y="5148072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5148072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182112" y="5148072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91840" y="5148072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48640" y="5952744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8640" y="5843016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182112" y="5952744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91840" y="5843016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13232" y="5257800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B6E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EVIDENCIA</a:t>
            </a:r>
            <a:endParaRPr lang="en-US" sz="800" dirty="0"/>
          </a:p>
        </p:txBody>
      </p:sp>
      <p:sp>
        <p:nvSpPr>
          <p:cNvPr id="38" name="Text 36"/>
          <p:cNvSpPr txBox="1"/>
          <p:nvPr/>
        </p:nvSpPr>
        <p:spPr>
          <a:xfrm>
            <a:off x="713232" y="5477256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Cualitativa y cuantitativa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3474720" y="5148072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474720" y="5148072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108192" y="5148072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217920" y="5148072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474720" y="5952744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474720" y="5843016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108192" y="5952744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217920" y="5843016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3639312" y="5257800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B6E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INVERSIÓN</a:t>
            </a:r>
            <a:endParaRPr lang="en-US" sz="800" dirty="0"/>
          </a:p>
        </p:txBody>
      </p:sp>
      <p:sp>
        <p:nvSpPr>
          <p:cNvPr id="48" name="Text 46"/>
          <p:cNvSpPr txBox="1"/>
          <p:nvPr/>
        </p:nvSpPr>
        <p:spPr>
          <a:xfrm>
            <a:off x="3639312" y="5477256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Según alcance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>
            <a:off x="6812280" y="914400"/>
            <a:ext cx="4830775" cy="4983480"/>
          </a:xfrm>
          <a:prstGeom prst="rect">
            <a:avLst/>
          </a:prstGeom>
          <a:solidFill>
            <a:srgbClr val="0C0D12"/>
          </a:solidFill>
          <a:ln/>
        </p:spPr>
      </p:sp>
      <p:sp>
        <p:nvSpPr>
          <p:cNvPr id="50" name="Shape 48"/>
          <p:cNvSpPr/>
          <p:nvPr/>
        </p:nvSpPr>
        <p:spPr>
          <a:xfrm>
            <a:off x="6739128" y="841248"/>
            <a:ext cx="146304" cy="0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739128" y="841248"/>
            <a:ext cx="0" cy="146304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1569903" y="841248"/>
            <a:ext cx="146304" cy="0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1716207" y="841248"/>
            <a:ext cx="0" cy="146304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739128" y="5971032"/>
            <a:ext cx="146304" cy="0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739128" y="5824728"/>
            <a:ext cx="0" cy="146304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1569903" y="5971032"/>
            <a:ext cx="146304" cy="0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1716207" y="5824728"/>
            <a:ext cx="0" cy="146304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7178040" y="1280160"/>
            <a:ext cx="40992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B5CF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LO QUE RECIBES</a:t>
            </a:r>
            <a:endParaRPr lang="en-US" sz="900" dirty="0"/>
          </a:p>
        </p:txBody>
      </p:sp>
      <p:sp>
        <p:nvSpPr>
          <p:cNvPr id="59" name="Text 57"/>
          <p:cNvSpPr txBox="1"/>
          <p:nvPr/>
        </p:nvSpPr>
        <p:spPr>
          <a:xfrm>
            <a:off x="7178040" y="18013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01</a:t>
            </a:r>
            <a:endParaRPr lang="en-US" sz="1000" dirty="0"/>
          </a:p>
        </p:txBody>
      </p:sp>
      <p:sp>
        <p:nvSpPr>
          <p:cNvPr id="60" name="Text 58"/>
          <p:cNvSpPr txBox="1"/>
          <p:nvPr/>
        </p:nvSpPr>
        <p:spPr>
          <a:xfrm>
            <a:off x="7726680" y="1783080"/>
            <a:ext cx="35506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5F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Hallazgos en las cinco capas, del comité a sucursal y atención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7178040" y="2478024"/>
            <a:ext cx="4099255" cy="0"/>
          </a:xfrm>
          <a:prstGeom prst="line">
            <a:avLst/>
          </a:prstGeom>
          <a:noFill/>
          <a:ln w="9525">
            <a:solidFill>
              <a:srgbClr val="2A2B33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7178040" y="2569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02</a:t>
            </a:r>
            <a:endParaRPr lang="en-US" sz="1000" dirty="0"/>
          </a:p>
        </p:txBody>
      </p:sp>
      <p:sp>
        <p:nvSpPr>
          <p:cNvPr id="63" name="Text 61"/>
          <p:cNvSpPr txBox="1"/>
          <p:nvPr/>
        </p:nvSpPr>
        <p:spPr>
          <a:xfrm>
            <a:off x="7726680" y="2551176"/>
            <a:ext cx="35506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5F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Baseline de adopción por canal y función</a:t>
            </a:r>
            <a:endParaRPr lang="en-US" sz="1400" dirty="0"/>
          </a:p>
        </p:txBody>
      </p:sp>
      <p:sp>
        <p:nvSpPr>
          <p:cNvPr id="64" name="Shape 62"/>
          <p:cNvSpPr/>
          <p:nvPr/>
        </p:nvSpPr>
        <p:spPr>
          <a:xfrm>
            <a:off x="7178040" y="3246120"/>
            <a:ext cx="4099255" cy="0"/>
          </a:xfrm>
          <a:prstGeom prst="line">
            <a:avLst/>
          </a:prstGeom>
          <a:noFill/>
          <a:ln w="9525">
            <a:solidFill>
              <a:srgbClr val="2A2B33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7178040" y="33375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03</a:t>
            </a:r>
            <a:endParaRPr lang="en-US" sz="1000" dirty="0"/>
          </a:p>
        </p:txBody>
      </p:sp>
      <p:sp>
        <p:nvSpPr>
          <p:cNvPr id="66" name="Text 64"/>
          <p:cNvSpPr txBox="1"/>
          <p:nvPr/>
        </p:nvSpPr>
        <p:spPr>
          <a:xfrm>
            <a:off x="7726680" y="3319272"/>
            <a:ext cx="35506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5F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Costo de la brecha y business case del cambio</a:t>
            </a:r>
            <a:endParaRPr lang="en-US" sz="1400" dirty="0"/>
          </a:p>
        </p:txBody>
      </p:sp>
      <p:sp>
        <p:nvSpPr>
          <p:cNvPr id="67" name="Shape 65"/>
          <p:cNvSpPr/>
          <p:nvPr/>
        </p:nvSpPr>
        <p:spPr>
          <a:xfrm>
            <a:off x="7178040" y="4014216"/>
            <a:ext cx="4099255" cy="0"/>
          </a:xfrm>
          <a:prstGeom prst="line">
            <a:avLst/>
          </a:prstGeom>
          <a:noFill/>
          <a:ln w="9525">
            <a:solidFill>
              <a:srgbClr val="2A2B33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7178040" y="410565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04</a:t>
            </a:r>
            <a:endParaRPr lang="en-US" sz="1000" dirty="0"/>
          </a:p>
        </p:txBody>
      </p:sp>
      <p:sp>
        <p:nvSpPr>
          <p:cNvPr id="69" name="Text 67"/>
          <p:cNvSpPr txBox="1"/>
          <p:nvPr/>
        </p:nvSpPr>
        <p:spPr>
          <a:xfrm>
            <a:off x="7726680" y="4087368"/>
            <a:ext cx="35506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5F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Prioridades por impacto, esfuerzo y riesgo operacional</a:t>
            </a:r>
            <a:endParaRPr lang="en-US" sz="1400" dirty="0"/>
          </a:p>
        </p:txBody>
      </p:sp>
      <p:sp>
        <p:nvSpPr>
          <p:cNvPr id="70" name="Shape 68"/>
          <p:cNvSpPr/>
          <p:nvPr/>
        </p:nvSpPr>
        <p:spPr>
          <a:xfrm>
            <a:off x="7178040" y="4782312"/>
            <a:ext cx="4099255" cy="0"/>
          </a:xfrm>
          <a:prstGeom prst="line">
            <a:avLst/>
          </a:prstGeom>
          <a:noFill/>
          <a:ln w="9525">
            <a:solidFill>
              <a:srgbClr val="2A2B33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7178040" y="48737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05</a:t>
            </a:r>
            <a:endParaRPr lang="en-US" sz="1000" dirty="0"/>
          </a:p>
        </p:txBody>
      </p:sp>
      <p:sp>
        <p:nvSpPr>
          <p:cNvPr id="72" name="Text 70"/>
          <p:cNvSpPr txBox="1"/>
          <p:nvPr/>
        </p:nvSpPr>
        <p:spPr>
          <a:xfrm>
            <a:off x="7726680" y="4855464"/>
            <a:ext cx="35506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5F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Roadmap de 90 y 180 días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0C0D1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PRAXIA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41732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B6E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·   SERVICIOS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0911535" y="6400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B6E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09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48640" y="571500"/>
            <a:ext cx="82296" cy="82296"/>
          </a:xfrm>
          <a:prstGeom prst="rect">
            <a:avLst/>
          </a:prstGeom>
          <a:solidFill>
            <a:srgbClr val="5B4BFF"/>
          </a:solidFill>
          <a:ln w="12700">
            <a:solidFill>
              <a:srgbClr val="5B4B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502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5B4B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08 — CÓMO SEGUIMOS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91440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Del diagnóstico a la adopción con evidencia.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11094415" cy="0"/>
          </a:xfrm>
          <a:prstGeom prst="line">
            <a:avLst/>
          </a:prstGeom>
          <a:noFill/>
          <a:ln w="9525">
            <a:solidFill>
              <a:srgbClr val="D9D4C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3134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4B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276856"/>
            <a:ext cx="4023360" cy="770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Adoption Gap Diagnostic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5440680" y="2295144"/>
            <a:ext cx="4480560" cy="770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C0D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Baseline por canal y función, costo de la brecha y business case. De 3 a 5 semanas.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0" y="2322576"/>
            <a:ext cx="1584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spc="200" kern="0" dirty="0">
                <a:solidFill>
                  <a:srgbClr val="E9663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PUNTO DE ENTRADA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48640" y="3120390"/>
            <a:ext cx="11094415" cy="0"/>
          </a:xfrm>
          <a:prstGeom prst="line">
            <a:avLst/>
          </a:prstGeom>
          <a:noFill/>
          <a:ln w="9525">
            <a:solidFill>
              <a:srgbClr val="D9D4C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28498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4B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3248406"/>
            <a:ext cx="4023360" cy="770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 Adoption Accelerator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5440680" y="3266694"/>
            <a:ext cx="4480560" cy="770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C0D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caso de uso de IA con dueño, controles y uso real medido. De 6 a 12 semanas.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091940"/>
            <a:ext cx="11094415" cy="0"/>
          </a:xfrm>
          <a:prstGeom prst="line">
            <a:avLst/>
          </a:prstGeom>
          <a:noFill/>
          <a:ln w="9525">
            <a:solidFill>
              <a:srgbClr val="D9D4C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42565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4B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03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4219956"/>
            <a:ext cx="4023360" cy="770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Transformation Adoption Program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5440680" y="4238244"/>
            <a:ext cx="4480560" cy="770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C0D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bancario, integración o conversión a banco, con medición por olas. De 3 a 6 meses.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5063490"/>
            <a:ext cx="11094415" cy="0"/>
          </a:xfrm>
          <a:prstGeom prst="line">
            <a:avLst/>
          </a:prstGeom>
          <a:noFill/>
          <a:ln w="9525">
            <a:solidFill>
              <a:srgbClr val="D9D4C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522808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4B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04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5191506"/>
            <a:ext cx="4023360" cy="770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Executive Advisory Retainer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5440680" y="5209794"/>
            <a:ext cx="4480560" cy="770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C0D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Gobernanza de la transformación con la dirección, riesgo y cumplimiento. Mensual.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F5F2E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PRAXIA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41732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·   QUIÉN ESTÁ DETRÁS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0911535" y="6400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48640" y="571500"/>
            <a:ext cx="82296" cy="82296"/>
          </a:xfrm>
          <a:prstGeom prst="rect">
            <a:avLst/>
          </a:prstGeom>
          <a:solidFill>
            <a:srgbClr val="5B4BFF"/>
          </a:solidFill>
          <a:ln w="12700">
            <a:solidFill>
              <a:srgbClr val="5B4B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502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B5CF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09 — QUIÉN ESTÁ DETRÁS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2286000" cy="2286000"/>
          </a:xfrm>
          <a:prstGeom prst="ellipse">
            <a:avLst/>
          </a:prstGeom>
          <a:solidFill>
            <a:srgbClr val="15161D"/>
          </a:solidFill>
          <a:ln w="12700">
            <a:solidFill>
              <a:srgbClr val="A7AAB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41732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5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FC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1371600"/>
            <a:ext cx="82140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5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Francisco Cardona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2084832"/>
            <a:ext cx="8214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8B5CF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FOUNDER &amp; PRINCIPAL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2606040"/>
            <a:ext cx="7939735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5F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PRAXIA es una firma senior-led y basada en evidencia. Francisco trabaja de par a par con la dirección, desde el P&amp;L y el riesgo, para que la estrategia se convierta en decisiones, comportamientos e indicadores que cambian.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429000" y="4306824"/>
            <a:ext cx="73152" cy="73152"/>
          </a:xfrm>
          <a:prstGeom prst="rect">
            <a:avLst/>
          </a:prstGeom>
          <a:solidFill>
            <a:srgbClr val="5B4B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630168" y="4233672"/>
            <a:ext cx="37412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A7AA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Liderazgo en un grupo industrial multinacional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673188" y="4306824"/>
            <a:ext cx="73152" cy="73152"/>
          </a:xfrm>
          <a:prstGeom prst="rect">
            <a:avLst/>
          </a:prstGeom>
          <a:solidFill>
            <a:srgbClr val="5B4B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874356" y="4233672"/>
            <a:ext cx="37412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A7AA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Talento, aprendizaje, desarrollo organizacional y people analytics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429000" y="4873752"/>
            <a:ext cx="73152" cy="73152"/>
          </a:xfrm>
          <a:prstGeom prst="rect">
            <a:avLst/>
          </a:prstGeom>
          <a:solidFill>
            <a:srgbClr val="5B4B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630168" y="4800600"/>
            <a:ext cx="37412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A7AA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Exposición internacional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673188" y="4873752"/>
            <a:ext cx="73152" cy="73152"/>
          </a:xfrm>
          <a:prstGeom prst="rect">
            <a:avLst/>
          </a:prstGeom>
          <a:solidFill>
            <a:srgbClr val="5B4BF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874356" y="4800600"/>
            <a:ext cx="37412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A7AA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Proyectos de transformación y productividad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F5F2E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PRAXIA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41732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·   EMPECEMOS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0911535" y="6400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48640" y="571500"/>
            <a:ext cx="82296" cy="82296"/>
          </a:xfrm>
          <a:prstGeom prst="rect">
            <a:avLst/>
          </a:prstGeom>
          <a:solidFill>
            <a:srgbClr val="5B4BFF"/>
          </a:solidFill>
          <a:ln w="12700">
            <a:solidFill>
              <a:srgbClr val="5B4B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502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B5CF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10 — EMPECEMOS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35024"/>
            <a:ext cx="960120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5400" b="1" dirty="0">
                <a:solidFill>
                  <a:srgbClr val="F5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Mide tu </a:t>
            </a:r>
            <a:pPr indent="0" marL="0">
              <a:lnSpc>
                <a:spcPct val="95000"/>
              </a:lnSpc>
              <a:buNone/>
            </a:pPr>
            <a:r>
              <a:rPr lang="en-US" sz="5400" b="1" dirty="0">
                <a:solidFill>
                  <a:srgbClr val="E966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Adoption Gap</a:t>
            </a:r>
            <a:pPr indent="0" marL="0">
              <a:lnSpc>
                <a:spcPct val="95000"/>
              </a:lnSpc>
              <a:buNone/>
            </a:pPr>
            <a:r>
              <a:rPr lang="en-US" sz="5400" b="1" dirty="0">
                <a:solidFill>
                  <a:srgbClr val="F5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.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404872"/>
            <a:ext cx="78638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A7AA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diagnóstico de 3 a 5 semanas te dice dónde tu institución no está adoptando lo que ya invirtió y qué hacer al respecto, con evidencia que tu comité puede revisar.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3703320"/>
            <a:ext cx="109728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3703320"/>
            <a:ext cx="0" cy="109728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54170" y="3703320"/>
            <a:ext cx="109728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63898" y="3703320"/>
            <a:ext cx="0" cy="109728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5029200"/>
            <a:ext cx="109728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4919472"/>
            <a:ext cx="0" cy="109728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954170" y="5029200"/>
            <a:ext cx="109728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063898" y="4919472"/>
            <a:ext cx="0" cy="109728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9808" y="38862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01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3849624"/>
            <a:ext cx="26922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Conversación ejecutiva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4206240"/>
            <a:ext cx="26922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A7AA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 minutos sobre la transformación en curso, la regulación y el valor en juego.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338218" y="3703320"/>
            <a:ext cx="109728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38218" y="3703320"/>
            <a:ext cx="0" cy="109728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43749" y="3703320"/>
            <a:ext cx="109728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853477" y="3703320"/>
            <a:ext cx="0" cy="109728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38218" y="5029200"/>
            <a:ext cx="109728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38218" y="4919472"/>
            <a:ext cx="0" cy="109728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43749" y="5029200"/>
            <a:ext cx="109728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53477" y="4919472"/>
            <a:ext cx="0" cy="109728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539386" y="38862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02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4978298" y="3849624"/>
            <a:ext cx="26922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Hipótesis de valor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4978298" y="4206240"/>
            <a:ext cx="26922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A7AA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Resumimos en una página la brecha, el valor en juego y el siguiente paso.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8127797" y="3703320"/>
            <a:ext cx="109728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27797" y="3703320"/>
            <a:ext cx="0" cy="109728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1533327" y="3703320"/>
            <a:ext cx="109728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1643055" y="3703320"/>
            <a:ext cx="0" cy="109728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127797" y="5029200"/>
            <a:ext cx="109728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127797" y="4919472"/>
            <a:ext cx="0" cy="109728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533327" y="5029200"/>
            <a:ext cx="109728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1643055" y="4919472"/>
            <a:ext cx="0" cy="109728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328965" y="38862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03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8767877" y="3849624"/>
            <a:ext cx="26922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Diagnóstico</a:t>
            </a:r>
            <a:endParaRPr lang="en-US" sz="1500" dirty="0"/>
          </a:p>
        </p:txBody>
      </p:sp>
      <p:sp>
        <p:nvSpPr>
          <p:cNvPr id="41" name="Text 39"/>
          <p:cNvSpPr txBox="1"/>
          <p:nvPr/>
        </p:nvSpPr>
        <p:spPr>
          <a:xfrm>
            <a:off x="8767877" y="4206240"/>
            <a:ext cx="26922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A7AA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Alcance, entregables e inversión según alcance, listos para decidir.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548640" y="5394960"/>
            <a:ext cx="3383280" cy="932688"/>
          </a:xfrm>
          <a:prstGeom prst="rect">
            <a:avLst/>
          </a:prstGeom>
          <a:solidFill>
            <a:srgbClr val="E9663C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777240" y="539496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Agenda tu diagnóstico →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4251960" y="5394960"/>
            <a:ext cx="6019495" cy="566928"/>
          </a:xfrm>
          <a:prstGeom prst="rect">
            <a:avLst/>
          </a:prstGeom>
          <a:ln w="12700">
            <a:solidFill>
              <a:srgbClr val="E9663C"/>
            </a:solidFill>
            <a:prstDash val="dash"/>
          </a:ln>
        </p:spPr>
      </p:sp>
      <p:sp>
        <p:nvSpPr>
          <p:cNvPr id="45" name="Text 43"/>
          <p:cNvSpPr txBox="1"/>
          <p:nvPr/>
        </p:nvSpPr>
        <p:spPr>
          <a:xfrm>
            <a:off x="4480560" y="5394960"/>
            <a:ext cx="5562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9663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[CANAL DE CONTACTO — COMPLETAR]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F5F2E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PRAXIA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41732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·   GRACIAS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0911535" y="6400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12</a:t>
            </a:r>
            <a:endParaRPr lang="en-US" sz="800" dirty="0"/>
          </a:p>
        </p:txBody>
      </p:sp>
      <p:pic>
        <p:nvPicPr>
          <p:cNvPr id="5" name="Image 0" descr="Praxia (logo provisional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2790" y="2148840"/>
            <a:ext cx="3206115" cy="7772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3246120"/>
            <a:ext cx="94484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Turn </a:t>
            </a:r>
            <a:pPr algn="ctr" indent="0" marL="0">
              <a:buNone/>
            </a:pPr>
            <a:r>
              <a:rPr lang="en-US" sz="3000" b="1" dirty="0">
                <a:solidFill>
                  <a:srgbClr val="5B4B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strategy</a:t>
            </a:r>
            <a:pPr algn="ctr" indent="0" marL="0">
              <a:buNone/>
            </a:pPr>
            <a:r>
              <a:rPr lang="en-US" sz="3000" b="1" dirty="0">
                <a:solidFill>
                  <a:srgbClr val="F5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into </a:t>
            </a:r>
            <a:pPr algn="ctr" indent="0" marL="0">
              <a:buNone/>
            </a:pPr>
            <a:r>
              <a:rPr lang="en-US" sz="3000" b="1" dirty="0">
                <a:solidFill>
                  <a:srgbClr val="E966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adoption</a:t>
            </a:r>
            <a:pPr algn="ctr" indent="0" marL="0">
              <a:buNone/>
            </a:pPr>
            <a:r>
              <a:rPr lang="en-US" sz="3000" b="1" dirty="0">
                <a:solidFill>
                  <a:srgbClr val="F5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.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4069080"/>
            <a:ext cx="94484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spc="600" kern="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HUMAN &amp; AI TRANSFORMATION ADVISORY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371600" y="4800600"/>
            <a:ext cx="9448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E9663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[CANAL DE CONTACTO — COMPLETAR]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pace Grotes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PRAXIA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PRAXIA · Servicios financieros y fintech</dc:title>
  <dc:subject>Preparado para · Servicios financieros y fintech</dc:subject>
  <dc:creator>PRAXIA</dc:creator>
  <cp:lastModifiedBy>PRAXIA</cp:lastModifiedBy>
  <cp:revision>1</cp:revision>
  <dcterms:created xsi:type="dcterms:W3CDTF">2026-10-09T17:47:51Z</dcterms:created>
  <dcterms:modified xsi:type="dcterms:W3CDTF">2026-10-09T17:47:51Z</dcterms:modified>
</cp:coreProperties>
</file>