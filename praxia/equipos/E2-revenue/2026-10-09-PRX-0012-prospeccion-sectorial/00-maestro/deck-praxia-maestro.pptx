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CONFIDENCIAL</a:t>
            </a:r>
            <a:endParaRPr lang="en-US" sz="800" dirty="0"/>
          </a:p>
        </p:txBody>
      </p:sp>
      <p:pic>
        <p:nvPicPr>
          <p:cNvPr id="4" name="Image 0" descr="Praxia (logo provisional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502920"/>
            <a:ext cx="1961388" cy="4754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0972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HUMAN &amp; AI TRANSFORMATION ADVISORY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48640" y="212598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057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PRESENTACIÓN EJECUTIVA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468880"/>
            <a:ext cx="9692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 la </a:t>
            </a:r>
            <a:pPr indent="0" marL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5B4B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estrategia</a:t>
            </a:r>
            <a:pPr indent="0" marL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 la </a:t>
            </a:r>
            <a:pPr indent="0" marL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adopción</a:t>
            </a:r>
            <a:pPr indent="0" marL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5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7548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Cerramos la distancia entre la transformación que tu organización compra y el cambio que realmente adopta.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806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PREPARADO PARA  ·  </a:t>
            </a:r>
            <a:pPr indent="0" marL="0">
              <a:buNone/>
            </a:pPr>
            <a:r>
              <a:rPr lang="en-US" sz="1000" b="1" spc="3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ALTA DIRECCIÓN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985455" y="5806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OCTUBRE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EL MOMENTO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 — EL MOMENTO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99669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Cada empresa tiene una estrategia para la IA. Casi ninguna tiene una organización lista para vivirla.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0292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tecnología está lista. El plan también. Lo que no se mueve es cómo la organización decide, trabaja y mide.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EL PROBLEMA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 — EL PROBLEMA REAL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</a:t>
            </a:r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Adoption Gap</a:t>
            </a:r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718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distancia medible entre lo que una organización declara, compra o despliega y lo que realmente se usa e incorpora a decisiones, comportamientos y resultados.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75120" y="5257800"/>
            <a:ext cx="4965192" cy="0"/>
          </a:xfrm>
          <a:prstGeom prst="line">
            <a:avLst/>
          </a:prstGeom>
          <a:noFill/>
          <a:ln w="12700">
            <a:solidFill>
              <a:srgbClr val="A7AA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86600" y="1417320"/>
            <a:ext cx="1417320" cy="3840480"/>
          </a:xfrm>
          <a:prstGeom prst="rect">
            <a:avLst/>
          </a:prstGeom>
          <a:solidFill>
            <a:srgbClr val="15161D"/>
          </a:solidFill>
          <a:ln w="9525">
            <a:solidFill>
              <a:srgbClr val="A7AA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64040" y="3611880"/>
            <a:ext cx="1417320" cy="1645920"/>
          </a:xfrm>
          <a:prstGeom prst="rect">
            <a:avLst/>
          </a:prstGeom>
          <a:solidFill>
            <a:srgbClr val="F5F2EC"/>
          </a:solidFill>
          <a:ln/>
        </p:spPr>
      </p:sp>
      <p:sp>
        <p:nvSpPr>
          <p:cNvPr id="12" name="Shape 10"/>
          <p:cNvSpPr/>
          <p:nvPr/>
        </p:nvSpPr>
        <p:spPr>
          <a:xfrm>
            <a:off x="8503920" y="1417320"/>
            <a:ext cx="2377440" cy="0"/>
          </a:xfrm>
          <a:prstGeom prst="line">
            <a:avLst/>
          </a:prstGeom>
          <a:noFill/>
          <a:ln w="9525">
            <a:solidFill>
              <a:srgbClr val="A7AAB5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9464040" y="1417320"/>
            <a:ext cx="1417320" cy="2139696"/>
          </a:xfrm>
          <a:prstGeom prst="rect">
            <a:avLst/>
          </a:prstGeom>
          <a:ln w="15875">
            <a:solidFill>
              <a:srgbClr val="E9663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1045952" y="1417320"/>
            <a:ext cx="0" cy="2139696"/>
          </a:xfrm>
          <a:prstGeom prst="line">
            <a:avLst/>
          </a:prstGeom>
          <a:noFill/>
          <a:ln w="19050">
            <a:solidFill>
              <a:srgbClr val="E966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54512" y="1417320"/>
            <a:ext cx="91440" cy="0"/>
          </a:xfrm>
          <a:prstGeom prst="line">
            <a:avLst/>
          </a:prstGeom>
          <a:noFill/>
          <a:ln w="19050">
            <a:solidFill>
              <a:srgbClr val="E966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3557016"/>
            <a:ext cx="91440" cy="0"/>
          </a:xfrm>
          <a:prstGeom prst="line">
            <a:avLst/>
          </a:prstGeom>
          <a:noFill/>
          <a:ln w="19050">
            <a:solidFill>
              <a:srgbClr val="E966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55480" y="155448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 BRECHA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5394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LO COMPRADO Y DESPLEGADO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5394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LO REALMENTE ADOPTADO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7985455" y="60533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ESQUEMA CONCEPTUAL · NO A ESCALA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EL COSTO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 — EL COSTO DE LA BRECHA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brecha no es un tema blando. Se paga en valor que no llega.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3515258" cy="3429000"/>
          </a:xfrm>
          <a:prstGeom prst="rect">
            <a:avLst/>
          </a:prstGeom>
          <a:solidFill>
            <a:srgbClr val="15161D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17594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3898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17594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63898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2697480"/>
            <a:ext cx="2966618" cy="914400"/>
          </a:xfrm>
          <a:prstGeom prst="rect">
            <a:avLst/>
          </a:prstGeom>
          <a:ln w="9525">
            <a:solidFill>
              <a:srgbClr val="E966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" y="2761488"/>
            <a:ext cx="274716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[CIFRA PENDIENTE RES-01]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Organizaciones que capturan valor sustancial de su inversión en IA.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1206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FUENTE · [FUENTE Y FECHA PENDIENTES RES-01]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338218" y="2377440"/>
            <a:ext cx="3515258" cy="3429000"/>
          </a:xfrm>
          <a:prstGeom prst="rect">
            <a:avLst/>
          </a:prstGeom>
          <a:solidFill>
            <a:srgbClr val="15161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38218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38218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07173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53477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38218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38218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07173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53477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2538" y="2697480"/>
            <a:ext cx="2966618" cy="914400"/>
          </a:xfrm>
          <a:prstGeom prst="rect">
            <a:avLst/>
          </a:prstGeom>
          <a:ln w="9525">
            <a:solidFill>
              <a:srgbClr val="E9663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22266" y="2761488"/>
            <a:ext cx="274716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[CIFRA PENDIENTE RES-01]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612538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Probabilidad de no ver retorno cuando el enfoque es solo tecnológico.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4612538" y="51206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FUENTE · [FUENTE Y FECHA PENDIENTES RES-01]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127797" y="2377440"/>
            <a:ext cx="3515258" cy="3429000"/>
          </a:xfrm>
          <a:prstGeom prst="rect">
            <a:avLst/>
          </a:prstGeom>
          <a:solidFill>
            <a:srgbClr val="15161D"/>
          </a:solidFill>
          <a:ln/>
        </p:spPr>
      </p:sp>
      <p:sp>
        <p:nvSpPr>
          <p:cNvPr id="35" name="Shape 33"/>
          <p:cNvSpPr/>
          <p:nvPr/>
        </p:nvSpPr>
        <p:spPr>
          <a:xfrm>
            <a:off x="8127797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27797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96751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643055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27797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27797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496751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643055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02117" y="2697480"/>
            <a:ext cx="2966618" cy="914400"/>
          </a:xfrm>
          <a:prstGeom prst="rect">
            <a:avLst/>
          </a:prstGeom>
          <a:ln w="9525">
            <a:solidFill>
              <a:srgbClr val="E9663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511845" y="2761488"/>
            <a:ext cx="274716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[CIFRA PENDIENTE RES-01]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8402117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Peso de la gestión del cambio y la cultura en la agenda de la dirección de personas.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8402117" y="51206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FUENTE · [FUENTE Y FECHA PENDIENTES RES-01]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Comprar software o IA no equivale a adopción ni a retorno. Cada cifra se publica solo con fuente verificable y fecha.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QUÉ HACEMOS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 — QUÉ HACEMOS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5394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Convertimos la estrategia en comportamiento que se vive.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inversión en IA rinde cuando tu gente cambia cómo trabaja. Medimos esa brecha y la cerramos: conectamos la sala de juntas con las rutinas y decisiones de primera línea.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46520" y="914400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914400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96751" y="914400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43055" y="914400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2484120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2337816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96751" y="2484120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43055" y="2337816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20840" y="1143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1143000"/>
            <a:ext cx="4007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Diagnosticamos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360920" y="1554480"/>
            <a:ext cx="400781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Ubicamos dónde se rompe la adopción: decisiones, flujos de trabajo, liderazgo, datos y capacidad.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266700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2667000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96751" y="266700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643055" y="2667000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423672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4090416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96751" y="423672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643055" y="4090416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20840" y="2895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360920" y="2895600"/>
            <a:ext cx="4007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Diseñamos el sistema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7360920" y="3307080"/>
            <a:ext cx="400781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Tratamos la adopción como un problema de diseño: roles, operating model, incentivos, rituales y métricas.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46520" y="441960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46520" y="4419600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496751" y="441960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643055" y="4419600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46520" y="598932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5843016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96751" y="598932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643055" y="5843016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20840" y="4648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360920" y="4648200"/>
            <a:ext cx="4007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Medimos el cambio</a:t>
            </a:r>
            <a:endParaRPr lang="en-US" sz="1900" dirty="0"/>
          </a:p>
        </p:txBody>
      </p:sp>
      <p:sp>
        <p:nvSpPr>
          <p:cNvPr id="41" name="Text 39"/>
          <p:cNvSpPr txBox="1"/>
          <p:nvPr/>
        </p:nvSpPr>
        <p:spPr>
          <a:xfrm>
            <a:off x="7360920" y="5059680"/>
            <a:ext cx="400781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Gestionamos con indicadores de uso, comportamiento e impacto. Nunca con asistencia ni horas de formación.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POR QUÉ PRAXIA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 — POR QUÉ DISTINTO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Otros entregan el plan. Nosotros respondemos por la adopción.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31720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17594" y="233172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3898" y="2331720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580644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660136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17594" y="580644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63898" y="5660136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2624328"/>
            <a:ext cx="2600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FIRMAS DE ESTRATEGIA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10896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Recomiendan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16052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Entregan un diagnóstico brillante y un plan. Las personas quedan como un «workstream» más.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38218" y="233172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38218" y="2331720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07173" y="233172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53477" y="2331720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38218" y="580644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38218" y="5660136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07173" y="580644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53477" y="5660136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12538" y="2624328"/>
            <a:ext cx="2600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CONSULTORAS DE RH Y CAMBIO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612538" y="310896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Facilitan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4612538" y="416052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Talleres y comunicación con buena intención, sin un número que la dirección pueda gestionar.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27797" y="2331720"/>
            <a:ext cx="3515258" cy="3474720"/>
          </a:xfrm>
          <a:prstGeom prst="rect">
            <a:avLst/>
          </a:prstGeom>
          <a:solidFill>
            <a:srgbClr val="0C0D12"/>
          </a:solidFill>
          <a:ln/>
        </p:spPr>
      </p:sp>
      <p:sp>
        <p:nvSpPr>
          <p:cNvPr id="31" name="Shape 29"/>
          <p:cNvSpPr/>
          <p:nvPr/>
        </p:nvSpPr>
        <p:spPr>
          <a:xfrm>
            <a:off x="8054645" y="2258568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54645" y="225856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569903" y="2258568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716207" y="225856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54645" y="5879592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54645" y="573328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569903" y="5879592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716207" y="573328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pic>
        <p:nvPicPr>
          <p:cNvPr id="39" name="Image 0" descr="Símbolo Prax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2606040"/>
            <a:ext cx="411480" cy="274320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8402117" y="2624328"/>
            <a:ext cx="2600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8402117" y="310896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Asegura la adopción</a:t>
            </a:r>
            <a:endParaRPr lang="en-US" sz="2800" dirty="0"/>
          </a:p>
        </p:txBody>
      </p:sp>
      <p:sp>
        <p:nvSpPr>
          <p:cNvPr id="42" name="Text 39"/>
          <p:cNvSpPr txBox="1"/>
          <p:nvPr/>
        </p:nvSpPr>
        <p:spPr>
          <a:xfrm>
            <a:off x="8402117" y="416052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Mide, mueve y responde por el resultado: adopción observable en decisiones, comportamientos e indicadores del negocio.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MÉTODO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 — CÓMO TRABAJAMOS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Adoption System: cuatro etapas, cuatro gates.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91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sistema repetible y medible. Cada etapa cierra con un gate que aprueba el sponsor.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1094415" cy="0"/>
          </a:xfrm>
          <a:prstGeom prst="line">
            <a:avLst/>
          </a:prstGeom>
          <a:noFill/>
          <a:ln w="9525">
            <a:solidFill>
              <a:srgbClr val="0C0D1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542032"/>
            <a:ext cx="128016" cy="128016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9260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 · SENSE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6440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Diagnosticar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94760"/>
            <a:ext cx="2476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 de negocio, sponsor, baseline y costo de no actuar. Dónde se rompe la adopción.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06776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16504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06776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16504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" y="5212080"/>
            <a:ext cx="223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G0 · BUSINESS CASE APROBADO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90824" y="2542032"/>
            <a:ext cx="128016" cy="128016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390824" y="29260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 · ALIGN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390824" y="326440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Alinear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3390824" y="3794760"/>
            <a:ext cx="2476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Resultados, cambios requeridos, roles, operating model, métricas y roadmap en una tesis de cambio.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90824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90824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48960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58688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90824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90824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48960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58688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555416" y="5212080"/>
            <a:ext cx="223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G1 · TESIS Y ROADMAP APROBADOS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233008" y="2542032"/>
            <a:ext cx="128016" cy="128016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33008" y="29260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 · ADOPT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233008" y="326440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Adoptar</a:t>
            </a:r>
            <a:endParaRPr lang="en-US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6233008" y="3794760"/>
            <a:ext cx="2476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Pilotos, habilitación, liderazgo, mecanismos de refuerzo y flujos de trabajo humano-IA.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33008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33008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91143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00871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33008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33008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91143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00871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397600" y="5212080"/>
            <a:ext cx="223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G2 · KPIS DE ADOPCIÓN POR OLA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075191" y="2542032"/>
            <a:ext cx="128016" cy="128016"/>
          </a:xfrm>
          <a:prstGeom prst="rect">
            <a:avLst/>
          </a:prstGeom>
          <a:solidFill>
            <a:srgbClr val="E9663C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075191" y="29260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 · SUSTAIN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9075191" y="326440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Sostener</a:t>
            </a:r>
            <a:endParaRPr lang="en-US" sz="2400" dirty="0"/>
          </a:p>
        </p:txBody>
      </p:sp>
      <p:sp>
        <p:nvSpPr>
          <p:cNvPr id="52" name="Text 50"/>
          <p:cNvSpPr txBox="1"/>
          <p:nvPr/>
        </p:nvSpPr>
        <p:spPr>
          <a:xfrm>
            <a:off x="9075191" y="3794760"/>
            <a:ext cx="2476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Evidencia de beneficios, iteración y transferencia del método al equipo del cliente.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9075191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075191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533327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643055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075191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075191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33327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43055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239783" y="5212080"/>
            <a:ext cx="223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G3 · RE-MEDICIÓN PERIÓDICA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estrategia se compra. La </a:t>
            </a:r>
            <a:pPr indent="0" marL="0">
              <a:buNone/>
            </a:pPr>
            <a:r>
              <a:rPr lang="en-US" sz="1300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adopción</a:t>
            </a:r>
            <a:pPr indent="0" marL="0">
              <a:buNone/>
            </a:pPr>
            <a:r>
              <a:rPr lang="en-US" sz="1300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se diseña.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PUNTO DE ENTRADA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07 — PUNTO DE ENTRADA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Empieza midiendo: Adoption Gap Diagnostic.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2316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3 a 5 semanas medimos la distancia entre tu transformación declarada y su adopción real, y construimos el business case del cambio con evidencia de tu propia organización.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20624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82112" y="420624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420624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01091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901184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501091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4901184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31596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DURACIÓN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4535424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3–5 semanas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474720" y="420624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420624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08192" y="420624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420624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501091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4901184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08192" y="501091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4901184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39312" y="431596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QUÉ MEDIMOS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3639312" y="4535424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 capas × 5 niveles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514807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148072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82112" y="514807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5148072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952744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5843016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82112" y="5952744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91840" y="5843016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3232" y="525780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EVIDENCIA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5477256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Cualitativa y cuantitativa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3474720" y="514807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74720" y="5148072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08192" y="514807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0" y="5148072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74720" y="5952744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74720" y="5843016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08192" y="5952744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17920" y="5843016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639312" y="525780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INVERSIÓN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3639312" y="5477256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Según alcance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812280" y="914400"/>
            <a:ext cx="4830775" cy="4983480"/>
          </a:xfrm>
          <a:prstGeom prst="rect">
            <a:avLst/>
          </a:prstGeom>
          <a:solidFill>
            <a:srgbClr val="0C0D12"/>
          </a:solidFill>
          <a:ln/>
        </p:spPr>
      </p:sp>
      <p:sp>
        <p:nvSpPr>
          <p:cNvPr id="50" name="Shape 48"/>
          <p:cNvSpPr/>
          <p:nvPr/>
        </p:nvSpPr>
        <p:spPr>
          <a:xfrm>
            <a:off x="6739128" y="841248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39128" y="84124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569903" y="841248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716207" y="84124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39128" y="5971032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39128" y="582472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569903" y="5971032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716207" y="582472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178040" y="1280160"/>
            <a:ext cx="40992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LO QUE RECIBES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7178040" y="18013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7726680" y="1783080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Hallazgos en las cinco capas de la Adoption Architecture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178040" y="2478024"/>
            <a:ext cx="4099255" cy="0"/>
          </a:xfrm>
          <a:prstGeom prst="line">
            <a:avLst/>
          </a:prstGeom>
          <a:noFill/>
          <a:ln w="9525">
            <a:solidFill>
              <a:srgbClr val="2A2B33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178040" y="2569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7726680" y="2551176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de adopción en comportamiento e impacto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7178040" y="3246120"/>
            <a:ext cx="4099255" cy="0"/>
          </a:xfrm>
          <a:prstGeom prst="line">
            <a:avLst/>
          </a:prstGeom>
          <a:noFill/>
          <a:ln w="9525">
            <a:solidFill>
              <a:srgbClr val="2A2B33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178040" y="3337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7726680" y="3319272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Costo de la brecha y business case del cambio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7178040" y="4014216"/>
            <a:ext cx="4099255" cy="0"/>
          </a:xfrm>
          <a:prstGeom prst="line">
            <a:avLst/>
          </a:prstGeom>
          <a:noFill/>
          <a:ln w="9525">
            <a:solidFill>
              <a:srgbClr val="2A2B33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178040" y="41056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7726680" y="4087368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Prioridades por impacto y esfuerzo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7178040" y="4782312"/>
            <a:ext cx="4099255" cy="0"/>
          </a:xfrm>
          <a:prstGeom prst="line">
            <a:avLst/>
          </a:prstGeom>
          <a:noFill/>
          <a:ln w="9525">
            <a:solidFill>
              <a:srgbClr val="2A2B33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178040" y="4873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7726680" y="4855464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de 90 y 180 días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SERVICIOS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 — CÓMO SEGUIMOS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 diagnóstico a la adopción sostenida.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094415" cy="0"/>
          </a:xfrm>
          <a:prstGeom prst="line">
            <a:avLst/>
          </a:prstGeom>
          <a:noFill/>
          <a:ln w="9525">
            <a:solidFill>
              <a:srgbClr val="D9D4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3134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276856"/>
            <a:ext cx="4023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Adoption Gap Diagnostic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2295144"/>
            <a:ext cx="4480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Diagnóstico ejecutivo, baseline, oportunidades y business case. De 3 a 5 semanas.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0" y="2322576"/>
            <a:ext cx="1584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PUNTO DE ENTRADA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11094415" cy="0"/>
          </a:xfrm>
          <a:prstGeom prst="line">
            <a:avLst/>
          </a:prstGeom>
          <a:noFill/>
          <a:ln w="9525">
            <a:solidFill>
              <a:srgbClr val="D9D4C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090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054096"/>
            <a:ext cx="4023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Strategy-to-Adoption Sprint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40680" y="3072384"/>
            <a:ext cx="4480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Diseño y activación de una o dos prioridades estratégicas. De 6 a 10 semanas.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11094415" cy="0"/>
          </a:xfrm>
          <a:prstGeom prst="line">
            <a:avLst/>
          </a:prstGeom>
          <a:noFill/>
          <a:ln w="9525">
            <a:solidFill>
              <a:srgbClr val="D9D4C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8679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831336"/>
            <a:ext cx="4023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Adoption Accelerator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3849624"/>
            <a:ext cx="4480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de uso priorizado, piloto por función y medición de uso real. De 6 a 12 semanas.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480560"/>
            <a:ext cx="11094415" cy="0"/>
          </a:xfrm>
          <a:prstGeom prst="line">
            <a:avLst/>
          </a:prstGeom>
          <a:noFill/>
          <a:ln w="9525">
            <a:solidFill>
              <a:srgbClr val="D9D4C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451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608576"/>
            <a:ext cx="4023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Transformation Adoption Program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5440680" y="4626864"/>
            <a:ext cx="4480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Intervención transversal con medición por olas. De 3 a 6 meses.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11094415" cy="0"/>
          </a:xfrm>
          <a:prstGeom prst="line">
            <a:avLst/>
          </a:prstGeom>
          <a:noFill/>
          <a:ln w="9525">
            <a:solidFill>
              <a:srgbClr val="D9D4C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5422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5385816"/>
            <a:ext cx="4023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Executive Advisory Retainer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440680" y="5404104"/>
            <a:ext cx="4480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Gobernanza, acompañamiento a la ejecución y seguimiento mensual con la dirección.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QUIÉN ESTÁ DETRÁS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09 — QUIÉN ESTÁ DETRÁS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2286000" cy="2286000"/>
          </a:xfrm>
          <a:prstGeom prst="ellipse">
            <a:avLst/>
          </a:prstGeom>
          <a:solidFill>
            <a:srgbClr val="15161D"/>
          </a:solidFill>
          <a:ln w="12700">
            <a:solidFill>
              <a:srgbClr val="A7AAB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4173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FC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371600"/>
            <a:ext cx="8214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Francisco Cardona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084832"/>
            <a:ext cx="8214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FOUNDER &amp; PRINCIPAL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606040"/>
            <a:ext cx="793973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PRAXIA es una firma senior-led y basada en evidencia. Francisco trabaja de par a par con la dirección, desde el P&amp;L y el riesgo, para que la estrategia se convierta en decisiones, comportamientos e indicadores que cambian.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29000" y="4919472"/>
            <a:ext cx="73152" cy="73152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30168" y="4846320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Liderazgo en un grupo industrial multinacional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73188" y="4919472"/>
            <a:ext cx="73152" cy="73152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74356" y="4846320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Talento, aprendizaje, desarrollo organizacional y people analytics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29000" y="5486400"/>
            <a:ext cx="73152" cy="73152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30168" y="5413248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Exposición internacional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73188" y="5486400"/>
            <a:ext cx="73152" cy="73152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74356" y="5413248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Proyectos de transformación y productividad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EMPECEMOS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 — EMPECEMOS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60120"/>
            <a:ext cx="9601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Mide tu </a:t>
            </a:r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Adoption Gap</a:t>
            </a:r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14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diagnóstico de 3 a 5 semanas te dice dónde tu organización no está adoptando y qué hacer al respecto. Es el punto de partida de menor riesgo.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54170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3898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54170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63898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3886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849624"/>
            <a:ext cx="2692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Conversación ejecutiva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20624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 minutos para entender la transformación en curso y el valor en juego.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38218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38218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43749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53477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38218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38218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43749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53477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39386" y="3886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978298" y="3849624"/>
            <a:ext cx="2692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Hipótesis de valor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978298" y="420624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Resumimos en una página la brecha, el valor en juego y el siguiente paso.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127797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27797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533327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643055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27797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27797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533327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643055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328965" y="3886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767877" y="3849624"/>
            <a:ext cx="2692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Diagnóstico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8767877" y="420624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Alcance, entregables e inversión según alcance, listos para decidir.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48640" y="5394960"/>
            <a:ext cx="3383280" cy="566928"/>
          </a:xfrm>
          <a:prstGeom prst="rect">
            <a:avLst/>
          </a:prstGeom>
          <a:solidFill>
            <a:srgbClr val="E9663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77240" y="53949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Agenda tu diagnóstico →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4251960" y="5394960"/>
            <a:ext cx="6019495" cy="566928"/>
          </a:xfrm>
          <a:prstGeom prst="rect">
            <a:avLst/>
          </a:prstGeom>
          <a:ln w="12700">
            <a:solidFill>
              <a:srgbClr val="E9663C"/>
            </a:solidFill>
            <a:prstDash val="dash"/>
          </a:ln>
        </p:spPr>
      </p:sp>
      <p:sp>
        <p:nvSpPr>
          <p:cNvPr id="45" name="Text 43"/>
          <p:cNvSpPr txBox="1"/>
          <p:nvPr/>
        </p:nvSpPr>
        <p:spPr>
          <a:xfrm>
            <a:off x="4480560" y="5394960"/>
            <a:ext cx="5562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[CANAL DE CONTACTO — COMPLETAR]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GRACIAS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</a:t>
            </a:r>
            <a:endParaRPr lang="en-US" sz="800" dirty="0"/>
          </a:p>
        </p:txBody>
      </p:sp>
      <p:pic>
        <p:nvPicPr>
          <p:cNvPr id="5" name="Image 0" descr="Praxia (logo provisional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790" y="2148840"/>
            <a:ext cx="3206115" cy="777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3246120"/>
            <a:ext cx="9448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Turn </a:t>
            </a:r>
            <a:pPr algn="ctr" indent="0" marL="0">
              <a:buNone/>
            </a:pPr>
            <a:r>
              <a:rPr lang="en-US" sz="3000" b="1" dirty="0">
                <a:solidFill>
                  <a:srgbClr val="5B4B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strategy</a:t>
            </a:r>
            <a:pPr algn="ctr" indent="0" marL="0">
              <a:buNone/>
            </a:pPr>
            <a:r>
              <a:rPr lang="en-US" sz="3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into </a:t>
            </a:r>
            <a:pPr algn="ctr" indent="0" marL="0">
              <a:buNone/>
            </a:pPr>
            <a:r>
              <a:rPr lang="en-US" sz="30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adoption</a:t>
            </a:r>
            <a:pPr algn="ctr" indent="0" marL="0">
              <a:buNone/>
            </a:pPr>
            <a:r>
              <a:rPr lang="en-US" sz="3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4069080"/>
            <a:ext cx="9448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6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HUMAN &amp; AI TRANSFORMATION ADVISORY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4800600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[CANAL DE CONTACTO — COMPLETAR]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PRAXIA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PRAXIA · Presentación ejecutiva</dc:title>
  <dc:subject>Preparado para · Alta dirección</dc:subject>
  <dc:creator>PRAXIA</dc:creator>
  <cp:lastModifiedBy>PRAXIA</cp:lastModifiedBy>
  <cp:revision>1</cp:revision>
  <dcterms:created xsi:type="dcterms:W3CDTF">2026-10-09T17:28:29Z</dcterms:created>
  <dcterms:modified xsi:type="dcterms:W3CDTF">2026-10-09T17:28:29Z</dcterms:modified>
</cp:coreProperties>
</file>