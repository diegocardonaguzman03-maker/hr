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de esta lámina (texto completo y enlace):
• Solo ~5% de las organizaciones obtiene ganancias financieras sustanciales de la IA. Fuente: BCG, 2026. https://www.bcg.com/publications/2026/ai-transformation-is-a-workforce-transformation
• En la experiencia de BCG, ~70% del valor de la IA depende de repensar el componente humano; 20%, de la tecnología; 10%, de los algoritmos. Fuente: BCG, 2026. https://www.bcg.com/publications/2026/ai-transformation-is-a-workforce-transformation
• En México, 56% de las empresas aún no identifica con claridad el valor de negocio de la IA, y solo 27% tiene una estrategia de IA bien definida. Fuente: KPMG México, 2025. https://kpmg.com/mx/es/sala-de-prensa/comunicados-de-prensa/2025/10/cp-empresas-en-mexico-y-centroamerica-apuestan-por-la-ia.html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5F2E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CONFIDENCIAL</a:t>
            </a:r>
            <a:endParaRPr lang="en-US" sz="800" dirty="0"/>
          </a:p>
        </p:txBody>
      </p:sp>
      <p:pic>
        <p:nvPicPr>
          <p:cNvPr id="4" name="Image 0" descr="Praxia (logo provisional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502920"/>
            <a:ext cx="1961388" cy="4754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0972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5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HUMAN &amp; AI TRANSFORMATION ADVISORY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48640" y="212598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057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PRESENTACIÓN EJECUTIVA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468880"/>
            <a:ext cx="96926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 la </a:t>
            </a:r>
            <a:pPr indent="0" marL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5B4B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estrategia</a:t>
            </a:r>
            <a:pPr indent="0" marL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a la </a:t>
            </a:r>
            <a:pPr indent="0" marL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E9663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adopción</a:t>
            </a:r>
            <a:pPr indent="0" marL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75488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Cerramos la distancia entre la transformación que tu organización compra y el cambio que realmente adopta.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064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PREPARADO PARA  ·  </a:t>
            </a:r>
            <a:pPr indent="0" marL="0">
              <a:buNone/>
            </a:pPr>
            <a:r>
              <a:rPr lang="en-US" sz="1000" b="1" spc="300" kern="0" dirty="0">
                <a:solidFill>
                  <a:srgbClr val="F5F2E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ALTA DIRECCIÓN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985455" y="5806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OCTUBRE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5F2E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EL MOMENTO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57150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01 — EL MOMENTO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3804"/>
            <a:ext cx="996696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Cada empresa tiene una estrategia para la IA. Casi ninguna tiene una organización lista para vivirla.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502404"/>
            <a:ext cx="78638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tecnología está lista. El plan también. Lo que no se mueve es cómo la organización decide, trabaja y mide.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5F2E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EL PROBLEMA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57150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 — EL PROBLEMA REAL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14400"/>
            <a:ext cx="5394960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9663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Adoption Gap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distancia medible entre lo que una organización declara, compra o despliega y lo que realmente se usa e incorpora a decisiones, comportamientos y resultados.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675120" y="5257800"/>
            <a:ext cx="4965192" cy="0"/>
          </a:xfrm>
          <a:prstGeom prst="line">
            <a:avLst/>
          </a:prstGeom>
          <a:noFill/>
          <a:ln w="12700">
            <a:solidFill>
              <a:srgbClr val="A7AA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0" y="1417320"/>
            <a:ext cx="1417320" cy="3840480"/>
          </a:xfrm>
          <a:prstGeom prst="rect">
            <a:avLst/>
          </a:prstGeom>
          <a:solidFill>
            <a:srgbClr val="15161D"/>
          </a:solidFill>
          <a:ln w="9525">
            <a:solidFill>
              <a:srgbClr val="A7AA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64040" y="3611880"/>
            <a:ext cx="1417320" cy="1645920"/>
          </a:xfrm>
          <a:prstGeom prst="rect">
            <a:avLst/>
          </a:prstGeom>
          <a:solidFill>
            <a:srgbClr val="F5F2EC"/>
          </a:solidFill>
          <a:ln/>
        </p:spPr>
      </p:sp>
      <p:sp>
        <p:nvSpPr>
          <p:cNvPr id="12" name="Shape 10"/>
          <p:cNvSpPr/>
          <p:nvPr/>
        </p:nvSpPr>
        <p:spPr>
          <a:xfrm>
            <a:off x="8503920" y="1417320"/>
            <a:ext cx="2377440" cy="0"/>
          </a:xfrm>
          <a:prstGeom prst="line">
            <a:avLst/>
          </a:prstGeom>
          <a:noFill/>
          <a:ln w="9525">
            <a:solidFill>
              <a:srgbClr val="A7AAB5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9464040" y="1417320"/>
            <a:ext cx="1417320" cy="2139696"/>
          </a:xfrm>
          <a:prstGeom prst="rect">
            <a:avLst/>
          </a:prstGeom>
          <a:ln w="15875">
            <a:solidFill>
              <a:srgbClr val="E9663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1045952" y="1417320"/>
            <a:ext cx="0" cy="2139696"/>
          </a:xfrm>
          <a:prstGeom prst="line">
            <a:avLst/>
          </a:prstGeom>
          <a:noFill/>
          <a:ln w="19050">
            <a:solidFill>
              <a:srgbClr val="E966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54512" y="1417320"/>
            <a:ext cx="91440" cy="0"/>
          </a:xfrm>
          <a:prstGeom prst="line">
            <a:avLst/>
          </a:prstGeom>
          <a:noFill/>
          <a:ln w="19050">
            <a:solidFill>
              <a:srgbClr val="E966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54512" y="3557016"/>
            <a:ext cx="91440" cy="0"/>
          </a:xfrm>
          <a:prstGeom prst="line">
            <a:avLst/>
          </a:prstGeom>
          <a:noFill/>
          <a:ln w="19050">
            <a:solidFill>
              <a:srgbClr val="E966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55480" y="155448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9663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LA BRECHA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53949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LO COMPRADO Y DESPLEGADO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53949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LO REALMENTE ADOPTADO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985455" y="6053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ESQUEMA CONCEPTUAL · NO A ESCALA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5F2E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EL COSTO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57150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 — EL COSTO DE LA BRECHA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9144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 brecha no es un tema blando. Se paga en valor que no llega.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3515258" cy="3429000"/>
          </a:xfrm>
          <a:prstGeom prst="rect">
            <a:avLst/>
          </a:prstGeom>
          <a:solidFill>
            <a:srgbClr val="15161D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377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2377440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17594" y="2377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063898" y="2377440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806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8640" y="5660136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917594" y="5806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63898" y="5660136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260604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~5%</a:t>
            </a:r>
            <a:endParaRPr lang="en-US" sz="64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5F2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las organizaciones obtiene ganancias financieras sustanciales de la IA.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1663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FUENTE · BCG, 2026 · AI Transformation Is a Workforce Transformation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338218" y="2377440"/>
            <a:ext cx="3515258" cy="3429000"/>
          </a:xfrm>
          <a:prstGeom prst="rect">
            <a:avLst/>
          </a:prstGeom>
          <a:solidFill>
            <a:srgbClr val="15161D"/>
          </a:solidFill>
          <a:ln/>
        </p:spPr>
      </p:sp>
      <p:sp>
        <p:nvSpPr>
          <p:cNvPr id="22" name="Shape 19"/>
          <p:cNvSpPr/>
          <p:nvPr/>
        </p:nvSpPr>
        <p:spPr>
          <a:xfrm>
            <a:off x="4338218" y="2377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38218" y="2377440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707173" y="2377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853477" y="2377440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38218" y="5806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38218" y="5660136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707173" y="5806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853477" y="5660136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2538" y="260604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~70%</a:t>
            </a:r>
            <a:endParaRPr lang="en-US" sz="6400" dirty="0"/>
          </a:p>
        </p:txBody>
      </p:sp>
      <p:sp>
        <p:nvSpPr>
          <p:cNvPr id="31" name="Text 28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5F2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valor de la IA depende de repensar el componente humano, en la experiencia de BCG.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612538" y="51663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FUENTE · BCG, 2026 · AI Transformation Is a Workforce Transformation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8127797" y="2377440"/>
            <a:ext cx="3515258" cy="3429000"/>
          </a:xfrm>
          <a:prstGeom prst="rect">
            <a:avLst/>
          </a:prstGeom>
          <a:solidFill>
            <a:srgbClr val="15161D"/>
          </a:solidFill>
          <a:ln/>
        </p:spPr>
      </p:sp>
      <p:sp>
        <p:nvSpPr>
          <p:cNvPr id="34" name="Shape 31"/>
          <p:cNvSpPr/>
          <p:nvPr/>
        </p:nvSpPr>
        <p:spPr>
          <a:xfrm>
            <a:off x="8127797" y="2377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27797" y="2377440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1496751" y="2377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1643055" y="2377440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127797" y="5806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27797" y="5660136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496751" y="5806440"/>
            <a:ext cx="146304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643055" y="5660136"/>
            <a:ext cx="0" cy="146304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02117" y="260604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56%</a:t>
            </a:r>
            <a:endParaRPr lang="en-US" sz="6400" dirty="0"/>
          </a:p>
        </p:txBody>
      </p:sp>
      <p:sp>
        <p:nvSpPr>
          <p:cNvPr id="43" name="Text 40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5F2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las empresas en México aún no identifica con claridad el valor de negocio de la IA.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8402117" y="51663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FUENTE · KPMG México, 2025 · Panorama de la IA en México y Centroamérica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Comprar software o IA no equivale a adopción ni a retorno. Cifras globales (BCG) y de México (KPMG); fuentes en las notas.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0C0D1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QUÉ HACEMOS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57150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 — QUÉ HACEMOS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14400"/>
            <a:ext cx="5394960" cy="206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Convertimos la estrategia en comportamiento que se vive.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65856"/>
            <a:ext cx="5120640" cy="277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inversión en IA rinde cuando tu gente cambia cómo trabaja. Medimos esa brecha y la cerramos: conectamos la sala de juntas con las rutinas y decisiones de primera línea.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46520" y="914400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914400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96751" y="914400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643055" y="914400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2484120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46520" y="2337816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96751" y="2484120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43055" y="2337816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11795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1143000"/>
            <a:ext cx="4007815" cy="32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Diagnosticamos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1532636"/>
            <a:ext cx="4007815" cy="814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Ubicamos dónde se rompe la adopción: decisiones, flujos de trabajo, liderazgo, datos y capacidad.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46520" y="2667000"/>
            <a:ext cx="146304" cy="0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2667000"/>
            <a:ext cx="0" cy="146304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496751" y="2667000"/>
            <a:ext cx="146304" cy="0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643055" y="2667000"/>
            <a:ext cx="0" cy="146304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46520" y="4236720"/>
            <a:ext cx="146304" cy="0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6520" y="4090416"/>
            <a:ext cx="0" cy="146304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96751" y="4236720"/>
            <a:ext cx="146304" cy="0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643055" y="4090416"/>
            <a:ext cx="0" cy="146304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20840" y="2932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360920" y="2895600"/>
            <a:ext cx="4007815" cy="32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Diseñamos el sistema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7360920" y="3285236"/>
            <a:ext cx="4007815" cy="814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Tratamos la adopción como un problema de diseño: roles, operating model, incentivos, rituales y métricas.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46520" y="4419600"/>
            <a:ext cx="146304" cy="0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46520" y="4419600"/>
            <a:ext cx="0" cy="146304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96751" y="4419600"/>
            <a:ext cx="146304" cy="0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643055" y="4419600"/>
            <a:ext cx="0" cy="146304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46520" y="5989320"/>
            <a:ext cx="146304" cy="0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46520" y="5843016"/>
            <a:ext cx="0" cy="146304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496751" y="5989320"/>
            <a:ext cx="146304" cy="0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643055" y="5843016"/>
            <a:ext cx="0" cy="146304"/>
          </a:xfrm>
          <a:prstGeom prst="line">
            <a:avLst/>
          </a:prstGeom>
          <a:noFill/>
          <a:ln w="15875">
            <a:solidFill>
              <a:srgbClr val="D9D4C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20840" y="4684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360920" y="4648200"/>
            <a:ext cx="4007815" cy="32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Medimos el cambio</a:t>
            </a:r>
            <a:endParaRPr lang="en-US" sz="1900" dirty="0"/>
          </a:p>
        </p:txBody>
      </p:sp>
      <p:sp>
        <p:nvSpPr>
          <p:cNvPr id="41" name="Text 39"/>
          <p:cNvSpPr txBox="1"/>
          <p:nvPr/>
        </p:nvSpPr>
        <p:spPr>
          <a:xfrm>
            <a:off x="7360920" y="5037836"/>
            <a:ext cx="4007815" cy="814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Gestionamos con indicadores de uso, comportamiento e impacto. Nunca con asistencia ni horas de formación.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0C0D1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POR QUÉ PRAXIA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57150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 — POR QUÉ DISTINTO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144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Otros entregan el plan. Nosotros respondemos por la adopción.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146304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331720"/>
            <a:ext cx="0" cy="146304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17594" y="2331720"/>
            <a:ext cx="146304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3898" y="2331720"/>
            <a:ext cx="0" cy="146304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806440"/>
            <a:ext cx="146304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5660136"/>
            <a:ext cx="0" cy="146304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17594" y="5806440"/>
            <a:ext cx="146304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63898" y="5660136"/>
            <a:ext cx="0" cy="146304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26243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FIRMAS DE ESTRATEGIA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10896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Recomiendan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16052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Entregan un diagnóstico brillante y un plan. Las personas quedan como un «workstream» más.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38218" y="2331720"/>
            <a:ext cx="146304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38218" y="2331720"/>
            <a:ext cx="0" cy="146304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07173" y="2331720"/>
            <a:ext cx="146304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53477" y="2331720"/>
            <a:ext cx="0" cy="146304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38218" y="5806440"/>
            <a:ext cx="146304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38218" y="5660136"/>
            <a:ext cx="0" cy="146304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07173" y="5806440"/>
            <a:ext cx="146304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53477" y="5660136"/>
            <a:ext cx="0" cy="146304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12538" y="26243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CONSULTORAS DE RH Y CAMBIO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612538" y="310896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Facilitan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612538" y="416052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Talleres y comunicación con buena intención, sin un número que la dirección pueda gestionar.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127797" y="2331720"/>
            <a:ext cx="3515258" cy="3474720"/>
          </a:xfrm>
          <a:prstGeom prst="rect">
            <a:avLst/>
          </a:prstGeom>
          <a:solidFill>
            <a:srgbClr val="0C0D12"/>
          </a:solidFill>
          <a:ln/>
        </p:spPr>
      </p:sp>
      <p:sp>
        <p:nvSpPr>
          <p:cNvPr id="31" name="Shape 29"/>
          <p:cNvSpPr/>
          <p:nvPr/>
        </p:nvSpPr>
        <p:spPr>
          <a:xfrm>
            <a:off x="8054645" y="2258568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54645" y="2258568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569903" y="2258568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716207" y="2258568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54645" y="5879592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54645" y="5733288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569903" y="5879592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716207" y="5733288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pic>
        <p:nvPicPr>
          <p:cNvPr id="39" name="Image 0" descr="Símbolo Prax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2606040"/>
            <a:ext cx="411480" cy="27432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8402117" y="2624328"/>
            <a:ext cx="2600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8402117" y="310896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9663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Asegura la adopción</a:t>
            </a:r>
            <a:endParaRPr lang="en-US" sz="2800" dirty="0"/>
          </a:p>
        </p:txBody>
      </p:sp>
      <p:sp>
        <p:nvSpPr>
          <p:cNvPr id="42" name="Text 39"/>
          <p:cNvSpPr txBox="1"/>
          <p:nvPr/>
        </p:nvSpPr>
        <p:spPr>
          <a:xfrm>
            <a:off x="8402117" y="416052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5F2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Mide, mueve y responde por el resultado: adopción observable en decisiones, comportamientos e indicadores del negocio.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0C0D1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MÉTODO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57150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06 — CÓMO TRABAJAMOS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14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Adoption System en cuatro etapas.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91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E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sistema repetible y medible. Cada etapa cierra con un gate que aprueba el sponsor.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94415" cy="0"/>
          </a:xfrm>
          <a:prstGeom prst="line">
            <a:avLst/>
          </a:prstGeom>
          <a:noFill/>
          <a:ln w="9525">
            <a:solidFill>
              <a:srgbClr val="0C0D1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542032"/>
            <a:ext cx="128016" cy="128016"/>
          </a:xfrm>
          <a:prstGeom prst="rect">
            <a:avLst/>
          </a:prstGeom>
          <a:solidFill>
            <a:srgbClr val="5B4B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260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01 · SENSE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64408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Diagnosticar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94760"/>
            <a:ext cx="2476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 de negocio, sponsor, baseline y costo de no actuar. Dónde se rompe la adopción.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21208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52120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06776" y="521208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16504" y="52120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5779008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6692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06776" y="5779008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16504" y="56692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3232" y="521208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G0 · BUSINESS CASE APROBADO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90824" y="2542032"/>
            <a:ext cx="128016" cy="128016"/>
          </a:xfrm>
          <a:prstGeom prst="rect">
            <a:avLst/>
          </a:prstGeom>
          <a:solidFill>
            <a:srgbClr val="5B4B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90824" y="29260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 · ALIGN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3264408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Alinear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3390824" y="3794760"/>
            <a:ext cx="2476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Resultados, cambios requeridos, roles, operating model, métricas y roadmap en una tesis de cambio.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390824" y="521208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90824" y="52120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521208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8688" y="52120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90824" y="5779008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90824" y="56692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848960" y="5779008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58688" y="56692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555416" y="521208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G1 · TESIS Y ROADMAP APROBADOS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33008" y="2542032"/>
            <a:ext cx="128016" cy="128016"/>
          </a:xfrm>
          <a:prstGeom prst="rect">
            <a:avLst/>
          </a:prstGeom>
          <a:solidFill>
            <a:srgbClr val="5B4B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33008" y="29260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 · ADOPT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3008" y="3264408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Adoptar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6233008" y="3794760"/>
            <a:ext cx="2476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Pilotos, habilitación, liderazgo, mecanismos de refuerzo y flujos de trabajo humano-IA.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233008" y="521208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33008" y="52120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91143" y="521208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00871" y="52120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33008" y="5779008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33008" y="56692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691143" y="5779008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800871" y="56692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397600" y="521208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G2 · KPIS DE ADOPCIÓN POR OLA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075191" y="2542032"/>
            <a:ext cx="128016" cy="128016"/>
          </a:xfrm>
          <a:prstGeom prst="rect">
            <a:avLst/>
          </a:prstGeom>
          <a:solidFill>
            <a:srgbClr val="E966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075191" y="29260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 · SUSTAIN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9075191" y="3264408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Sostener</a:t>
            </a:r>
            <a:endParaRPr lang="en-US" sz="2200" dirty="0"/>
          </a:p>
        </p:txBody>
      </p:sp>
      <p:sp>
        <p:nvSpPr>
          <p:cNvPr id="52" name="Text 50"/>
          <p:cNvSpPr txBox="1"/>
          <p:nvPr/>
        </p:nvSpPr>
        <p:spPr>
          <a:xfrm>
            <a:off x="9075191" y="3794760"/>
            <a:ext cx="2476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Evidencia de beneficios, iteración y transferencia del método al equipo del cliente.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9075191" y="521208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075191" y="52120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533327" y="521208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1643055" y="52120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75191" y="5779008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075191" y="56692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533327" y="5779008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643055" y="566928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239783" y="521208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G3 · RE-MEDICIÓN PERIÓDICA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 estrategia se compra. La </a:t>
            </a:r>
            <a:pPr indent="0" marL="0">
              <a:buNone/>
            </a:pPr>
            <a:r>
              <a:rPr lang="en-US" sz="1300" dirty="0">
                <a:solidFill>
                  <a:srgbClr val="E9663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adopción</a:t>
            </a:r>
            <a:pPr indent="0" marL="0">
              <a:buNone/>
            </a:pPr>
            <a:r>
              <a:rPr lang="en-US" sz="1300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se diseña.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0C0D1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PUNTO DE ENTRADA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57150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07 — PUNTO DE ENTRADA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14400"/>
            <a:ext cx="5760720" cy="112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Empieza midiendo: Adoption Gap Diagnostic.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23008"/>
            <a:ext cx="5669280" cy="184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3 a 5 semanas medimos la distancia entre tu transformación declarada y su adopción real, y construimos el business case del cambio con evidencia de tu propia organización.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20624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420624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82112" y="420624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420624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5010912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901184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82112" y="5010912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4901184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31596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DURACIÓN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53542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3–5 semanas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474720" y="420624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0" y="420624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08192" y="4206240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4206240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74720" y="5010912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0" y="4901184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08192" y="5010912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901184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39312" y="431596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QUÉ MEDIMOS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639312" y="453542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 capas × 5 niveles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5148072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148072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82112" y="5148072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5148072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5952744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843016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182112" y="5952744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5843016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232" y="5257800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EVIDENCIA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47725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Cualitativa y cuantitativa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3474720" y="5148072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74720" y="5148072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08192" y="5148072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0" y="5148072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74720" y="5952744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74720" y="5843016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08192" y="5952744"/>
            <a:ext cx="109728" cy="0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17920" y="5843016"/>
            <a:ext cx="0" cy="109728"/>
          </a:xfrm>
          <a:prstGeom prst="line">
            <a:avLst/>
          </a:prstGeom>
          <a:noFill/>
          <a:ln w="12700">
            <a:solidFill>
              <a:srgbClr val="D9D4C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639312" y="5257800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INVERSIÓN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3639312" y="547725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Según alcance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6812280" y="914400"/>
            <a:ext cx="4830775" cy="4983480"/>
          </a:xfrm>
          <a:prstGeom prst="rect">
            <a:avLst/>
          </a:prstGeom>
          <a:solidFill>
            <a:srgbClr val="0C0D12"/>
          </a:solidFill>
          <a:ln/>
        </p:spPr>
      </p:sp>
      <p:sp>
        <p:nvSpPr>
          <p:cNvPr id="50" name="Shape 48"/>
          <p:cNvSpPr/>
          <p:nvPr/>
        </p:nvSpPr>
        <p:spPr>
          <a:xfrm>
            <a:off x="6739128" y="841248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739128" y="841248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569903" y="841248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716207" y="841248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39128" y="5971032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739128" y="5824728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1569903" y="5971032"/>
            <a:ext cx="146304" cy="0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1716207" y="5824728"/>
            <a:ext cx="0" cy="146304"/>
          </a:xfrm>
          <a:prstGeom prst="line">
            <a:avLst/>
          </a:prstGeom>
          <a:noFill/>
          <a:ln w="15875">
            <a:solidFill>
              <a:srgbClr val="5B4B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178040" y="1280160"/>
            <a:ext cx="40992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LO QUE RECIBES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178040" y="18013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01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726680" y="1783080"/>
            <a:ext cx="3550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5F2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Hallazgos en las cinco capas de la Adoption Architecture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7178040" y="2478024"/>
            <a:ext cx="4099255" cy="0"/>
          </a:xfrm>
          <a:prstGeom prst="line">
            <a:avLst/>
          </a:prstGeom>
          <a:noFill/>
          <a:ln w="9525">
            <a:solidFill>
              <a:srgbClr val="2A2B33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178040" y="25694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7726680" y="2551176"/>
            <a:ext cx="3550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5F2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Baseline de adopción en comportamiento e impacto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7178040" y="3246120"/>
            <a:ext cx="4099255" cy="0"/>
          </a:xfrm>
          <a:prstGeom prst="line">
            <a:avLst/>
          </a:prstGeom>
          <a:noFill/>
          <a:ln w="9525">
            <a:solidFill>
              <a:srgbClr val="2A2B33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178040" y="3337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7726680" y="3319272"/>
            <a:ext cx="3550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5F2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Costo de la brecha y business case del cambio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7178040" y="4014216"/>
            <a:ext cx="4099255" cy="0"/>
          </a:xfrm>
          <a:prstGeom prst="line">
            <a:avLst/>
          </a:prstGeom>
          <a:noFill/>
          <a:ln w="9525">
            <a:solidFill>
              <a:srgbClr val="2A2B33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178040" y="4105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7726680" y="4087368"/>
            <a:ext cx="3550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5F2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Prioridades por impacto y esfuerzo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7178040" y="4782312"/>
            <a:ext cx="4099255" cy="0"/>
          </a:xfrm>
          <a:prstGeom prst="line">
            <a:avLst/>
          </a:prstGeom>
          <a:noFill/>
          <a:ln w="9525">
            <a:solidFill>
              <a:srgbClr val="2A2B33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178040" y="48737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7726680" y="4855464"/>
            <a:ext cx="35506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5F2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de 90 y 180 días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0C0D1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SERVICIOS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6E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57150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08 — CÓMO SEGUIMOS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1440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Del diagnóstico a la adopción sostenida.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94415" cy="0"/>
          </a:xfrm>
          <a:prstGeom prst="line">
            <a:avLst/>
          </a:prstGeom>
          <a:noFill/>
          <a:ln w="9525">
            <a:solidFill>
              <a:srgbClr val="D9D4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134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276856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Adoption Gap Diagnostic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295144"/>
            <a:ext cx="4480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ejecutivo, baseline, oportunidades y business case. De 3 a 5 semanas.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0" y="2322576"/>
            <a:ext cx="1584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E9663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PUNTO DE ENTRADA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11094415" cy="0"/>
          </a:xfrm>
          <a:prstGeom prst="line">
            <a:avLst/>
          </a:prstGeom>
          <a:noFill/>
          <a:ln w="9525">
            <a:solidFill>
              <a:srgbClr val="D9D4C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090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054096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Strategy-to-Adoption Sprint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40680" y="3072384"/>
            <a:ext cx="4480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Diseño y activación de una o dos prioridades estratégicas. De 6 a 10 semanas.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03320"/>
            <a:ext cx="11094415" cy="0"/>
          </a:xfrm>
          <a:prstGeom prst="line">
            <a:avLst/>
          </a:prstGeom>
          <a:noFill/>
          <a:ln w="9525">
            <a:solidFill>
              <a:srgbClr val="D9D4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8679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831336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Adoption Accelerator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40680" y="3849624"/>
            <a:ext cx="4480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Caso de uso priorizado, piloto por función y medición de uso real. De 6 a 12 semanas.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480560"/>
            <a:ext cx="11094415" cy="0"/>
          </a:xfrm>
          <a:prstGeom prst="line">
            <a:avLst/>
          </a:prstGeom>
          <a:noFill/>
          <a:ln w="9525">
            <a:solidFill>
              <a:srgbClr val="D9D4C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451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608576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Transformation Adoption Program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4626864"/>
            <a:ext cx="4480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Intervención transversal con medición por olas. De 3 a 6 meses.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1094415" cy="0"/>
          </a:xfrm>
          <a:prstGeom prst="line">
            <a:avLst/>
          </a:prstGeom>
          <a:noFill/>
          <a:ln w="9525">
            <a:solidFill>
              <a:srgbClr val="D9D4C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4223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4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5385816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Executive Advisory Retainer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5404104"/>
            <a:ext cx="4480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C0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Gobernanza, acompañamiento a la ejecución y seguimiento mensual con la dirección.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5F2E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QUIÉN ESTÁ DETRÁS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57150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09 — QUIÉN ESTÁ DETRÁS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2286000" cy="2286000"/>
          </a:xfrm>
          <a:prstGeom prst="ellipse">
            <a:avLst/>
          </a:prstGeom>
          <a:solidFill>
            <a:srgbClr val="15161D"/>
          </a:solidFill>
          <a:ln w="12700">
            <a:solidFill>
              <a:srgbClr val="A7AAB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41732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FC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371600"/>
            <a:ext cx="8214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Francisco Cardona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84832"/>
            <a:ext cx="8214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FOUNDER &amp; PRINCIPAL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606040"/>
            <a:ext cx="793973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5F2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PRAXIA es una firma senior-led y basada en evidencia. Francisco trabaja de par a par con la dirección, desde el P&amp;L y el riesgo, para que la estrategia se convierta en decisiones, comportamientos e indicadores que cambian.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29000" y="4306824"/>
            <a:ext cx="73152" cy="73152"/>
          </a:xfrm>
          <a:prstGeom prst="rect">
            <a:avLst/>
          </a:prstGeom>
          <a:solidFill>
            <a:srgbClr val="5B4B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0168" y="4233672"/>
            <a:ext cx="374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Liderazgo en un grupo industrial multinacional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73188" y="4306824"/>
            <a:ext cx="73152" cy="73152"/>
          </a:xfrm>
          <a:prstGeom prst="rect">
            <a:avLst/>
          </a:prstGeom>
          <a:solidFill>
            <a:srgbClr val="5B4B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74356" y="4233672"/>
            <a:ext cx="374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Talento, aprendizaje, desarrollo organizacional y people analytics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29000" y="4873752"/>
            <a:ext cx="73152" cy="73152"/>
          </a:xfrm>
          <a:prstGeom prst="rect">
            <a:avLst/>
          </a:prstGeom>
          <a:solidFill>
            <a:srgbClr val="5B4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630168" y="4800600"/>
            <a:ext cx="374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Exposición internacional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73188" y="4873752"/>
            <a:ext cx="73152" cy="73152"/>
          </a:xfrm>
          <a:prstGeom prst="rect">
            <a:avLst/>
          </a:prstGeom>
          <a:solidFill>
            <a:srgbClr val="5B4B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74356" y="4800600"/>
            <a:ext cx="374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Proyectos de transformación y productividad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5F2E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EMPECEMOS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571500"/>
            <a:ext cx="82296" cy="82296"/>
          </a:xfrm>
          <a:prstGeom prst="rect">
            <a:avLst/>
          </a:prstGeom>
          <a:solidFill>
            <a:srgbClr val="5B4BFF"/>
          </a:solidFill>
          <a:ln w="12700">
            <a:solidFill>
              <a:srgbClr val="5B4B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10 — EMPECEMOS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35024"/>
            <a:ext cx="9601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Mide tu </a:t>
            </a:r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E9663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Adoption Gap</a:t>
            </a:r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04872"/>
            <a:ext cx="7863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diagnóstico de 3 a 5 semanas te dice dónde tu organización no está adoptando y qué hacer al respecto. Es el punto de partida de menor riesgo.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703320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54170" y="370332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3898" y="3703320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502920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919472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54170" y="502920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63898" y="4919472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886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849624"/>
            <a:ext cx="2692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Conversación ejecutiva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206240"/>
            <a:ext cx="26922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minutos para entender la transformación en curso y el valor en juego.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38218" y="370332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8218" y="3703320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43749" y="370332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53477" y="3703320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38218" y="502920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38218" y="4919472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43749" y="502920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53477" y="4919472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39386" y="3886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978298" y="3849624"/>
            <a:ext cx="2692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Hipótesis de valor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978298" y="4206240"/>
            <a:ext cx="26922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Resumimos en una página la brecha, el valor en juego y el siguiente paso.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27797" y="370332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27797" y="3703320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533327" y="370332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643055" y="3703320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27797" y="502920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27797" y="4919472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533327" y="5029200"/>
            <a:ext cx="109728" cy="0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643055" y="4919472"/>
            <a:ext cx="0" cy="109728"/>
          </a:xfrm>
          <a:prstGeom prst="line">
            <a:avLst/>
          </a:prstGeom>
          <a:noFill/>
          <a:ln w="12700">
            <a:solidFill>
              <a:srgbClr val="2A2B3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28965" y="3886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767877" y="3849624"/>
            <a:ext cx="2692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767877" y="4206240"/>
            <a:ext cx="26922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7AA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Alcance, entregables e inversión según alcance, listos para decidir.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48640" y="5394960"/>
            <a:ext cx="3383280" cy="932688"/>
          </a:xfrm>
          <a:prstGeom prst="rect">
            <a:avLst/>
          </a:prstGeom>
          <a:solidFill>
            <a:srgbClr val="E966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0D1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Agenda tu diagnóstico →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251960" y="5394960"/>
            <a:ext cx="6019495" cy="566928"/>
          </a:xfrm>
          <a:prstGeom prst="rect">
            <a:avLst/>
          </a:prstGeom>
          <a:ln w="12700">
            <a:solidFill>
              <a:srgbClr val="E9663C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4480560" y="5394960"/>
            <a:ext cx="5562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663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[CANAL DE CONTACTO — COMPLETAR]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5F2E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PRAXIA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·   GRACIAS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00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12</a:t>
            </a:r>
            <a:endParaRPr lang="en-US" sz="800" dirty="0"/>
          </a:p>
        </p:txBody>
      </p:sp>
      <p:pic>
        <p:nvPicPr>
          <p:cNvPr id="5" name="Image 0" descr="Praxia (logo provisional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2790" y="2148840"/>
            <a:ext cx="3206115" cy="777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3246120"/>
            <a:ext cx="9448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Turn </a:t>
            </a:r>
            <a:pPr algn="ctr" indent="0" marL="0">
              <a:buNone/>
            </a:pPr>
            <a:r>
              <a:rPr lang="en-US" sz="3000" b="1" dirty="0">
                <a:solidFill>
                  <a:srgbClr val="5B4B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strategy</a:t>
            </a:r>
            <a:pPr algn="ctr" indent="0" marL="0">
              <a:buNone/>
            </a:pPr>
            <a:r>
              <a:rPr lang="en-US" sz="30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into </a:t>
            </a:r>
            <a:pPr algn="ctr" indent="0" marL="0">
              <a:buNone/>
            </a:pPr>
            <a:r>
              <a:rPr lang="en-US" sz="3000" b="1" dirty="0">
                <a:solidFill>
                  <a:srgbClr val="E9663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adoption</a:t>
            </a:r>
            <a:pPr algn="ctr" indent="0" marL="0">
              <a:buNone/>
            </a:pPr>
            <a:r>
              <a:rPr lang="en-US" sz="3000" b="1" dirty="0">
                <a:solidFill>
                  <a:srgbClr val="F5F2E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4069080"/>
            <a:ext cx="94484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600" kern="0" dirty="0">
                <a:solidFill>
                  <a:srgbClr val="A7AAB5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HUMAN &amp; AI TRANSFORMATION ADVISORY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4800600"/>
            <a:ext cx="9448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9663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[CANAL DE CONTACTO — COMPLETAR]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PRAXIA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PRAXIA · Presentación ejecutiva</dc:title>
  <dc:subject>Preparado para · Alta dirección</dc:subject>
  <dc:creator>PRAXIA</dc:creator>
  <cp:lastModifiedBy>PRAXIA</cp:lastModifiedBy>
  <cp:revision>1</cp:revision>
  <dcterms:created xsi:type="dcterms:W3CDTF">2026-10-09T17:46:39Z</dcterms:created>
  <dcterms:modified xsi:type="dcterms:W3CDTF">2026-10-09T17:46:39Z</dcterms:modified>
</cp:coreProperties>
</file>