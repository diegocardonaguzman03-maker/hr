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84% de los desarrolladores usa o planea usar IA; 46% desconfía de la precisión de sus resultados. Fuente: Stack Overflow Developer Survey, 2025. https://survey.stackoverflow.co/2025/ai
• El rediseño del trabajo con IA lo lidera TI en 39% de las organizaciones y RH solo en 12%. Fuente: Deloitte, 2025. https://www.deloitte.com/us/en/about/press-room/work-design-essential-to-ai-roi.html
• Gartner prevé que más de 40% de los proyectos de IA agéntica se cancelará para finales de 2027. Fuente: Gartner, 2025 (predicción). https://www.gartner.com/en/newsroom/press-releases/2025-06-25-gartner-predicts-over-40-percent-of-agentic-ai-projects-will-be-canceled-by-end-of-2027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CONFIDENCIAL</a:t>
            </a:r>
            <a:endParaRPr lang="en-US" sz="800" dirty="0"/>
          </a:p>
        </p:txBody>
      </p:sp>
      <p:pic>
        <p:nvPicPr>
          <p:cNvPr id="4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02920"/>
            <a:ext cx="19613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212598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Desplegar copilotos no es 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adoptarlos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empresas de software y servicios TI que venden IA a sus clientes y necesitan que su propio delivery la adopte.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PREPARADO PARA  ·  </a:t>
            </a:r>
            <a:pPr indent="0" marL="0">
              <a:buNone/>
            </a:pPr>
            <a:r>
              <a:rPr lang="en-US" sz="1000" b="1" spc="3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 TECH, SOFTWARE Y SERVICIOS TI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OCTUBRE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MOMENTO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EL MOMENTO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28444"/>
            <a:ext cx="99669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 industria vende IA a sus clientes. La pregunta es cuánto cambió tu propio delivery.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7764"/>
            <a:ext cx="7863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Copilotos para toda la ingeniería, agentes en piloto y un modelo de entrega que todavía se cotiza por hora o por FTE.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EL PROBLEMA REAL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 casa propia.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alto de copilotos y confianza baja. Decenas de pruebas de concepto sin dueño de negocio ni criterio de salida. Nadie mide si cambiaron el lead time, la calidad del código, el retrabajo o la utilización.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5257800"/>
            <a:ext cx="4965192" cy="0"/>
          </a:xfrm>
          <a:prstGeom prst="line">
            <a:avLst/>
          </a:prstGeom>
          <a:noFill/>
          <a:ln w="12700">
            <a:solidFill>
              <a:srgbClr val="A7A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1417320" cy="3840480"/>
          </a:xfrm>
          <a:prstGeom prst="rect">
            <a:avLst/>
          </a:prstGeom>
          <a:solidFill>
            <a:srgbClr val="15161D"/>
          </a:solidFill>
          <a:ln w="9525">
            <a:solidFill>
              <a:srgbClr val="A7A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611880"/>
            <a:ext cx="1417320" cy="16459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417320"/>
            <a:ext cx="2377440" cy="0"/>
          </a:xfrm>
          <a:prstGeom prst="line">
            <a:avLst/>
          </a:prstGeom>
          <a:noFill/>
          <a:ln w="9525">
            <a:solidFill>
              <a:srgbClr val="A7A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64040" y="1417320"/>
            <a:ext cx="1417320" cy="2139696"/>
          </a:xfrm>
          <a:prstGeom prst="rect">
            <a:avLst/>
          </a:prstGeom>
          <a:ln w="15875">
            <a:solidFill>
              <a:srgbClr val="E966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45952" y="1417320"/>
            <a:ext cx="0" cy="2139696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1417320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557016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BRECHA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LICENCIAS DE IA DESPLEGADAS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DELIVERY QUE REALMENTE CAMBIÓ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985455" y="6053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ESQUEMA CONCEPTUAL · NO A ESCALA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COSTO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EL COSTO DE LA BRECHA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 alto, confianza baja y pilotos sin dueño: la brecha también vive en casa.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17594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389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46%</a:t>
            </a:r>
            <a:endParaRPr lang="en-US" sz="6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los desarrolladores desconfía de la precisión de la IA; 84% la usa o planea usarla.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Stack Overflow Developer Survey, 2025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38218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22" name="Shape 19"/>
          <p:cNvSpPr/>
          <p:nvPr/>
        </p:nvSpPr>
        <p:spPr>
          <a:xfrm>
            <a:off x="4338218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821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7173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5347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2538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39%</a:t>
            </a:r>
            <a:endParaRPr lang="en-US" sz="6400" dirty="0"/>
          </a:p>
        </p:txBody>
      </p:sp>
      <p:sp>
        <p:nvSpPr>
          <p:cNvPr id="31" name="Text 28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organizaciones: TI lidera el rediseño del trabajo con IA. RH lo lidera solo en 12%.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2538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Deloitte, 2025 · Work Redesign Essential to Realize AI ROI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127797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7797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2779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496751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643055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27797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779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96751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643055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02117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&gt;40%</a:t>
            </a:r>
            <a:endParaRPr lang="en-US" sz="6400" dirty="0"/>
          </a:p>
        </p:txBody>
      </p:sp>
      <p:sp>
        <p:nvSpPr>
          <p:cNvPr id="43" name="Text 40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los proyectos de IA agéntica se cancelará para finales de 2027, prevé Gartner.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402117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Gartner, 2025 (predicción)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Cifras globales. La de Gartner es una predicción, no un dato observado. Fuentes completas en las notas.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QUÉ HACEMOS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QUÉ HACEMOS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597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Convertimos licencias de IA en delivery que cambió.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4432"/>
            <a:ext cx="5120640" cy="324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inversión en copilotos y agentes rinde cuando tus equipos cambian cómo diseñan, construyen y entregan. Medimos esa brecha y la cerramos: del comité de dirección a la célula de delivery y a la forma de cotizar.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96751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43055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96751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3055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179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1430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Diagnosticamos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15326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Dónde se rompe la adopción: flujos de ingeniería, pilotos sin dueño, roles, confianza y datos de uso.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96751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43055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96751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43055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2932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956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el sistema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2852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Flujos humano-IA, roles, criterios para salir del piloto, incentivos y métricas de delivery.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96751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4684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46482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Medimos el cambio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0378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Uso, comportamiento e impacto en lead time, calidad, retrabajo y utilización. Nunca horas de curso.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POR QUÉ PRAXIA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POR QUÉ DISTINTO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Otros habilitan la herramienta. Nosotros respondemos por la adopción.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594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89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PROVEEDORES DE PLATAFORMA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Habilitan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Licencias, créditos y certificaciones. Miden consumo, no si cambió la forma en que tu equipo entrega.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8218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7173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3477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2538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PROGRAMAS DE UPSKILLING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Capacitan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Rutas de cursos y badges de IA. Horas de formación que no garantizan un flujo de trabajo distinto.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2331720"/>
            <a:ext cx="3515258" cy="347472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4645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4645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9903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16207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4645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9903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16207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pic>
        <p:nvPicPr>
          <p:cNvPr id="39" name="Image 0" descr="Símbolo Prax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06040"/>
            <a:ext cx="411480" cy="27432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402117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Asegura la adopción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8402117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Rediseña y mide cómo trabaja tu delivery con IA, hasta que se nota en lead time, calidad, utilización y margen.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MÉTODO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CÓMO TRABAJAMOS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Adoption System en cuatro etapas.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repetible y medible, del comité a la célula de delivery. Cada etapa cierra con un gate del sponsor.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0"/>
          </a:xfrm>
          <a:prstGeom prst="line">
            <a:avLst/>
          </a:prstGeom>
          <a:noFill/>
          <a:ln w="9525">
            <a:solidFill>
              <a:srgbClr val="0C0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uso real de copilotos y agentes por equipo, pilotos activos, confianza y costo de no actuar.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776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650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776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650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G0 · BUSINESS CASE APROBADO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0824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90824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ALIGN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Alinear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390824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 con dueño, criterios de salida del piloto, roles y métricas de delivery en un roadmap.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0824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082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896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68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0824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082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896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868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55416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G1 · TESIS Y ROADMAP APROBADOS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3008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33008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ADOPT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3008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Pilotos por célula, flujos humano-IA, guías por rol, liderazgo técnico y mecanismos de refuerzo.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300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1143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0087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3008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1143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7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7600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G2 · KPIS DE ADOPCIÓN POR OLA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5191" y="2542032"/>
            <a:ext cx="128016" cy="128016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75191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SUSTAIN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75191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Sostener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075191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Re-medición de lead time, calidad y utilización, y transferencia del método a tu PMO o CoE de IA.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75191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519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3327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3055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5191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7519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33327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3055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9783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G3 · RE-MEDICIÓN PERIÓDICA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se compra. La </a:t>
            </a:r>
            <a:pPr indent="0" marL="0">
              <a:buNone/>
            </a:pPr>
            <a:r>
              <a:rPr lang="en-US" sz="1300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 diseña.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PUNTO DE ENTRADA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PUNTO DE ENTRADA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760720" cy="112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Empieza midiendo: Adoption Gap Diagnostic.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3008"/>
            <a:ext cx="5669280" cy="184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 a 5 semanas medimos la distancia entre la IA que tu organización desplegó y la que realmente cambió el delivery, y construimos el business case con datos de tu propia operación.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 semanas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QUÉ MEDIMOS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3931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capas × 5 niveles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EVIDENCIA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 real y entrevistas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93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363931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Según alcance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12280" y="914400"/>
            <a:ext cx="4830775" cy="498348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6739128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69903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6207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69903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16207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78040" y="1280160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RECIBES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1783080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en las cinco capas, del comité a la célula de delivery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78040" y="2478024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78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2551176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uso, confianza e impacto por equipo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78040" y="3246120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780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726680" y="3319272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la brecha en lead time, retrabajo y utilización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78040" y="4014216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7804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087368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de pilotos priorizado por impacto y esfuerzo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178040" y="4782312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78040" y="4873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4855464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de 90 y 180 días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SERVICIOS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CÓMO SEGUIMOS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diagnóstico a un delivery que adopta la IA.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768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 Diagnostic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uso e impacto, costo de la brecha y business case. De 3 a 5 semanas.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322576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1203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49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84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Adoption Accelerator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666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Copilotos o agentes en un flujo de delivery, con uso e impacto medidos. De 6 a 12 semanas.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919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565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199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Strategy-to-Adoption Sprint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2382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entrega con IA o integración post-adquisición. De 6 a 10 semanas.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634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280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1915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 Adoption Program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52097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Adopción por olas en toda la operación de delivery, con medición. De 3 a 6 meses.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QUIÉN ESTÁ DETRÁS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QUIÉN ESTÁ DETRÁS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286000" cy="2286000"/>
          </a:xfrm>
          <a:prstGeom prst="ellipse">
            <a:avLst/>
          </a:prstGeom>
          <a:solidFill>
            <a:srgbClr val="15161D"/>
          </a:solidFill>
          <a:ln w="12700">
            <a:solidFill>
              <a:srgbClr val="A7AA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Francisco Cardona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84832"/>
            <a:ext cx="8214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&amp; PRINCIPAL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7939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PRAXIA es una firma senior-led y basada en evidencia. Francisco trabaja de par a par con la dirección, desde el P&amp;L y el riesgo, para que la estrategia se convierta en decisiones, comportamientos e indicadores que cambian.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en un grupo industrial multinacional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73188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74356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Talento, aprendizaje, desarrollo organizacional y people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Exposición internacional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3188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74356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transformación y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EMPECEMOS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EMPECEMOS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35024"/>
            <a:ext cx="9601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tu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diagnóstico de 3 a 5 semanas te dice cuánto de la IA que desplegaste cambió de verdad tu delivery y qué hacer al respecto. Es el punto de partida de menor riesgo.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417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17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Conversación ejecutiva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minutos sobre tu despliegue de IA, tu modelo de entrega y el valor en juego.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21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3749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347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3749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347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9386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8298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Hipótesis de valor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78298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Resumimos en una página la brecha, el valor en juego y el siguiente paso.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2779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79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3332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779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3332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8965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767877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767877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Alcance, entregables e inversión según alcance, listos para decidir.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383280" cy="932688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tu diagnóstico 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251960" y="5394960"/>
            <a:ext cx="6019495" cy="566928"/>
          </a:xfrm>
          <a:prstGeom prst="rect">
            <a:avLst/>
          </a:prstGeom>
          <a:ln w="12700">
            <a:solidFill>
              <a:srgbClr val="E9663C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480560" y="5394960"/>
            <a:ext cx="5562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GRACIAS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790" y="2148840"/>
            <a:ext cx="3206115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</a:t>
            </a:r>
            <a:pPr algn="ctr" indent="0" marL="0">
              <a:buNone/>
            </a:pPr>
            <a:r>
              <a:rPr lang="en-US" sz="30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into </a:t>
            </a:r>
            <a:pPr algn="ctr" indent="0" marL="0">
              <a:buNone/>
            </a:pPr>
            <a:r>
              <a:rPr lang="en-US" sz="30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80060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PRAXIA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PRAXIA · High tech, software y servicios TI</dc:title>
  <dc:subject>Preparado para · High tech, software y servicios TI</dc:subject>
  <dc:creator>PRAXIA</dc:creator>
  <cp:lastModifiedBy>PRAXIA</cp:lastModifiedBy>
  <cp:revision>1</cp:revision>
  <dcterms:created xsi:type="dcterms:W3CDTF">2026-10-09T17:47:46Z</dcterms:created>
  <dcterms:modified xsi:type="dcterms:W3CDTF">2026-10-09T17:47:46Z</dcterms:modified>
</cp:coreProperties>
</file>