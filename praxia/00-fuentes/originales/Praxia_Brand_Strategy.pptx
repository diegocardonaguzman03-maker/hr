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</p:sldIdLst>
  <p:notesMasterIdLst>
    <p:notesMasterId r:id="rId5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notesMaster" Target="notesMasters/notesMaster1.xml"/><Relationship Id="rId60" Type="http://schemas.openxmlformats.org/officeDocument/2006/relationships/presProps" Target="presProps.xml"/><Relationship Id="rId61" Type="http://schemas.openxmlformats.org/officeDocument/2006/relationships/viewProps" Target="viewProps.xml"/><Relationship Id="rId62" Type="http://schemas.openxmlformats.org/officeDocument/2006/relationships/theme" Target="theme/theme1.xml"/><Relationship Id="rId6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61B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1143000"/>
            <a:ext cx="4937760" cy="4937760"/>
          </a:xfrm>
          <a:prstGeom prst="donut">
            <a:avLst/>
          </a:prstGeom>
          <a:solidFill>
            <a:srgbClr val="9B8FF2">
              <a:alpha val="8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555834" y="1143000"/>
            <a:ext cx="4937760" cy="4937760"/>
          </a:xfrm>
          <a:prstGeom prst="donut">
            <a:avLst/>
          </a:prstGeom>
          <a:solidFill>
            <a:srgbClr val="E5895F">
              <a:alpha val="8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233172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PRAXIA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640080" y="3520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9B8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&amp; AI TRANSFORMATION ADVISORY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8368" y="4160520"/>
            <a:ext cx="3108960" cy="0"/>
          </a:xfrm>
          <a:prstGeom prst="line">
            <a:avLst/>
          </a:prstGeom>
          <a:noFill/>
          <a:ln w="12700">
            <a:solidFill>
              <a:srgbClr val="2C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4343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D8D5C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Estrategia, identidad y plataforma integral de marca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66928" y="5806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ejecutivo de estrategia de marca   ·   Confidencial
</a:t>
            </a:r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Rostro visible: Francisco Cardona   ·   Julio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423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LECTURA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151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leer este documento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66928" y="160020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51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decisión, no un menú.  </a:t>
            </a:r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A3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brief pedía una conclusión definitiva. Este documento la entrega: un sistema de marca completo y coherente, con una recomendación por cada frente y las alternativas evaluadas —no una lista de posibilidades.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3063240"/>
            <a:ext cx="5486400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9525">
            <a:solidFill>
              <a:srgbClr val="D9D3C6"/>
            </a:solidFill>
            <a:prstDash val="solid"/>
          </a:ln>
          <a:effectLst>
            <a:outerShdw sx="100000" sy="100000" kx="0" ky="0" algn="bl" rotWithShape="0" blurRad="88900" dist="25400" dir="5400000">
              <a:srgbClr val="9A9488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41248" y="32918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423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CONVENCIÓN DE IDIOMA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41248" y="3657600"/>
            <a:ext cx="4937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151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Narrativa estratégica en español</a:t>
            </a:r>
            <a:pPr algn="l"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3A3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tu idioma de trabajo, para decidir y presentar internamente.
</a:t>
            </a:r>
            <a:pPr algn="l"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C95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Activos de marca en inglés</a:t>
            </a:r>
            <a:pPr algn="l"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3A3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nombre, categoría, taglines, manifiesto, mensajes y ejemplos de web/LinkedIn, listos para desplegar en un posicionamiento global.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46520" y="1600200"/>
            <a:ext cx="5166360" cy="4526280"/>
          </a:xfrm>
          <a:prstGeom prst="roundRect">
            <a:avLst>
              <a:gd name="adj" fmla="val 1616"/>
            </a:avLst>
          </a:prstGeom>
          <a:solidFill>
            <a:srgbClr val="15161B"/>
          </a:solidFill>
          <a:ln w="9525">
            <a:solidFill>
              <a:srgbClr val="D9D3C6"/>
            </a:solidFill>
            <a:prstDash val="solid"/>
          </a:ln>
          <a:effectLst>
            <a:outerShdw sx="100000" sy="100000" kx="0" ky="0" algn="bl" rotWithShape="0" blurRad="88900" dist="25400" dir="5400000">
              <a:srgbClr val="9A9488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766560" y="1828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B8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11 SECCIONES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766560" y="224028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589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   </a:t>
            </a:r>
            <a:pPr algn="l" indent="0" marL="0">
              <a:buNone/>
            </a:pPr>
            <a:r>
              <a:rPr lang="en-US" sz="125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de oportunidad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766560" y="258318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589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   </a:t>
            </a:r>
            <a:pPr algn="l" indent="0" marL="0">
              <a:buNone/>
            </a:pPr>
            <a:r>
              <a:rPr lang="en-US" sz="125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de categoría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766560" y="292608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589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   </a:t>
            </a:r>
            <a:pPr algn="l" indent="0" marL="0">
              <a:buNone/>
            </a:pPr>
            <a:r>
              <a:rPr lang="en-US" sz="125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Posicionamiento estratégico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766560" y="326898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589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   </a:t>
            </a:r>
            <a:pPr algn="l" indent="0" marL="0">
              <a:buNone/>
            </a:pPr>
            <a:r>
              <a:rPr lang="en-US" sz="125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servicios + metodología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766560" y="361188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589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   </a:t>
            </a:r>
            <a:pPr algn="l" indent="0" marL="0">
              <a:buNone/>
            </a:pPr>
            <a:r>
              <a:rPr lang="en-US" sz="125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Personalidad y arquetipo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766560" y="395478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589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   </a:t>
            </a:r>
            <a:pPr algn="l" indent="0" marL="0">
              <a:buNone/>
            </a:pPr>
            <a:r>
              <a:rPr lang="en-US" sz="125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estratégico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766560" y="429768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589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   </a:t>
            </a:r>
            <a:pPr algn="l" indent="0" marL="0">
              <a:buNone/>
            </a:pPr>
            <a:r>
              <a:rPr lang="en-US" sz="125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mensajes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766560" y="464058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589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   </a:t>
            </a:r>
            <a:pPr algn="l" indent="0" marL="0">
              <a:buNone/>
            </a:pPr>
            <a:r>
              <a:rPr lang="en-US" sz="125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 verbal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766560" y="498348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589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   </a:t>
            </a:r>
            <a:pPr algn="l" indent="0" marL="0">
              <a:buNone/>
            </a:pPr>
            <a:r>
              <a:rPr lang="en-US" sz="125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 visual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766560" y="532638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589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  </a:t>
            </a:r>
            <a:pPr algn="l" indent="0" marL="0">
              <a:buNone/>
            </a:pPr>
            <a:r>
              <a:rPr lang="en-US" sz="125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Conceptos creativos (3 rutas)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766560" y="566928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589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   </a:t>
            </a:r>
            <a:pPr algn="l" indent="0" marL="0">
              <a:buNone/>
            </a:pPr>
            <a:r>
              <a:rPr lang="en-US" sz="1250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Recomendación final + plan 90 días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PRAXIA</a:t>
            </a:r>
            <a:pPr algn="l" indent="0" marL="0">
              <a:buNone/>
            </a:pPr>
            <a:r>
              <a:rPr lang="en-US" sz="80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Estrategia y Plataforma de Marca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486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423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PARÁMETROS DEL ENCARGO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151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Sobre qué construimos — y qué asumimos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5727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C95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Transparencia de socio:  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3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había conversaciones ni documentos previos guardados en el proyecto, así que nada aquí depende de memoria inventada. Cuatro variables se confirmaron contigo; el resto son supuestos declarados que puedes corregir.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2331720"/>
            <a:ext cx="539496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D9D3C6"/>
            </a:solidFill>
            <a:prstDash val="solid"/>
          </a:ln>
          <a:effectLst>
            <a:outerShdw sx="100000" sy="100000" kx="0" ky="0" algn="bl" rotWithShape="0" blurRad="88900" dist="25400" dir="5400000">
              <a:srgbClr val="9A9488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54203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423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CONFIRMADO CONTIGO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22960" y="2926080"/>
            <a:ext cx="4892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51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/ idioma
</a:t>
            </a:r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A4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Global, English-first (operación desde México, percepción internacional)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3698748"/>
            <a:ext cx="4892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51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ancla (24 m)
</a:t>
            </a:r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A4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Scale-ups en expansión + multinacionales / corporativos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4471416"/>
            <a:ext cx="4892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51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
</a:t>
            </a:r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A4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Abierto — se propone nombre de firma y metodología comercializable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5244084"/>
            <a:ext cx="4892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51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
</a:t>
            </a:r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A4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ejecutivo en PowerPoint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36208" y="2331720"/>
            <a:ext cx="5394960" cy="3749040"/>
          </a:xfrm>
          <a:prstGeom prst="roundRect">
            <a:avLst>
              <a:gd name="adj" fmla="val 1951"/>
            </a:avLst>
          </a:prstGeom>
          <a:solidFill>
            <a:srgbClr val="EAE5D9"/>
          </a:solidFill>
          <a:ln w="9525">
            <a:solidFill>
              <a:srgbClr val="D9D3C6"/>
            </a:solidFill>
            <a:prstDash val="solid"/>
          </a:ln>
          <a:effectLst>
            <a:outerShdw sx="100000" sy="100000" kx="0" ky="0" algn="bl" rotWithShape="0" blurRad="88900" dist="25400" dir="5400000">
              <a:srgbClr val="9A9488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92240" y="254203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5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SUPUESTOS DECLARADOS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92240" y="2926080"/>
            <a:ext cx="4892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51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Rostro visible
</a:t>
            </a:r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A4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Francisco Cardona como consultor principal; marca diseñada para múltiples consultores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240" y="3698748"/>
            <a:ext cx="4892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51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Compradores
</a:t>
            </a:r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A4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/ Fundador, CHRO, Chief Transformation / People Officer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92240" y="4471416"/>
            <a:ext cx="4892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51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Sectores
</a:t>
            </a:r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A4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Agnóstico, con filo en tech, servicios financieros, industria y consumo (priorizable)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92240" y="5244084"/>
            <a:ext cx="4892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51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
</a:t>
            </a:r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A4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Premium, basado en valor y resultados — no por hora (detalle en fase de pricing)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PRAXIA</a:t>
            </a:r>
            <a:pPr algn="l" indent="0" marL="0">
              <a:buNone/>
            </a:pPr>
            <a:r>
              <a:rPr lang="en-US" sz="80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Estrategia y Plataforma de Marca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61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486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9B8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EJECUTIVO — 1 DE 2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recomendación, en una página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80136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E58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350008" y="1728216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Praxia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6099048" y="1783080"/>
            <a:ext cx="5532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7C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acuñado y propietario (praxis = convertir estrategia en acción; contiene axia = valor). Ownable global; los nombres de diccionario están saturados de firmas.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66928" y="271576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E58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CATEGORÍA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350008" y="2642616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&amp; AI Transformation Advisory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099048" y="2697480"/>
            <a:ext cx="5532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7C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un territorio propio que la firma acuña y posee: The Adoption Gap.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66928" y="363016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E58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POSICIONAMIENTO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350008" y="3557016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la estrategia a la adopción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6099048" y="3611880"/>
            <a:ext cx="5532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7C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firma que cierra la distancia entre la transformación que compras y el cambio que tu organización realmente adopta.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66928" y="454456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E58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350008" y="4471416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Adoption System™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6099048" y="4526280"/>
            <a:ext cx="5532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7C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 · Align · Adopt · Sustain, con un diagnóstico-producto: el Adoption Gap Index™ (AGI).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66928" y="545896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E58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TAGLINE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350008" y="5385816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“Turn strategy into adoption.”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6099048" y="5440680"/>
            <a:ext cx="5532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7C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Voz clara, ejecutiva y humana; enemigo declarado: el transformation theater.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PRAXIA</a:t>
            </a:r>
            <a:pPr algn="l" indent="0" marL="0">
              <a:buNone/>
            </a:pPr>
            <a:r>
              <a:rPr lang="en-US" sz="80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Resumen ejecutivo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486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423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EJECUTIVO — 2 DE 2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151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qué esta es la jugada correcta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965960"/>
            <a:ext cx="3456432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9525">
            <a:solidFill>
              <a:srgbClr val="D9D3C6"/>
            </a:solidFill>
            <a:prstDash val="solid"/>
          </a:ln>
          <a:effectLst>
            <a:outerShdw sx="100000" sy="100000" kx="0" ky="0" algn="bl" rotWithShape="0" blurRad="88900" dist="25400" dir="5400000">
              <a:srgbClr val="9A9488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9264" y="2386584"/>
            <a:ext cx="201168" cy="201168"/>
          </a:xfrm>
          <a:prstGeom prst="ellipse">
            <a:avLst/>
          </a:prstGeom>
          <a:solidFill>
            <a:srgbClr val="4231D4"/>
          </a:solidFill>
          <a:ln/>
        </p:spPr>
      </p:sp>
      <p:sp>
        <p:nvSpPr>
          <p:cNvPr id="7" name="Text 5"/>
          <p:cNvSpPr/>
          <p:nvPr/>
        </p:nvSpPr>
        <p:spPr>
          <a:xfrm>
            <a:off x="1344168" y="228600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151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mercado convergió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3063240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3F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las grandes firmas dicen ya lo mismo: la IA fracasa por las personas, no por la tecnología. El mensaje se saturó arriba. El espacio libre no es diagnosticar la brecha —es cerrarla.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06240" y="1965960"/>
            <a:ext cx="3456432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9525">
            <a:solidFill>
              <a:srgbClr val="D9D3C6"/>
            </a:solidFill>
            <a:prstDash val="solid"/>
          </a:ln>
          <a:effectLst>
            <a:outerShdw sx="100000" sy="100000" kx="0" ky="0" algn="bl" rotWithShape="0" blurRad="88900" dist="25400" dir="5400000">
              <a:srgbClr val="9A9488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08576" y="2386584"/>
            <a:ext cx="201168" cy="201168"/>
          </a:xfrm>
          <a:prstGeom prst="ellipse">
            <a:avLst/>
          </a:prstGeom>
          <a:solidFill>
            <a:srgbClr val="C9552F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228600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151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Nadie posee la adopción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480560" y="3063240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3F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firmas de estrategia venden decks; las de RH venden talleres. Falta una firma acreditada ante el CEO cuya métrica sea el cambio adoptado y el resultado de negocio.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845552" y="1965960"/>
            <a:ext cx="3456432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9525">
            <a:solidFill>
              <a:srgbClr val="D9D3C6"/>
            </a:solidFill>
            <a:prstDash val="solid"/>
          </a:ln>
          <a:effectLst>
            <a:outerShdw sx="100000" sy="100000" kx="0" ky="0" algn="bl" rotWithShape="0" blurRad="88900" dist="25400" dir="5400000">
              <a:srgbClr val="9A9488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47888" y="2386584"/>
            <a:ext cx="201168" cy="201168"/>
          </a:xfrm>
          <a:prstGeom prst="ellipse">
            <a:avLst/>
          </a:prstGeom>
          <a:solidFill>
            <a:srgbClr val="7E9B86"/>
          </a:solidFill>
          <a:ln/>
        </p:spPr>
      </p:sp>
      <p:sp>
        <p:nvSpPr>
          <p:cNvPr id="15" name="Text 13"/>
          <p:cNvSpPr/>
          <p:nvPr/>
        </p:nvSpPr>
        <p:spPr>
          <a:xfrm>
            <a:off x="8622792" y="228600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151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velocidades, un muro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19872" y="3063240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3F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Scale-ups y multinacionales chocan con lo mismo: su estrategia está lista, su organización no. Una marca puente —rigor de advisory + alma tecnológica + sensibilidad humana— los sirve a ambos.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66928" y="5349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51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Conclusión.  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A3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Construimos una firma que no vende transformación —vende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i="1" dirty="0">
                <a:solidFill>
                  <a:srgbClr val="C95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adopción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A3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el único terreno que McKinsey diagnostica y nadie ejecuta con acreditación ejecutiva.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PRAXIA</a:t>
            </a:r>
            <a:pPr algn="l" indent="0" marL="0">
              <a:buNone/>
            </a:pPr>
            <a:r>
              <a:rPr lang="en-US" sz="80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Resumen ejecutivo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61B"/>
          </a:solidFill>
          <a:ln/>
        </p:spPr>
      </p:sp>
      <p:sp>
        <p:nvSpPr>
          <p:cNvPr id="3" name="Shape 1"/>
          <p:cNvSpPr/>
          <p:nvPr/>
        </p:nvSpPr>
        <p:spPr>
          <a:xfrm>
            <a:off x="8869680" y="1051560"/>
            <a:ext cx="4297680" cy="4297680"/>
          </a:xfrm>
          <a:prstGeom prst="donut">
            <a:avLst/>
          </a:prstGeom>
          <a:solidFill>
            <a:srgbClr val="9B8FF2">
              <a:alpha val="8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416845" y="1051560"/>
            <a:ext cx="4297680" cy="4297680"/>
          </a:xfrm>
          <a:prstGeom prst="donut">
            <a:avLst/>
          </a:prstGeom>
          <a:solidFill>
            <a:srgbClr val="E5895F">
              <a:alpha val="8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37160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2C2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2000" dirty="0"/>
          </a:p>
        </p:txBody>
      </p:sp>
      <p:sp>
        <p:nvSpPr>
          <p:cNvPr id="6" name="Text 4"/>
          <p:cNvSpPr/>
          <p:nvPr/>
        </p:nvSpPr>
        <p:spPr>
          <a:xfrm>
            <a:off x="612648" y="3063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9B8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DIAGNOSIS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3310128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Diagnóstico de oportunidad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85216" y="470916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está saturado, qué está libre y por qué 2026 abre una ventana.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PRAXIA</a:t>
            </a:r>
            <a:pPr algn="l" indent="0" marL="0">
              <a:buNone/>
            </a:pPr>
            <a:r>
              <a:rPr lang="en-US" sz="80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Sección 01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423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MERCADO EN 2026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151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Todos llegaron a la misma conclusión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57276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A3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evidencia 2026 converge: la IA y el cambio continuo fracasan por la organización, no por la tecnología.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2286000"/>
            <a:ext cx="2606040" cy="32461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9525">
            <a:solidFill>
              <a:srgbClr val="D9D3C6"/>
            </a:solidFill>
            <a:prstDash val="solid"/>
          </a:ln>
          <a:effectLst>
            <a:outerShdw sx="100000" sy="100000" kx="0" ky="0" algn="bl" rotWithShape="0" blurRad="88900" dist="25400" dir="5400000">
              <a:srgbClr val="9A9488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" y="251460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4231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70%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822960" y="3611880"/>
            <a:ext cx="2103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F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valor de la IA viene del componente humano —no del algoritmo (10%) ni de la tecnología (20%).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51389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BCG, 2026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337560" y="2286000"/>
            <a:ext cx="2606040" cy="32461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9525">
            <a:solidFill>
              <a:srgbClr val="D9D3C6"/>
            </a:solidFill>
            <a:prstDash val="solid"/>
          </a:ln>
          <a:effectLst>
            <a:outerShdw sx="100000" sy="100000" kx="0" ky="0" algn="bl" rotWithShape="0" blurRad="88900" dist="25400" dir="5400000">
              <a:srgbClr val="9A9488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29000" y="251460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4231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~5%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3593592" y="3611880"/>
            <a:ext cx="2103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F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las organizaciones ha capturado ganancias financieras sustanciales de la IA.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93592" y="51389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BCG, 2026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108192" y="2286000"/>
            <a:ext cx="2606040" cy="32461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9525">
            <a:solidFill>
              <a:srgbClr val="D9D3C6"/>
            </a:solidFill>
            <a:prstDash val="solid"/>
          </a:ln>
          <a:effectLst>
            <a:outerShdw sx="100000" sy="100000" kx="0" ky="0" algn="bl" rotWithShape="0" blurRad="88900" dist="25400" dir="5400000">
              <a:srgbClr val="9A9488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99632" y="251460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4231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1.6×</a:t>
            </a:r>
            <a:endParaRPr lang="en-US" sz="5200" dirty="0"/>
          </a:p>
        </p:txBody>
      </p:sp>
      <p:sp>
        <p:nvSpPr>
          <p:cNvPr id="16" name="Text 14"/>
          <p:cNvSpPr/>
          <p:nvPr/>
        </p:nvSpPr>
        <p:spPr>
          <a:xfrm>
            <a:off x="6364224" y="3611880"/>
            <a:ext cx="2103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F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probable no obtener retorno de la IA con un enfoque “tech-first” vs. uno centrado en las personas.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64224" y="51389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DELOITTE, 2026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8878824" y="2286000"/>
            <a:ext cx="2606040" cy="32461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9525">
            <a:solidFill>
              <a:srgbClr val="D9D3C6"/>
            </a:solidFill>
            <a:prstDash val="solid"/>
          </a:ln>
          <a:effectLst>
            <a:outerShdw sx="100000" sy="100000" kx="0" ky="0" algn="bl" rotWithShape="0" blurRad="88900" dist="25400" dir="5400000">
              <a:srgbClr val="9A9488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970264" y="251460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4231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#3</a:t>
            </a:r>
            <a:endParaRPr lang="en-US" sz="5200" dirty="0"/>
          </a:p>
        </p:txBody>
      </p:sp>
      <p:sp>
        <p:nvSpPr>
          <p:cNvPr id="20" name="Text 18"/>
          <p:cNvSpPr/>
          <p:nvPr/>
        </p:nvSpPr>
        <p:spPr>
          <a:xfrm>
            <a:off x="9134856" y="3611880"/>
            <a:ext cx="2103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F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Management sube al top-3 de prioridades CHRO; 47% cita la cultura como el obstáculo.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134856" y="51389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GARTNER, 2026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66928" y="57150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5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Señal estratégica: si el diagnóstico ya es consenso, el diferenciador deja de ser nombrar la brecha y pasa a ser cerrarla.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PRAXIA</a:t>
            </a:r>
            <a:pPr algn="l" indent="0" marL="0">
              <a:buNone/>
            </a:pPr>
            <a:r>
              <a:rPr lang="en-US" sz="80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Estrategia y Plataforma de Marca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423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CÓDIGOS SATURADOS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151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terreno está lleno de lo mismo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91640"/>
          <a:ext cx="11057839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4526280"/>
                <a:gridCol w="461772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61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 saturado (evitar)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61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giro de Praxia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61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Azul corporativo, navy consultor, degradados “tech”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Grafito + marfil con doble acento: índigo (máquina) y clay (humano)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Verbal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“Unlock potential”, “people first”, “future of work”, “journey”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Adopción, comportamiento, operating model, velocidad, resultado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Mensaje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“Tu tecnología está lista, tu gente no” (ya lo dicen todos)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lo diagnosticamos: lo cerramos. Respondemos por la adopción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Símbolo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Nodos/redes, cabezas con engranajes, flechas ascendentes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giro / el eje: dos anillos (humano + máquina) que se cruzan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Prueba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Rankings, logos de clientes, “X años de experiencia”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índice propio y medible: el Adoption Gap Index™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PRAXIA</a:t>
            </a:r>
            <a:pPr algn="l" indent="0" marL="0">
              <a:buNone/>
            </a:pPr>
            <a:r>
              <a:rPr lang="en-US" sz="80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Estrategia y Plataforma de Marca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423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COMPETITIVO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800" b="1" dirty="0">
                <a:solidFill>
                  <a:srgbClr val="151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Dónde juegan los demás — y dónde no hay nadie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532888" y="1965960"/>
            <a:ext cx="612648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32888" y="3954780"/>
            <a:ext cx="6126480" cy="0"/>
          </a:xfrm>
          <a:prstGeom prst="line">
            <a:avLst/>
          </a:prstGeom>
          <a:noFill/>
          <a:ln w="12700">
            <a:solidFill>
              <a:srgbClr val="D9D3C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596128" y="1965960"/>
            <a:ext cx="0" cy="3977640"/>
          </a:xfrm>
          <a:prstGeom prst="line">
            <a:avLst/>
          </a:prstGeom>
          <a:noFill/>
          <a:ln w="12700">
            <a:solidFill>
              <a:srgbClr val="D9D3C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32888" y="1655064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Credibilidad de negocio ante el CEO  →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66928" y="5989320"/>
            <a:ext cx="8092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Profundidad humana / de cambio  →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670048" y="22860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3F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McKinsey · BCG · Bain</a:t>
            </a:r>
            <a:endParaRPr lang="en-US" sz="10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3F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(estrategia; personas = workstream)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144768" y="22860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3F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Korn Ferry · Mercer</a:t>
            </a:r>
            <a:endParaRPr lang="en-US" sz="10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3F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Deloitte HC · Gallup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670048" y="51206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3F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Firmas de capacitación,</a:t>
            </a:r>
            <a:endParaRPr lang="en-US" sz="10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3F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 y speakers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623560" y="3982212"/>
            <a:ext cx="3008376" cy="1933956"/>
          </a:xfrm>
          <a:prstGeom prst="rect">
            <a:avLst/>
          </a:prstGeom>
          <a:solidFill>
            <a:srgbClr val="ECE9FB"/>
          </a:solidFill>
          <a:ln w="15875">
            <a:solidFill>
              <a:srgbClr val="4231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87568" y="47091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4231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PRAXIA
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3A3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acreditada ante el CEO</a:t>
            </a:r>
            <a:endParaRPr lang="en-US" sz="15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3A3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dueña de la adopción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887968" y="2148840"/>
            <a:ext cx="26974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51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espacio en blanco.  </a:t>
            </a:r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A3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firma combina credibilidad ejecutiva de negocio con la propiedad de la ejecución humana del cambio y la IA.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PRAXIA</a:t>
            </a:r>
            <a:pPr algn="l" indent="0" marL="0">
              <a:buNone/>
            </a:pPr>
            <a:r>
              <a:rPr lang="en-US" sz="80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Estrategia y Plataforma de Marca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61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9B8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TERRITORIO PROPIO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Adoption Gap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66928" y="17830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D8D5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distancia —costosa y medible— entre la transformación que una organización ha comprado y el cambio que su gente realmente ha adoptado.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3063240"/>
            <a:ext cx="3456432" cy="2377440"/>
          </a:xfrm>
          <a:prstGeom prst="roundRect">
            <a:avLst>
              <a:gd name="adj" fmla="val 3077"/>
            </a:avLst>
          </a:prstGeom>
          <a:solidFill>
            <a:srgbClr val="20222C"/>
          </a:solidFill>
          <a:ln w="9525">
            <a:solidFill>
              <a:srgbClr val="2C2F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2461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B8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22960" y="3794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se compra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425196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C7C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Estrategia, tecnología, reorganización, talento, un plan brillante.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06240" y="3063240"/>
            <a:ext cx="3456432" cy="2377440"/>
          </a:xfrm>
          <a:prstGeom prst="roundRect">
            <a:avLst>
              <a:gd name="adj" fmla="val 3077"/>
            </a:avLst>
          </a:prstGeom>
          <a:solidFill>
            <a:srgbClr val="20222C"/>
          </a:solidFill>
          <a:ln w="9525">
            <a:solidFill>
              <a:srgbClr val="2C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62272" y="32461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B8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462272" y="3794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se adopta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62272" y="425196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C7C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Comportamientos nuevos, capacidades reales, un modelo operativo que la gente vive.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845552" y="3063240"/>
            <a:ext cx="3456432" cy="2377440"/>
          </a:xfrm>
          <a:prstGeom prst="roundRect">
            <a:avLst>
              <a:gd name="adj" fmla="val 3077"/>
            </a:avLst>
          </a:prstGeom>
          <a:solidFill>
            <a:srgbClr val="20222C"/>
          </a:solidFill>
          <a:ln w="9525">
            <a:solidFill>
              <a:srgbClr val="2C2F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01584" y="32461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589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101584" y="3794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brecha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101584" y="425196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C7C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Donde muere la transformación: town halls, decks y roll-outs que nadie adopta.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66928" y="56235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7C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Praxia acuña este territorio y lo convierte en franquicia de pensamiento:  </a:t>
            </a:r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reporte anual (The Adoption Gap Report) y un índice propietario (AGI).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PRAXIA</a:t>
            </a:r>
            <a:pPr algn="l" indent="0" marL="0">
              <a:buNone/>
            </a:pPr>
            <a:r>
              <a:rPr lang="en-US" sz="80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Sección 01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61B"/>
          </a:solidFill>
          <a:ln/>
        </p:spPr>
      </p:sp>
      <p:sp>
        <p:nvSpPr>
          <p:cNvPr id="3" name="Shape 1"/>
          <p:cNvSpPr/>
          <p:nvPr/>
        </p:nvSpPr>
        <p:spPr>
          <a:xfrm>
            <a:off x="8869680" y="1051560"/>
            <a:ext cx="4297680" cy="4297680"/>
          </a:xfrm>
          <a:prstGeom prst="donut">
            <a:avLst/>
          </a:prstGeom>
          <a:solidFill>
            <a:srgbClr val="9B8FF2">
              <a:alpha val="8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416845" y="1051560"/>
            <a:ext cx="4297680" cy="4297680"/>
          </a:xfrm>
          <a:prstGeom prst="donut">
            <a:avLst/>
          </a:prstGeom>
          <a:solidFill>
            <a:srgbClr val="E5895F">
              <a:alpha val="8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37160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2C2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2000" dirty="0"/>
          </a:p>
        </p:txBody>
      </p:sp>
      <p:sp>
        <p:nvSpPr>
          <p:cNvPr id="6" name="Text 4"/>
          <p:cNvSpPr/>
          <p:nvPr/>
        </p:nvSpPr>
        <p:spPr>
          <a:xfrm>
            <a:off x="612648" y="3063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9B8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DEFINITION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3310128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Definición de categoría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85216" y="470916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categoría que la firma debería poseer —y por qué no adoptar una etiqueta saturada.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PRAXIA</a:t>
            </a:r>
            <a:pPr algn="l" indent="0" marL="0">
              <a:buNone/>
            </a:pPr>
            <a:r>
              <a:rPr lang="en-US" sz="80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Sección 02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423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DE CATEGORÍAS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151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categoría poseer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45920"/>
          <a:ext cx="11057839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2743200"/>
                <a:gridCol w="2651760"/>
                <a:gridCol w="155448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Categoría candidata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61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Percepción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61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Riesgo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61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Veredicto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61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People &amp; Transformation Advisory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Amplia, moderna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Difusa, poco filo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útil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 Transformation Advisory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Suena a coaching/desarrollo personal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Descartar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Future of Work Consulting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Saturada; caduca en 2 años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Descartar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Workforce Transformation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Clara, de negocio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 la frase que todos usan hoy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Débil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 &amp; AI Transformation Advisory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 negocio + personas + 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Requiere un POV propio para no ser genérica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Recomendada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66928" y="5074920"/>
            <a:ext cx="11057839" cy="1005840"/>
          </a:xfrm>
          <a:prstGeom prst="roundRect">
            <a:avLst>
              <a:gd name="adj" fmla="val 7273"/>
            </a:avLst>
          </a:prstGeom>
          <a:solidFill>
            <a:srgbClr val="ECE9FB"/>
          </a:solidFill>
          <a:ln w="9525">
            <a:solidFill>
              <a:srgbClr val="D9D3C6"/>
            </a:solidFill>
            <a:prstDash val="solid"/>
          </a:ln>
          <a:effectLst>
            <a:outerShdw sx="100000" sy="100000" kx="0" ky="0" algn="bl" rotWithShape="0" blurRad="88900" dist="25400" dir="5400000">
              <a:srgbClr val="9A9488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41248" y="5230368"/>
            <a:ext cx="1050919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423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Recomendación.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3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“Human &amp; AI Transformation Advisory” como descriptor comercial claro —integra las tres fuerzas que hoy chocan— potenciada por un territorio propietario que la firma posee y nadie más reclama: 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151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Adoption Gap.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PRAXIA</a:t>
            </a:r>
            <a:pPr algn="l" indent="0" marL="0">
              <a:buNone/>
            </a:pPr>
            <a:r>
              <a:rPr lang="en-US" sz="80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Estrategia y Plataforma de Marca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423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CATEGORÍA RECOMENDADA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151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categoría comercial + un territorio propio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965960"/>
            <a:ext cx="539496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9525">
            <a:solidFill>
              <a:srgbClr val="D9D3C6"/>
            </a:solidFill>
            <a:prstDash val="solid"/>
          </a:ln>
          <a:effectLst>
            <a:outerShdw sx="100000" sy="100000" kx="0" ky="0" algn="bl" rotWithShape="0" blurRad="88900" dist="25400" dir="5400000">
              <a:srgbClr val="9A9488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1248" y="2194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DESCRIPTOR COMERCIAL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1248" y="2487168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300" b="1" dirty="0">
                <a:solidFill>
                  <a:srgbClr val="151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&amp; AI Transformation Advisory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841248" y="361188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3F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Legible para un comité de compras: dice qué hacemos (transformación), para quién (la organización y su gente) y con qué fluidez nativa (IA). Sitúa a la firma por encima de “RH” y al lado de la estrategia.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36208" y="1965960"/>
            <a:ext cx="5394960" cy="3931920"/>
          </a:xfrm>
          <a:prstGeom prst="roundRect">
            <a:avLst>
              <a:gd name="adj" fmla="val 2326"/>
            </a:avLst>
          </a:prstGeom>
          <a:solidFill>
            <a:srgbClr val="15161B"/>
          </a:solidFill>
          <a:ln w="9525">
            <a:solidFill>
              <a:srgbClr val="D9D3C6"/>
            </a:solidFill>
            <a:prstDash val="solid"/>
          </a:ln>
          <a:effectLst>
            <a:outerShdw sx="100000" sy="100000" kx="0" ky="0" algn="bl" rotWithShape="0" blurRad="88900" dist="25400" dir="5400000">
              <a:srgbClr val="9A9488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10528" y="2194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B8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TERRITORIO PROPIETARIO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510528" y="2487168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Adoption Gap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510528" y="32461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7C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concepto que la firma inventa, mide y posee.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7C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Convierte una categoría genérica en una conversación que sólo Praxia lidera: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10528" y="429768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Marco (POV): The Adoption Gap / Transformation Debt
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Producto: Adoption Gap Index™ (AGI)
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Franquicia: The Adoption Gap Report (anual)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66928" y="60807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Evolución a 5–10 años: de “advisory de adopción” a estándar de industria para medir cómo las organizaciones absorben IA y cambio.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PRAXIA</a:t>
            </a:r>
            <a:pPr algn="l" indent="0" marL="0">
              <a:buNone/>
            </a:pPr>
            <a:r>
              <a:rPr lang="en-US" sz="80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Estrategia y Plataforma de Marca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61B"/>
          </a:solidFill>
          <a:ln/>
        </p:spPr>
      </p:sp>
      <p:sp>
        <p:nvSpPr>
          <p:cNvPr id="3" name="Shape 1"/>
          <p:cNvSpPr/>
          <p:nvPr/>
        </p:nvSpPr>
        <p:spPr>
          <a:xfrm>
            <a:off x="8869680" y="1051560"/>
            <a:ext cx="4297680" cy="4297680"/>
          </a:xfrm>
          <a:prstGeom prst="donut">
            <a:avLst/>
          </a:prstGeom>
          <a:solidFill>
            <a:srgbClr val="9B8FF2">
              <a:alpha val="8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416845" y="1051560"/>
            <a:ext cx="4297680" cy="4297680"/>
          </a:xfrm>
          <a:prstGeom prst="donut">
            <a:avLst/>
          </a:prstGeom>
          <a:solidFill>
            <a:srgbClr val="E5895F">
              <a:alpha val="8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37160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2C2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2000" dirty="0"/>
          </a:p>
        </p:txBody>
      </p:sp>
      <p:sp>
        <p:nvSpPr>
          <p:cNvPr id="6" name="Text 4"/>
          <p:cNvSpPr/>
          <p:nvPr/>
        </p:nvSpPr>
        <p:spPr>
          <a:xfrm>
            <a:off x="612648" y="3063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9B8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POSITIONING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3310128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Posicionamiento estratégico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85216" y="470916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Propósito, promesa, insight, enemigo, declaración y manifiesto.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PRAXIA</a:t>
            </a:r>
            <a:pPr algn="l" indent="0" marL="0">
              <a:buNone/>
            </a:pPr>
            <a:r>
              <a:rPr lang="en-US" sz="80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Sección 03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423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NÚCLEO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151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Propósito · Visión · Misión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920240"/>
            <a:ext cx="11057839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9525">
            <a:solidFill>
              <a:srgbClr val="D9D3C6"/>
            </a:solidFill>
            <a:prstDash val="solid"/>
          </a:ln>
          <a:effectLst>
            <a:outerShdw sx="100000" sy="100000" kx="0" ky="0" algn="bl" rotWithShape="0" blurRad="88900" dist="25400" dir="5400000">
              <a:srgbClr val="9A9488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05256" y="2450592"/>
            <a:ext cx="237744" cy="237744"/>
          </a:xfrm>
          <a:prstGeom prst="ellipse">
            <a:avLst/>
          </a:prstGeom>
          <a:solidFill>
            <a:srgbClr val="4231D4"/>
          </a:solidFill>
          <a:ln/>
        </p:spPr>
      </p:sp>
      <p:sp>
        <p:nvSpPr>
          <p:cNvPr id="7" name="Text 5"/>
          <p:cNvSpPr/>
          <p:nvPr/>
        </p:nvSpPr>
        <p:spPr>
          <a:xfrm>
            <a:off x="1344168" y="208483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1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Propósito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44168" y="263347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EXISTIMOS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75888" y="2066544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333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Hacer que las organizaciones humanas avancen tan rápido como la tecnología que las transforma.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364992"/>
            <a:ext cx="11057839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9525">
            <a:solidFill>
              <a:srgbClr val="D9D3C6"/>
            </a:solidFill>
            <a:prstDash val="solid"/>
          </a:ln>
          <a:effectLst>
            <a:outerShdw sx="100000" sy="100000" kx="0" ky="0" algn="bl" rotWithShape="0" blurRad="88900" dist="25400" dir="5400000">
              <a:srgbClr val="9A9488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05256" y="3895344"/>
            <a:ext cx="237744" cy="237744"/>
          </a:xfrm>
          <a:prstGeom prst="ellipse">
            <a:avLst/>
          </a:prstGeom>
          <a:solidFill>
            <a:srgbClr val="C9552F"/>
          </a:solidFill>
          <a:ln/>
        </p:spPr>
      </p:sp>
      <p:sp>
        <p:nvSpPr>
          <p:cNvPr id="12" name="Text 10"/>
          <p:cNvSpPr/>
          <p:nvPr/>
        </p:nvSpPr>
        <p:spPr>
          <a:xfrm>
            <a:off x="1344168" y="352958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1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Visión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344168" y="407822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DÓNDE VAMOS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675888" y="3511296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333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Volvernos el estándar global de cómo las organizaciones adoptan la IA y el cambio a través de su gente.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66928" y="4809744"/>
            <a:ext cx="11057839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9525">
            <a:solidFill>
              <a:srgbClr val="D9D3C6"/>
            </a:solidFill>
            <a:prstDash val="solid"/>
          </a:ln>
          <a:effectLst>
            <a:outerShdw sx="100000" sy="100000" kx="0" ky="0" algn="bl" rotWithShape="0" blurRad="88900" dist="25400" dir="5400000">
              <a:srgbClr val="9A9488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05256" y="5340096"/>
            <a:ext cx="237744" cy="237744"/>
          </a:xfrm>
          <a:prstGeom prst="ellipse">
            <a:avLst/>
          </a:prstGeom>
          <a:solidFill>
            <a:srgbClr val="7E9B86"/>
          </a:solidFill>
          <a:ln/>
        </p:spPr>
      </p:sp>
      <p:sp>
        <p:nvSpPr>
          <p:cNvPr id="17" name="Text 15"/>
          <p:cNvSpPr/>
          <p:nvPr/>
        </p:nvSpPr>
        <p:spPr>
          <a:xfrm>
            <a:off x="1344168" y="497433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1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Misión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344168" y="552297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HACEMOS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675888" y="4956048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333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Convertimos la transformación en adopción: diseñamos el liderazgo, la cultura, las capacidades y los modelos operativos que hacen que el cambio se arraigue y rinda.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PRAXIA</a:t>
            </a:r>
            <a:pPr algn="l" indent="0" marL="0">
              <a:buNone/>
            </a:pPr>
            <a:r>
              <a:rPr lang="en-US" sz="80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Estrategia y Plataforma de Marca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423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OFERTA DE VALOR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151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Promesa, propuesta de valor y razón para creer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874520"/>
            <a:ext cx="11057839" cy="1188720"/>
          </a:xfrm>
          <a:prstGeom prst="roundRect">
            <a:avLst>
              <a:gd name="adj" fmla="val 6154"/>
            </a:avLst>
          </a:prstGeom>
          <a:solidFill>
            <a:srgbClr val="15161B"/>
          </a:solidFill>
          <a:ln w="9525">
            <a:solidFill>
              <a:srgbClr val="D9D3C6"/>
            </a:solidFill>
            <a:prstDash val="solid"/>
          </a:ln>
          <a:effectLst>
            <a:outerShdw sx="100000" sy="100000" kx="0" ky="0" algn="bl" rotWithShape="0" blurRad="88900" dist="25400" dir="5400000">
              <a:srgbClr val="9A9488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86968" y="2057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9B8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PROMESA DE MARCA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86968" y="23317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“Transformación que tu organización de verdad adopta —a la velocidad a la que se mueve tu negocio.”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66928" y="3246120"/>
            <a:ext cx="539496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9525">
            <a:solidFill>
              <a:srgbClr val="D9D3C6"/>
            </a:solidFill>
            <a:prstDash val="solid"/>
          </a:ln>
          <a:effectLst>
            <a:outerShdw sx="100000" sy="100000" kx="0" ky="0" algn="bl" rotWithShape="0" blurRad="88900" dist="25400" dir="5400000">
              <a:srgbClr val="9A9488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41248" y="34564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423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VALOR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41248" y="3767328"/>
            <a:ext cx="4892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3F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Combinamos el rigor analítico de una firma de estrategia, la profundidad humana de una consultora organizacional y fluidez nativa en IA para cerrar tu Adoption Gap: la distancia costosa entre la transformación que compraste y el cambio que tu gente absorbió. Nos miden por la adopción y el desempeño que logras —no por el deck que entregamos.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36208" y="3246120"/>
            <a:ext cx="5394960" cy="2834640"/>
          </a:xfrm>
          <a:prstGeom prst="roundRect">
            <a:avLst>
              <a:gd name="adj" fmla="val 2581"/>
            </a:avLst>
          </a:prstGeom>
          <a:solidFill>
            <a:srgbClr val="EAE5D9"/>
          </a:solidFill>
          <a:ln w="9525">
            <a:solidFill>
              <a:srgbClr val="D9D3C6"/>
            </a:solidFill>
            <a:prstDash val="solid"/>
          </a:ln>
          <a:effectLst>
            <a:outerShdw sx="100000" sy="100000" kx="0" ky="0" algn="bl" rotWithShape="0" blurRad="88900" dist="25400" dir="5400000">
              <a:srgbClr val="9A9488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10528" y="34564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95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RAZÓN PARA CREER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510528" y="3767328"/>
            <a:ext cx="48920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F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Respondemos por la adopción: contratos ligados a KPIs de comportamiento y negocio, no a la entrega de informes.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F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propietaria y medible: The Adoption System™ + Adoption Gap Index™.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F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Fluidez humano + máquina: diseñamos modelos operativos IA-humano, no proyectos de tech con “change” pegado.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F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Senior-led y basado en evidencia (ciencia del comportamiento), no motivación.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PRAXIA</a:t>
            </a:r>
            <a:pPr algn="l" indent="0" marL="0">
              <a:buNone/>
            </a:pPr>
            <a:r>
              <a:rPr lang="en-US" sz="80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Estrategia y Plataforma de Marca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423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TENSIÓN CENTRAL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800" b="1" dirty="0">
                <a:solidFill>
                  <a:srgbClr val="151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problema, el insight y el enemigo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1965960"/>
            <a:ext cx="3456432" cy="3977640"/>
          </a:xfrm>
          <a:prstGeom prst="roundRect">
            <a:avLst>
              <a:gd name="adj" fmla="val 2646"/>
            </a:avLst>
          </a:prstGeom>
          <a:solidFill>
            <a:srgbClr val="FFFFFF"/>
          </a:solidFill>
          <a:ln w="9525">
            <a:solidFill>
              <a:srgbClr val="D9D3C6"/>
            </a:solidFill>
            <a:prstDash val="solid"/>
          </a:ln>
          <a:effectLst>
            <a:outerShdw sx="100000" sy="100000" kx="0" ky="0" algn="bl" rotWithShape="0" blurRad="88900" dist="25400" dir="5400000">
              <a:srgbClr val="9A9488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1248" y="221284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423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CENTRAL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1248" y="2788920"/>
            <a:ext cx="29260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3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organizaciones anuncian la transformación, compran las herramientas y contratan el talento —y nada cambia lo bastante rápido. El cuello de botella no es la estrategia; es la capacidad de la organización para absorber el cambio.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06240" y="1965960"/>
            <a:ext cx="3456432" cy="3977640"/>
          </a:xfrm>
          <a:prstGeom prst="roundRect">
            <a:avLst>
              <a:gd name="adj" fmla="val 2646"/>
            </a:avLst>
          </a:prstGeom>
          <a:solidFill>
            <a:srgbClr val="FFFFFF"/>
          </a:solidFill>
          <a:ln w="9525">
            <a:solidFill>
              <a:srgbClr val="D9D3C6"/>
            </a:solidFill>
            <a:prstDash val="solid"/>
          </a:ln>
          <a:effectLst>
            <a:outerShdw sx="100000" sy="100000" kx="0" ky="0" algn="bl" rotWithShape="0" blurRad="88900" dist="25400" dir="5400000">
              <a:srgbClr val="9A9488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80560" y="221284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95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DEL CLIENTE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480560" y="2788920"/>
            <a:ext cx="29260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3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“Mi problema no es la estrategia. Es que mi organización no adopta el cambio a la velocidad que necesito.” — el CEO/CHRO que ya invirtió y no ve el retorno.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845552" y="1965960"/>
            <a:ext cx="3456432" cy="3977640"/>
          </a:xfrm>
          <a:prstGeom prst="roundRect">
            <a:avLst>
              <a:gd name="adj" fmla="val 2646"/>
            </a:avLst>
          </a:prstGeom>
          <a:solidFill>
            <a:srgbClr val="15161B"/>
          </a:solidFill>
          <a:ln w="9525">
            <a:solidFill>
              <a:srgbClr val="2C2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19872" y="221284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58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ENEMIGO CONCEPTUAL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119872" y="2788920"/>
            <a:ext cx="29260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D5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transformation theater: town halls, decks y roll-outs que parecen cambio pero nadie adopta. Y su costo acumulado, medible: Transformation Debt.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PRAXIA</a:t>
            </a:r>
            <a:pPr algn="l" indent="0" marL="0">
              <a:buNone/>
            </a:pPr>
            <a:r>
              <a:rPr lang="en-US" sz="80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Estrategia y Plataforma de Marca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423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IDEAL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151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anclas, un mismo muro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965960"/>
            <a:ext cx="539496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D9D3C6"/>
            </a:solidFill>
            <a:prstDash val="solid"/>
          </a:ln>
          <a:effectLst>
            <a:outerShdw sx="100000" sy="100000" kx="0" ky="0" algn="bl" rotWithShape="0" blurRad="88900" dist="25400" dir="5400000">
              <a:srgbClr val="9A9488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377440"/>
            <a:ext cx="219456" cy="219456"/>
          </a:xfrm>
          <a:prstGeom prst="ellipse">
            <a:avLst/>
          </a:prstGeom>
          <a:solidFill>
            <a:srgbClr val="4231D4"/>
          </a:solidFill>
          <a:ln/>
        </p:spPr>
      </p:sp>
      <p:sp>
        <p:nvSpPr>
          <p:cNvPr id="7" name="Text 5"/>
          <p:cNvSpPr/>
          <p:nvPr/>
        </p:nvSpPr>
        <p:spPr>
          <a:xfrm>
            <a:off x="1344168" y="22860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1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Scale-ups en expansión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86968" y="297180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i="1" dirty="0">
                <a:solidFill>
                  <a:srgbClr val="C95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Crecen más rápido de lo que su organización puede sostener.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86968" y="365760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b="1" spc="100" kern="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COMPRADOR 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33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Fundador / CEO · Chief People Officer
</a:t>
            </a:r>
            <a:pPr indent="0" marL="0">
              <a:lnSpc>
                <a:spcPct val="112000"/>
              </a:lnSpc>
              <a:buNone/>
            </a:pPr>
            <a:r>
              <a:rPr lang="en-US" sz="950" b="1" spc="100" kern="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DOLOR 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33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Estructura, liderazgo y cultura que no escalan; adopción de IA sin romper velocidad.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035040" y="1965960"/>
            <a:ext cx="539496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D9D3C6"/>
            </a:solidFill>
            <a:prstDash val="solid"/>
          </a:ln>
          <a:effectLst>
            <a:outerShdw sx="100000" sy="100000" kx="0" ky="0" algn="bl" rotWithShape="0" blurRad="88900" dist="25400" dir="5400000">
              <a:srgbClr val="9A9488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28232" y="2377440"/>
            <a:ext cx="219456" cy="219456"/>
          </a:xfrm>
          <a:prstGeom prst="ellipse">
            <a:avLst/>
          </a:prstGeom>
          <a:solidFill>
            <a:srgbClr val="C9552F"/>
          </a:solidFill>
          <a:ln/>
        </p:spPr>
      </p:sp>
      <p:sp>
        <p:nvSpPr>
          <p:cNvPr id="12" name="Text 10"/>
          <p:cNvSpPr/>
          <p:nvPr/>
        </p:nvSpPr>
        <p:spPr>
          <a:xfrm>
            <a:off x="6812280" y="22860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1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Multinacionales / corporativos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355080" y="297180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i="1" dirty="0">
                <a:solidFill>
                  <a:srgbClr val="C95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Tienen escala pero se mueven lento; transforman por mandato.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355080" y="365760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b="1" spc="100" kern="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COMPRADOR 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33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 · Chief Transformation Officer · Dirección
</a:t>
            </a:r>
            <a:pPr indent="0" marL="0">
              <a:lnSpc>
                <a:spcPct val="112000"/>
              </a:lnSpc>
              <a:buNone/>
            </a:pPr>
            <a:r>
              <a:rPr lang="en-US" sz="950" b="1" spc="100" kern="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DOLOR 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33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 que no aterriza en el día a día; capacidades y modelos operativos para la era IA.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66928" y="5440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1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puente entre ambos —rigor de advisory + alma tecnológica + sensibilidad humana— es exactamente la marca que ninguna firma ocupa hoy.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PRAXIA</a:t>
            </a:r>
            <a:pPr algn="l" indent="0" marL="0">
              <a:buNone/>
            </a:pPr>
            <a:r>
              <a:rPr lang="en-US" sz="80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Estrategia y Plataforma de Marca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61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9B8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DIFERENCIADORES COMPETITIVOS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Cinco razones por las que ganamos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5257800" cy="914400"/>
          </a:xfrm>
          <a:prstGeom prst="roundRect">
            <a:avLst>
              <a:gd name="adj" fmla="val 8000"/>
            </a:avLst>
          </a:prstGeom>
          <a:solidFill>
            <a:srgbClr val="20222C"/>
          </a:solidFill>
          <a:ln w="9525">
            <a:solidFill>
              <a:srgbClr val="2C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1947672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B8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18488" y="190195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Respondemos por la adopción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618488" y="221284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2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miden por comportamiento y resultado, no por decks. Skin in the game.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355080" y="1783080"/>
            <a:ext cx="5257800" cy="914400"/>
          </a:xfrm>
          <a:prstGeom prst="roundRect">
            <a:avLst>
              <a:gd name="adj" fmla="val 8000"/>
            </a:avLst>
          </a:prstGeom>
          <a:solidFill>
            <a:srgbClr val="20222C"/>
          </a:solidFill>
          <a:ln w="9525">
            <a:solidFill>
              <a:srgbClr val="2C2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56248" y="1947672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B8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406640" y="190195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Fluidez nativa humano + máquina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406640" y="221284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2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Diseñamos modelos operativos IA-humano; no proyectos de tecnología con “change” pegado.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66928" y="2834640"/>
            <a:ext cx="5257800" cy="914400"/>
          </a:xfrm>
          <a:prstGeom prst="roundRect">
            <a:avLst>
              <a:gd name="adj" fmla="val 8000"/>
            </a:avLst>
          </a:prstGeom>
          <a:solidFill>
            <a:srgbClr val="20222C"/>
          </a:solidFill>
          <a:ln w="9525">
            <a:solidFill>
              <a:srgbClr val="2C2F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" y="2999232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B8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618488" y="295351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propietaria y medible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618488" y="326440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2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Adoption System™ + Adoption Gap Index™: método repetible y benchmark con foso de datos.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355080" y="2834640"/>
            <a:ext cx="5257800" cy="914400"/>
          </a:xfrm>
          <a:prstGeom prst="roundRect">
            <a:avLst>
              <a:gd name="adj" fmla="val 8000"/>
            </a:avLst>
          </a:prstGeom>
          <a:solidFill>
            <a:srgbClr val="20222C"/>
          </a:solidFill>
          <a:ln w="9525">
            <a:solidFill>
              <a:srgbClr val="2C2F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56248" y="2999232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589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406640" y="295351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Construida para dos velocidades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406640" y="326440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2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Sirve la agilidad del scale-up y la escala del corporativo desde un mismo sistema.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66928" y="3886200"/>
            <a:ext cx="5257800" cy="914400"/>
          </a:xfrm>
          <a:prstGeom prst="roundRect">
            <a:avLst>
              <a:gd name="adj" fmla="val 8000"/>
            </a:avLst>
          </a:prstGeom>
          <a:solidFill>
            <a:srgbClr val="20222C"/>
          </a:solidFill>
          <a:ln w="9525">
            <a:solidFill>
              <a:srgbClr val="2C2F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4050792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589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618488" y="400507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Senior-led, basada en evidencia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618488" y="431596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2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Pensamiento nivel socio y ciencia del comportamiento —no motivación ni lugares comunes.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PRAXIA</a:t>
            </a:r>
            <a:pPr algn="l" indent="0" marL="0">
              <a:buNone/>
            </a:pPr>
            <a:r>
              <a:rPr lang="en-US" sz="80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Sección 03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423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DECLARACIÓN DE POSICIONAMIENTO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1057839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9525">
            <a:solidFill>
              <a:srgbClr val="D9D3C6"/>
            </a:solidFill>
            <a:prstDash val="solid"/>
          </a:ln>
          <a:effectLst>
            <a:outerShdw sx="100000" sy="100000" kx="0" ky="0" algn="bl" rotWithShape="0" blurRad="88900" dist="25400" dir="5400000">
              <a:srgbClr val="9A9488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24128" y="1783080"/>
            <a:ext cx="10143439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900" dirty="0">
                <a:solidFill>
                  <a:srgbClr val="333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</a:t>
            </a:r>
            <a:pPr indent="0" marL="0">
              <a:lnSpc>
                <a:spcPct val="114000"/>
              </a:lnSpc>
              <a:buNone/>
            </a:pPr>
            <a:r>
              <a:rPr lang="en-US" sz="1900" b="1" dirty="0">
                <a:solidFill>
                  <a:srgbClr val="151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CEOs y CHROs de scale-ups y multinacionales</a:t>
            </a:r>
            <a:pPr indent="0" marL="0">
              <a:lnSpc>
                <a:spcPct val="114000"/>
              </a:lnSpc>
              <a:buNone/>
            </a:pPr>
            <a:r>
              <a:rPr lang="en-US" sz="1900" dirty="0">
                <a:solidFill>
                  <a:srgbClr val="333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que están apostando la compañía a la IA y al cambio continuo, </a:t>
            </a:r>
            <a:pPr indent="0" marL="0">
              <a:lnSpc>
                <a:spcPct val="114000"/>
              </a:lnSpc>
              <a:buNone/>
            </a:pPr>
            <a:r>
              <a:rPr lang="en-US" sz="1900" b="1" dirty="0">
                <a:solidFill>
                  <a:srgbClr val="4231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Praxia</a:t>
            </a:r>
            <a:pPr indent="0" marL="0">
              <a:lnSpc>
                <a:spcPct val="114000"/>
              </a:lnSpc>
              <a:buNone/>
            </a:pPr>
            <a:r>
              <a:rPr lang="en-US" sz="1900" dirty="0">
                <a:solidFill>
                  <a:srgbClr val="333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es la </a:t>
            </a:r>
            <a:pPr indent="0" marL="0">
              <a:lnSpc>
                <a:spcPct val="114000"/>
              </a:lnSpc>
              <a:buNone/>
            </a:pPr>
            <a:r>
              <a:rPr lang="en-US" sz="1900" b="1" dirty="0">
                <a:solidFill>
                  <a:srgbClr val="151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&amp; AI transformation advisory</a:t>
            </a:r>
            <a:pPr indent="0" marL="0">
              <a:lnSpc>
                <a:spcPct val="114000"/>
              </a:lnSpc>
              <a:buNone/>
            </a:pPr>
            <a:r>
              <a:rPr lang="en-US" sz="1900" dirty="0">
                <a:solidFill>
                  <a:srgbClr val="333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que convierte la estrategia en adopción —diseñando el liderazgo, la cultura, las capacidades y los modelos operativos que hacen que el cambio se arraigue.
</a:t>
            </a:r>
            <a:pPr indent="0" marL="0">
              <a:lnSpc>
                <a:spcPct val="114000"/>
              </a:lnSpc>
              <a:buNone/>
            </a:pPr>
            <a:r>
              <a:rPr lang="en-US" sz="1900" dirty="0">
                <a:solidFill>
                  <a:srgbClr val="333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diferencia de</a:t>
            </a:r>
            <a:pPr indent="0" marL="0">
              <a:lnSpc>
                <a:spcPct val="114000"/>
              </a:lnSpc>
              <a:buNone/>
            </a:pPr>
            <a:r>
              <a:rPr lang="en-US" sz="1900" dirty="0">
                <a:solidFill>
                  <a:srgbClr val="333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las firmas de estrategia que entregan un deck o las consultoras de RH que dan talleres, </a:t>
            </a:r>
            <a:pPr indent="0" marL="0">
              <a:lnSpc>
                <a:spcPct val="114000"/>
              </a:lnSpc>
              <a:buNone/>
            </a:pPr>
            <a:r>
              <a:rPr lang="en-US" sz="1900" b="1" dirty="0">
                <a:solidFill>
                  <a:srgbClr val="C95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respondemos por el cambio de comportamiento y el resultado de negocio</a:t>
            </a:r>
            <a:pPr indent="0" marL="0">
              <a:lnSpc>
                <a:spcPct val="114000"/>
              </a:lnSpc>
              <a:buNone/>
            </a:pPr>
            <a:r>
              <a:rPr lang="en-US" sz="1900" dirty="0">
                <a:solidFill>
                  <a:srgbClr val="333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—porque en la era de la IA no gana quien tiene la mejor tecnología, sino la organización que la adopta más rápido.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66928" y="5760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clásica: audiencia · categoría · beneficio diferencial · razón para creer. Memorizable y defendible ante un comité.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PRAXIA</a:t>
            </a:r>
            <a:pPr algn="l" indent="0" marL="0">
              <a:buNone/>
            </a:pPr>
            <a:r>
              <a:rPr lang="en-US" sz="80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Estrategia y Plataforma de Marca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61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9B8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MANIFIESTO DE MARCA (EN)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1234440"/>
            <a:ext cx="969264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company now has a strategy for AI.
Almost none have an organization ready to live it.
</a:t>
            </a:r>
            <a:pPr indent="0" marL="0">
              <a:lnSpc>
                <a:spcPct val="106000"/>
              </a:lnSpc>
              <a:buNone/>
            </a:pPr>
            <a:r>
              <a:rPr lang="en-US" sz="1650" dirty="0">
                <a:solidFill>
                  <a:srgbClr val="C7C9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technology is ready. The decks are beautiful. The town halls are inspiring. And still, nothing moves.
</a:t>
            </a:r>
            <a:pPr indent="0" marL="0">
              <a:lnSpc>
                <a:spcPct val="106000"/>
              </a:lnSpc>
              <a:buNone/>
            </a:pPr>
            <a:r>
              <a:rPr lang="en-US" sz="1650" dirty="0">
                <a:solidFill>
                  <a:srgbClr val="C7C9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Because transformation was never a technology problem. It was always a human one.
</a:t>
            </a:r>
            <a:pPr indent="0" marL="0">
              <a:lnSpc>
                <a:spcPct val="106000"/>
              </a:lnSpc>
              <a:buNone/>
            </a:pPr>
            <a:r>
              <a:rPr lang="en-US" sz="1650" dirty="0">
                <a:solidFill>
                  <a:srgbClr val="C7C9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winners of the next decade won’t be the companies with the best tools. They’ll be the ones whose people adopt change faster than the world can impose it.
</a:t>
            </a:r>
            <a:pPr indent="0" marL="0">
              <a:lnSpc>
                <a:spcPct val="106000"/>
              </a:lnSpc>
              <a:buNone/>
            </a:pPr>
            <a:r>
              <a:rPr lang="en-US" sz="1650" dirty="0">
                <a:solidFill>
                  <a:srgbClr val="C7C9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exist to close that gap — between ambition and adoption, between strategy and reality, between what your organization has bought and what it has actually become.
</a:t>
            </a:r>
            <a:pPr indent="0" marL="0">
              <a:lnSpc>
                <a:spcPct val="106000"/>
              </a:lnSpc>
              <a:buNone/>
            </a:pPr>
            <a:r>
              <a:rPr lang="en-US" sz="1650" b="1" dirty="0">
                <a:solidFill>
                  <a:srgbClr val="E589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don’t sell decks. We don’t sell workshops. We don’t sell hope. We engineer adoption.
</a:t>
            </a:r>
            <a:pPr indent="0" marL="0">
              <a:lnSpc>
                <a:spcPct val="106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Transformation your organization actually lives. At the speed your business moves.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PRAXIA</a:t>
            </a:r>
            <a:pPr algn="l" indent="0" marL="0">
              <a:buNone/>
            </a:pPr>
            <a:r>
              <a:rPr lang="en-US" sz="80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Sección 03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61B"/>
          </a:solidFill>
          <a:ln/>
        </p:spPr>
      </p:sp>
      <p:sp>
        <p:nvSpPr>
          <p:cNvPr id="3" name="Shape 1"/>
          <p:cNvSpPr/>
          <p:nvPr/>
        </p:nvSpPr>
        <p:spPr>
          <a:xfrm>
            <a:off x="8869680" y="1051560"/>
            <a:ext cx="4297680" cy="4297680"/>
          </a:xfrm>
          <a:prstGeom prst="donut">
            <a:avLst/>
          </a:prstGeom>
          <a:solidFill>
            <a:srgbClr val="9B8FF2">
              <a:alpha val="8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416845" y="1051560"/>
            <a:ext cx="4297680" cy="4297680"/>
          </a:xfrm>
          <a:prstGeom prst="donut">
            <a:avLst/>
          </a:prstGeom>
          <a:solidFill>
            <a:srgbClr val="E5895F">
              <a:alpha val="8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37160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2C2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2000" dirty="0"/>
          </a:p>
        </p:txBody>
      </p:sp>
      <p:sp>
        <p:nvSpPr>
          <p:cNvPr id="6" name="Text 4"/>
          <p:cNvSpPr/>
          <p:nvPr/>
        </p:nvSpPr>
        <p:spPr>
          <a:xfrm>
            <a:off x="612648" y="3063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9B8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ARCHITECTURE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3310128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de servicios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85216" y="470916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prácticas, un motor de inteligencia y una metodología propietaria comercializable.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PRAXIA</a:t>
            </a:r>
            <a:pPr algn="l" indent="0" marL="0">
              <a:buNone/>
            </a:pPr>
            <a:r>
              <a:rPr lang="en-US" sz="80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Sección 04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423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800" b="1" dirty="0">
                <a:solidFill>
                  <a:srgbClr val="151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Cuatro prácticas, un motor de inteligencia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1920240"/>
            <a:ext cx="2624328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3C6"/>
            </a:solidFill>
            <a:prstDash val="solid"/>
          </a:ln>
          <a:effectLst>
            <a:outerShdw sx="100000" sy="100000" kx="0" ky="0" algn="bl" rotWithShape="0" blurRad="88900" dist="25400" dir="5400000">
              <a:srgbClr val="9A9488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95528" y="21031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231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95528" y="26060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151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&amp; Operating Model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95528" y="32918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F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y modelos operativos humano-IA para donde vas.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28416" y="1920240"/>
            <a:ext cx="2624328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3C6"/>
            </a:solidFill>
            <a:prstDash val="solid"/>
          </a:ln>
          <a:effectLst>
            <a:outerShdw sx="100000" sy="100000" kx="0" ky="0" algn="bl" rotWithShape="0" blurRad="88900" dist="25400" dir="5400000">
              <a:srgbClr val="9A9488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57016" y="21031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231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557016" y="26060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151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&amp; Culture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557016" y="32918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F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Alineación ejecutiva, liderazgo del cambio y cultura.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89904" y="1920240"/>
            <a:ext cx="2624328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3C6"/>
            </a:solidFill>
            <a:prstDash val="solid"/>
          </a:ln>
          <a:effectLst>
            <a:outerShdw sx="100000" sy="100000" kx="0" ky="0" algn="bl" rotWithShape="0" blurRad="88900" dist="25400" dir="5400000">
              <a:srgbClr val="9A9488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18504" y="21031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5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318504" y="26060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151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&amp; Adoption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318504" y="32918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F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práctica insignia: ingeniería de adopción del cambio y la IA.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851392" y="1920240"/>
            <a:ext cx="2624328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3C6"/>
            </a:solidFill>
            <a:prstDash val="solid"/>
          </a:ln>
          <a:effectLst>
            <a:outerShdw sx="100000" sy="100000" kx="0" ky="0" algn="bl" rotWithShape="0" blurRad="88900" dist="25400" dir="5400000">
              <a:srgbClr val="9A9488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079992" y="21031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231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079992" y="26060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151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&amp; Capability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079992" y="32918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F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Upskilling para IA, estrategia de talento y workforce.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66928" y="4434840"/>
            <a:ext cx="11057839" cy="1280160"/>
          </a:xfrm>
          <a:prstGeom prst="roundRect">
            <a:avLst>
              <a:gd name="adj" fmla="val 5714"/>
            </a:avLst>
          </a:prstGeom>
          <a:solidFill>
            <a:srgbClr val="15161B"/>
          </a:solidFill>
          <a:ln w="9525">
            <a:solidFill>
              <a:srgbClr val="D9D3C6"/>
            </a:solidFill>
            <a:prstDash val="solid"/>
          </a:ln>
          <a:effectLst>
            <a:outerShdw sx="100000" sy="100000" kx="0" ky="0" algn="bl" rotWithShape="0" blurRad="88900" dist="25400" dir="5400000">
              <a:srgbClr val="9A9488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86968" y="4617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People &amp; Organizational Intelligence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86968" y="507492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7C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motor transversal: diagnósticos, people analytics y el Adoption Gap Index™ que hacen medible y accountable cada práctica —y productizan la IP.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PRAXIA</a:t>
            </a:r>
            <a:pPr algn="l" indent="0" marL="0">
              <a:buNone/>
            </a:pPr>
            <a:r>
              <a:rPr lang="en-US" sz="80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Estrategia y Plataforma de Marca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423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PRÁCTICAS EN DETALLE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151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Objetivo, dolor, comprador, resultado</a:t>
            </a:r>
            <a:endParaRPr lang="en-US" sz="27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00200"/>
          <a:ext cx="11057839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566160"/>
                <a:gridCol w="2011680"/>
                <a:gridCol w="2734056"/>
              </a:tblGrid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Práctica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61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Problema que resuelve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61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Comprador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61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 / IP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61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 &amp; Operating 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“Mi estructura no soporta a dónde vamos.”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CEO · COO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 operativo humano-IA · Org design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Leadership &amp; Culture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“Mis líderes no encarnan ni impulsan el cambio.”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CEO · CHRO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Cadre de liderazgo del cambio · Culture blueprint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&amp; Adoption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“Lo lanzamos y nadie lo adoptó.”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CTO transf. · CHRO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Adopción medida · AGI · playbooks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Talent &amp; Capability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“Mi gente no tiene las capacidades del futuro.”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CHRO · CLO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Academia de capacidades · reskilling 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People &amp; Org Intelligence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“No sé dónde ni cuánto se está adoptando.”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CHRO · CEO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Adoption Gap Index™ · people analytics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66928" y="5806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prácticas evitan la dispersión de siete pilares sueltos y mantienen foco comercial; el motor de inteligencia las vuelve medibles y escalables.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PRAXIA</a:t>
            </a:r>
            <a:pPr algn="l" indent="0" marL="0">
              <a:buNone/>
            </a:pPr>
            <a:r>
              <a:rPr lang="en-US" sz="80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Estrategia y Plataforma de Marca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61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9B8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PROPIETARIA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Adoption System™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6459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7C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“Strategy is bought. Adoption is engineered.” — Un sistema repetible, licenciable y medible, no un proyecto a la medida.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2377440"/>
            <a:ext cx="2624328" cy="3200400"/>
          </a:xfrm>
          <a:prstGeom prst="roundRect">
            <a:avLst>
              <a:gd name="adj" fmla="val 2787"/>
            </a:avLst>
          </a:prstGeom>
          <a:solidFill>
            <a:srgbClr val="20222C"/>
          </a:solidFill>
          <a:ln w="9525">
            <a:solidFill>
              <a:srgbClr val="2C2F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6112" y="2706624"/>
            <a:ext cx="256032" cy="256032"/>
          </a:xfrm>
          <a:prstGeom prst="ellipse">
            <a:avLst/>
          </a:prstGeom>
          <a:solidFill>
            <a:srgbClr val="9B8FF2"/>
          </a:solidFill>
          <a:ln/>
        </p:spPr>
      </p:sp>
      <p:sp>
        <p:nvSpPr>
          <p:cNvPr id="8" name="Text 6"/>
          <p:cNvSpPr/>
          <p:nvPr/>
        </p:nvSpPr>
        <p:spPr>
          <a:xfrm>
            <a:off x="896112" y="267004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98448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3200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B8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Diagnosticar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361188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C7C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Medimos el Adoption Gap con el AGI: dónde está la distancia entre ambición y realidad.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28416" y="2377440"/>
            <a:ext cx="2624328" cy="3200400"/>
          </a:xfrm>
          <a:prstGeom prst="roundRect">
            <a:avLst>
              <a:gd name="adj" fmla="val 2787"/>
            </a:avLst>
          </a:prstGeom>
          <a:solidFill>
            <a:srgbClr val="20222C"/>
          </a:solidFill>
          <a:ln w="9525">
            <a:solidFill>
              <a:srgbClr val="2C2F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0" y="2706624"/>
            <a:ext cx="256032" cy="256032"/>
          </a:xfrm>
          <a:prstGeom prst="ellipse">
            <a:avLst/>
          </a:prstGeom>
          <a:solidFill>
            <a:srgbClr val="9B8FF2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0" y="267004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059936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584448" y="3200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B8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Alinear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584448" y="361188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C7C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Liderazgo, estrategia y modelo operativo tras una sola tesis de cambio.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89904" y="2377440"/>
            <a:ext cx="2624328" cy="3200400"/>
          </a:xfrm>
          <a:prstGeom prst="roundRect">
            <a:avLst>
              <a:gd name="adj" fmla="val 2787"/>
            </a:avLst>
          </a:prstGeom>
          <a:solidFill>
            <a:srgbClr val="20222C"/>
          </a:solidFill>
          <a:ln w="9525">
            <a:solidFill>
              <a:srgbClr val="2C2F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19088" y="2706624"/>
            <a:ext cx="256032" cy="256032"/>
          </a:xfrm>
          <a:prstGeom prst="ellipse">
            <a:avLst/>
          </a:prstGeom>
          <a:solidFill>
            <a:srgbClr val="E5895F"/>
          </a:solidFill>
          <a:ln/>
        </p:spPr>
      </p:sp>
      <p:sp>
        <p:nvSpPr>
          <p:cNvPr id="20" name="Text 18"/>
          <p:cNvSpPr/>
          <p:nvPr/>
        </p:nvSpPr>
        <p:spPr>
          <a:xfrm>
            <a:off x="6419088" y="267004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21424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45936" y="3200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589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Adoptar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345936" y="361188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C7C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comportamiento: capacidades, cultura, flujos humano-IA, liderazgo del cambio.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851392" y="2377440"/>
            <a:ext cx="2624328" cy="3200400"/>
          </a:xfrm>
          <a:prstGeom prst="roundRect">
            <a:avLst>
              <a:gd name="adj" fmla="val 2787"/>
            </a:avLst>
          </a:prstGeom>
          <a:solidFill>
            <a:srgbClr val="20222C"/>
          </a:solidFill>
          <a:ln w="9525">
            <a:solidFill>
              <a:srgbClr val="2C2F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80576" y="2706624"/>
            <a:ext cx="256032" cy="256032"/>
          </a:xfrm>
          <a:prstGeom prst="ellipse">
            <a:avLst/>
          </a:prstGeom>
          <a:solidFill>
            <a:srgbClr val="E5895F"/>
          </a:solidFill>
          <a:ln/>
        </p:spPr>
      </p:sp>
      <p:sp>
        <p:nvSpPr>
          <p:cNvPr id="26" name="Text 24"/>
          <p:cNvSpPr/>
          <p:nvPr/>
        </p:nvSpPr>
        <p:spPr>
          <a:xfrm>
            <a:off x="9180576" y="267004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582912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107424" y="3200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589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Sostener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107424" y="361188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C7C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Embeber, medir y escalar la adopción como capacidad permanente.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PRAXIA</a:t>
            </a:r>
            <a:pPr algn="l" indent="0" marL="0">
              <a:buNone/>
            </a:pPr>
            <a:r>
              <a:rPr lang="en-US" sz="80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Sección 04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423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COMERCIALIZABLE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151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activo que se vende sin Francisco en la sala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66928" y="1920240"/>
            <a:ext cx="539496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9525">
            <a:solidFill>
              <a:srgbClr val="D9D3C6"/>
            </a:solidFill>
            <a:prstDash val="solid"/>
          </a:ln>
          <a:effectLst>
            <a:outerShdw sx="100000" sy="100000" kx="0" ky="0" algn="bl" rotWithShape="0" blurRad="88900" dist="25400" dir="5400000">
              <a:srgbClr val="9A9488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1248" y="2148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423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 / DIAGNÓSTICO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41248" y="245059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51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Adoption Gap Index™ (AGI)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41248" y="3063240"/>
            <a:ext cx="4892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3F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Mide la distancia entre la transformación declarada y la adopción real, en liderazgo, cultura, capacidad y modelo operativo.
</a:t>
            </a:r>
            <a:pPr indent="0" marL="0">
              <a:lnSpc>
                <a:spcPct val="116000"/>
              </a:lnSpc>
              <a:buNone/>
            </a:pPr>
            <a:r>
              <a:rPr lang="en-US" sz="1150" b="1" dirty="0">
                <a:solidFill>
                  <a:srgbClr val="C95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Doble sentido deliberado:  </a:t>
            </a:r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3F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persiguen la AGI (inteligencia artificial general); nosotros medimos la que decide si tu IA rinde —tu Adoption Gap Index.
</a:t>
            </a:r>
            <a:pPr indent="0" marL="0">
              <a:lnSpc>
                <a:spcPct val="116000"/>
              </a:lnSpc>
              <a:buNone/>
            </a:pPr>
            <a:r>
              <a:rPr lang="en-US" sz="1150" i="1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 de entrada (wedge), benchmarkable y con foso de datos que crece con cada engagement.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36208" y="1920240"/>
            <a:ext cx="5394960" cy="4023360"/>
          </a:xfrm>
          <a:prstGeom prst="roundRect">
            <a:avLst>
              <a:gd name="adj" fmla="val 2273"/>
            </a:avLst>
          </a:prstGeom>
          <a:solidFill>
            <a:srgbClr val="EAE5D9"/>
          </a:solidFill>
          <a:ln w="9525">
            <a:solidFill>
              <a:srgbClr val="D9D3C6"/>
            </a:solidFill>
            <a:prstDash val="solid"/>
          </a:ln>
          <a:effectLst>
            <a:outerShdw sx="100000" sy="100000" kx="0" ky="0" algn="bl" rotWithShape="0" blurRad="88900" dist="25400" dir="5400000">
              <a:srgbClr val="9A9488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10528" y="2148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95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FRANQUICIA DE PENSAMIENTO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510528" y="245059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51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Adoption Gap Report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510528" y="3063240"/>
            <a:ext cx="4892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3F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anual con datos del AGI por industria y geografía —el “Edelman Trust Barometer” de la adopción.
</a:t>
            </a:r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3F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demanda, autoridad y prensa; convierte el POV en categoría.
</a:t>
            </a:r>
            <a:pPr indent="0" marL="0">
              <a:lnSpc>
                <a:spcPct val="116000"/>
              </a:lnSpc>
              <a:buNone/>
            </a:pPr>
            <a:r>
              <a:rPr lang="en-US" sz="1150" b="1" dirty="0">
                <a:solidFill>
                  <a:srgbClr val="151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Conceptos satélite licenciables:</a:t>
            </a:r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3F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Transformation Debt · The 70% Problem · Human + Machine Operating Models.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PRAXIA</a:t>
            </a:r>
            <a:pPr algn="l" indent="0" marL="0">
              <a:buNone/>
            </a:pPr>
            <a:r>
              <a:rPr lang="en-US" sz="80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Estrategia y Plataforma de Marca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61B"/>
          </a:solidFill>
          <a:ln/>
        </p:spPr>
      </p:sp>
      <p:sp>
        <p:nvSpPr>
          <p:cNvPr id="3" name="Shape 1"/>
          <p:cNvSpPr/>
          <p:nvPr/>
        </p:nvSpPr>
        <p:spPr>
          <a:xfrm>
            <a:off x="8869680" y="1051560"/>
            <a:ext cx="4297680" cy="4297680"/>
          </a:xfrm>
          <a:prstGeom prst="donut">
            <a:avLst/>
          </a:prstGeom>
          <a:solidFill>
            <a:srgbClr val="9B8FF2">
              <a:alpha val="8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416845" y="1051560"/>
            <a:ext cx="4297680" cy="4297680"/>
          </a:xfrm>
          <a:prstGeom prst="donut">
            <a:avLst/>
          </a:prstGeom>
          <a:solidFill>
            <a:srgbClr val="E5895F">
              <a:alpha val="8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37160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2C2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2000" dirty="0"/>
          </a:p>
        </p:txBody>
      </p:sp>
      <p:sp>
        <p:nvSpPr>
          <p:cNvPr id="6" name="Text 4"/>
          <p:cNvSpPr/>
          <p:nvPr/>
        </p:nvSpPr>
        <p:spPr>
          <a:xfrm>
            <a:off x="612648" y="3063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9B8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PERSONALITY &amp; ARCHETYPE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3310128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Personalidad y arquetipo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85216" y="470916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piensa, cómo se comporta y cómo habla la marca.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PRAXIA</a:t>
            </a:r>
            <a:pPr algn="l" indent="0" marL="0">
              <a:buNone/>
            </a:pPr>
            <a:r>
              <a:rPr lang="en-US" sz="80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Sección 05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423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ARQUETIPO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151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Catalizador, con la disciplina del Sabio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920240"/>
            <a:ext cx="539496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9525">
            <a:solidFill>
              <a:srgbClr val="D9D3C6"/>
            </a:solidFill>
            <a:prstDash val="solid"/>
          </a:ln>
          <a:effectLst>
            <a:outerShdw sx="100000" sy="100000" kx="0" ky="0" algn="bl" rotWithShape="0" blurRad="88900" dist="25400" dir="5400000">
              <a:srgbClr val="9A9488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1248" y="21488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23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PRIMARIO — THE MAGICIAN / CATALYST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1248" y="245059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1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Transforma un estado en otro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41248" y="3063240"/>
            <a:ext cx="4892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F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arquetipo de la transformación y el potencial realizado. Hace que el cambio invisible ocurra —que es, literalmente, adopción. Diferencia: la mayoría de las consultoras juegan al Sabio o al Gobernante; el Catalizador está menos ocupado y es más ownable.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36208" y="1920240"/>
            <a:ext cx="5394960" cy="4023360"/>
          </a:xfrm>
          <a:prstGeom prst="roundRect">
            <a:avLst>
              <a:gd name="adj" fmla="val 2273"/>
            </a:avLst>
          </a:prstGeom>
          <a:solidFill>
            <a:srgbClr val="EAE5D9"/>
          </a:solidFill>
          <a:ln w="9525">
            <a:solidFill>
              <a:srgbClr val="D9D3C6"/>
            </a:solidFill>
            <a:prstDash val="solid"/>
          </a:ln>
          <a:effectLst>
            <a:outerShdw sx="100000" sy="100000" kx="0" ky="0" algn="bl" rotWithShape="0" blurRad="88900" dist="25400" dir="5400000">
              <a:srgbClr val="9A9488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10528" y="21488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95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SECUNDARIO — THE SAGE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510528" y="245059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1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Verdad, rigor y evidencia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510528" y="3063240"/>
            <a:ext cx="4892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F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Ancla al Catalizador para que nunca suene místico ni motivacional: diagnóstico honesto, ciencia del comportamiento, datos. Con un matiz de Gobernante (Ruler) que aporta estándares y autoridad ejecutiva ante un consejo.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PRAXIA</a:t>
            </a:r>
            <a:pPr algn="l" indent="0" marL="0">
              <a:buNone/>
            </a:pPr>
            <a:r>
              <a:rPr lang="en-US" sz="80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Estrategia y Plataforma de Marca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423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ATRIBUTOS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151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se comporta la marca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874520"/>
            <a:ext cx="52578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9D3C6"/>
            </a:solidFill>
            <a:prstDash val="solid"/>
          </a:ln>
          <a:effectLst>
            <a:outerShdw sx="100000" sy="100000" kx="0" ky="0" algn="bl" rotWithShape="0" blurRad="88900" dist="25400" dir="5400000">
              <a:srgbClr val="9A9488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32104" y="2194560"/>
            <a:ext cx="201168" cy="201168"/>
          </a:xfrm>
          <a:prstGeom prst="ellipse">
            <a:avLst/>
          </a:prstGeom>
          <a:solidFill>
            <a:srgbClr val="4231D4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198424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151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Incisiva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898648" y="1984248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F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 la verdad que otros evitan; nombra el bloqueo real en la primera reunión.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355080" y="1874520"/>
            <a:ext cx="52578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9D3C6"/>
            </a:solidFill>
            <a:prstDash val="solid"/>
          </a:ln>
          <a:effectLst>
            <a:outerShdw sx="100000" sy="100000" kx="0" ky="0" algn="bl" rotWithShape="0" blurRad="88900" dist="25400" dir="5400000">
              <a:srgbClr val="9A9488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20256" y="2194560"/>
            <a:ext cx="201168" cy="201168"/>
          </a:xfrm>
          <a:prstGeom prst="ellipse">
            <a:avLst/>
          </a:prstGeom>
          <a:solidFill>
            <a:srgbClr val="4231D4"/>
          </a:solidFill>
          <a:ln/>
        </p:spPr>
      </p:sp>
      <p:sp>
        <p:nvSpPr>
          <p:cNvPr id="11" name="Text 9"/>
          <p:cNvSpPr/>
          <p:nvPr/>
        </p:nvSpPr>
        <p:spPr>
          <a:xfrm>
            <a:off x="6976872" y="198424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151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Catalítica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686800" y="1984248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F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Sesgo a la adopción; se mide por cambio de comportamiento, no por decks.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66928" y="2843784"/>
            <a:ext cx="52578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9D3C6"/>
            </a:solidFill>
            <a:prstDash val="solid"/>
          </a:ln>
          <a:effectLst>
            <a:outerShdw sx="100000" sy="100000" kx="0" ky="0" algn="bl" rotWithShape="0" blurRad="88900" dist="25400" dir="5400000">
              <a:srgbClr val="9A9488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32104" y="3163824"/>
            <a:ext cx="201168" cy="201168"/>
          </a:xfrm>
          <a:prstGeom prst="ellipse">
            <a:avLst/>
          </a:prstGeom>
          <a:solidFill>
            <a:srgbClr val="7E9B86"/>
          </a:solidFill>
          <a:ln/>
        </p:spPr>
      </p:sp>
      <p:sp>
        <p:nvSpPr>
          <p:cNvPr id="15" name="Text 13"/>
          <p:cNvSpPr/>
          <p:nvPr/>
        </p:nvSpPr>
        <p:spPr>
          <a:xfrm>
            <a:off x="1188720" y="295351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151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Bilingüe humano + máquina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898648" y="2953512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F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 flujos IA-humano y cita evidencia; ni tech fría ni RH blanda.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355080" y="2843784"/>
            <a:ext cx="52578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9D3C6"/>
            </a:solidFill>
            <a:prstDash val="solid"/>
          </a:ln>
          <a:effectLst>
            <a:outerShdw sx="100000" sy="100000" kx="0" ky="0" algn="bl" rotWithShape="0" blurRad="88900" dist="25400" dir="5400000">
              <a:srgbClr val="9A9488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620256" y="3163824"/>
            <a:ext cx="201168" cy="201168"/>
          </a:xfrm>
          <a:prstGeom prst="ellipse">
            <a:avLst/>
          </a:prstGeom>
          <a:solidFill>
            <a:srgbClr val="7E9B86"/>
          </a:solidFill>
          <a:ln/>
        </p:spPr>
      </p:sp>
      <p:sp>
        <p:nvSpPr>
          <p:cNvPr id="19" name="Text 17"/>
          <p:cNvSpPr/>
          <p:nvPr/>
        </p:nvSpPr>
        <p:spPr>
          <a:xfrm>
            <a:off x="6976872" y="295351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151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Elegante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686800" y="2953512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F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Claridad sobre complejidad; una página, cero muros de jerga.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66928" y="3813048"/>
            <a:ext cx="11057839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9D3C6"/>
            </a:solidFill>
            <a:prstDash val="solid"/>
          </a:ln>
          <a:effectLst>
            <a:outerShdw sx="100000" sy="100000" kx="0" ky="0" algn="bl" rotWithShape="0" blurRad="88900" dist="25400" dir="5400000">
              <a:srgbClr val="9A9488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77824" y="4133088"/>
            <a:ext cx="201168" cy="201168"/>
          </a:xfrm>
          <a:prstGeom prst="ellipse">
            <a:avLst/>
          </a:prstGeom>
          <a:solidFill>
            <a:srgbClr val="C9552F"/>
          </a:solidFill>
          <a:ln/>
        </p:spPr>
      </p:sp>
      <p:sp>
        <p:nvSpPr>
          <p:cNvPr id="23" name="Text 21"/>
          <p:cNvSpPr/>
          <p:nvPr/>
        </p:nvSpPr>
        <p:spPr>
          <a:xfrm>
            <a:off x="1252728" y="394106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Accountable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950208" y="3941064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F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 in the game: KPIs de adopción; se queda hasta que se arraiga.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66928" y="4937760"/>
            <a:ext cx="11057839" cy="1051560"/>
          </a:xfrm>
          <a:prstGeom prst="roundRect">
            <a:avLst>
              <a:gd name="adj" fmla="val 6957"/>
            </a:avLst>
          </a:prstGeom>
          <a:solidFill>
            <a:srgbClr val="15161B"/>
          </a:solidFill>
          <a:ln w="9525">
            <a:solidFill>
              <a:srgbClr val="D9D3C6"/>
            </a:solidFill>
            <a:prstDash val="solid"/>
          </a:ln>
          <a:effectLst>
            <a:outerShdw sx="100000" sy="100000" kx="0" ky="0" algn="bl" rotWithShape="0" blurRad="88900" dist="25400" dir="5400000">
              <a:srgbClr val="9A9488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41248" y="50840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58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41248" y="5358384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Motivacional · jerga vacía · coach · genérica-RH · hype · fábrica de decks · fría o burocrática.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PRAXIA</a:t>
            </a:r>
            <a:pPr algn="l" indent="0" marL="0">
              <a:buNone/>
            </a:pPr>
            <a:r>
              <a:rPr lang="en-US" sz="80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Estrategia y Plataforma de Marca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423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151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se presenta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920240"/>
            <a:ext cx="539496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9525">
            <a:solidFill>
              <a:srgbClr val="D9D3C6"/>
            </a:solidFill>
            <a:prstDash val="solid"/>
          </a:ln>
          <a:effectLst>
            <a:outerShdw sx="100000" sy="100000" kx="0" ky="0" algn="bl" rotWithShape="0" blurRad="88900" dist="25400" dir="5400000">
              <a:srgbClr val="9A9488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1248" y="21214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23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 UN CEO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1248" y="2450592"/>
            <a:ext cx="4892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F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par a par. Empieza por el P&amp;L, la competitividad y el riesgo. Concisa, provocadora pero fundamentada. Trae una tesis, no un catálogo.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36208" y="1920240"/>
            <a:ext cx="5394960" cy="2331720"/>
          </a:xfrm>
          <a:prstGeom prst="roundRect">
            <a:avLst>
              <a:gd name="adj" fmla="val 3922"/>
            </a:avLst>
          </a:prstGeom>
          <a:solidFill>
            <a:srgbClr val="EAE5D9"/>
          </a:solidFill>
          <a:ln w="9525">
            <a:solidFill>
              <a:srgbClr val="D9D3C6"/>
            </a:solidFill>
            <a:prstDash val="solid"/>
          </a:ln>
          <a:effectLst>
            <a:outerShdw sx="100000" sy="100000" kx="0" ky="0" algn="bl" rotWithShape="0" blurRad="88900" dist="25400" dir="5400000">
              <a:srgbClr val="9A9488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10528" y="21214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95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RH / CHRO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510528" y="2450592"/>
            <a:ext cx="4892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F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elevador de la función: convierte al CHRO en héroe ante el CEO. Rigurosa y empoderadora, nunca condescendiente. Da lenguaje de negocio para lo que RH ya intuye.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66928" y="4526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EQUILIBRIO DE MARCA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6928" y="4846320"/>
            <a:ext cx="2624328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9D3C6"/>
            </a:solidFill>
            <a:prstDash val="solid"/>
          </a:ln>
          <a:effectLst>
            <a:outerShdw sx="100000" sy="100000" kx="0" ky="0" algn="bl" rotWithShape="0" blurRad="88900" dist="25400" dir="5400000">
              <a:srgbClr val="9A9488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49808" y="4983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231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Alta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49808" y="54681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Autoridad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28416" y="4846320"/>
            <a:ext cx="2624328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9D3C6"/>
            </a:solidFill>
            <a:prstDash val="solid"/>
          </a:ln>
          <a:effectLst>
            <a:outerShdw sx="100000" sy="100000" kx="0" ky="0" algn="bl" rotWithShape="0" blurRad="88900" dist="25400" dir="5400000">
              <a:srgbClr val="9A9488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511296" y="4983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95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Media-alta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3511296" y="54681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Cercanía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89904" y="4846320"/>
            <a:ext cx="2624328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9D3C6"/>
            </a:solidFill>
            <a:prstDash val="solid"/>
          </a:ln>
          <a:effectLst>
            <a:outerShdw sx="100000" sy="100000" kx="0" ky="0" algn="bl" rotWithShape="0" blurRad="88900" dist="25400" dir="5400000">
              <a:srgbClr val="9A9488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272784" y="4983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231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Alta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272784" y="54681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Innovación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851392" y="4846320"/>
            <a:ext cx="2624328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9D3C6"/>
            </a:solidFill>
            <a:prstDash val="solid"/>
          </a:ln>
          <a:effectLst>
            <a:outerShdw sx="100000" sy="100000" kx="0" ky="0" algn="bl" rotWithShape="0" blurRad="88900" dist="25400" dir="5400000">
              <a:srgbClr val="9A9488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034272" y="4983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E9B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Alta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034272" y="54681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Pragmatismo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PRAXIA</a:t>
            </a:r>
            <a:pPr algn="l" indent="0" marL="0">
              <a:buNone/>
            </a:pPr>
            <a:r>
              <a:rPr lang="en-US" sz="80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Estrategia y Plataforma de Marca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61B"/>
          </a:solidFill>
          <a:ln/>
        </p:spPr>
      </p:sp>
      <p:sp>
        <p:nvSpPr>
          <p:cNvPr id="3" name="Shape 1"/>
          <p:cNvSpPr/>
          <p:nvPr/>
        </p:nvSpPr>
        <p:spPr>
          <a:xfrm>
            <a:off x="8869680" y="1051560"/>
            <a:ext cx="4297680" cy="4297680"/>
          </a:xfrm>
          <a:prstGeom prst="donut">
            <a:avLst/>
          </a:prstGeom>
          <a:solidFill>
            <a:srgbClr val="9B8FF2">
              <a:alpha val="8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416845" y="1051560"/>
            <a:ext cx="4297680" cy="4297680"/>
          </a:xfrm>
          <a:prstGeom prst="donut">
            <a:avLst/>
          </a:prstGeom>
          <a:solidFill>
            <a:srgbClr val="E5895F">
              <a:alpha val="8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37160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2C2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2000" dirty="0"/>
          </a:p>
        </p:txBody>
      </p:sp>
      <p:sp>
        <p:nvSpPr>
          <p:cNvPr id="6" name="Text 4"/>
          <p:cNvSpPr/>
          <p:nvPr/>
        </p:nvSpPr>
        <p:spPr>
          <a:xfrm>
            <a:off x="612648" y="3063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9B8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NAMING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3310128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Naming estratégico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85216" y="470916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candidatos, una lista corta con matriz y una recomendación —con banderas de validación.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PRAXIA</a:t>
            </a:r>
            <a:pPr algn="l" indent="0" marL="0">
              <a:buNone/>
            </a:pPr>
            <a:r>
              <a:rPr lang="en-US" sz="80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Sección 06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423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PRINCIPIOS DE NAMING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900" b="1" dirty="0">
                <a:solidFill>
                  <a:srgbClr val="151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qué un nombre acuñado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1874520"/>
            <a:ext cx="539496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D9D3C6"/>
            </a:solidFill>
            <a:prstDash val="solid"/>
          </a:ln>
          <a:effectLst>
            <a:outerShdw sx="100000" sy="100000" kx="0" ky="0" algn="bl" rotWithShape="0" blurRad="88900" dist="25400" dir="5400000">
              <a:srgbClr val="9A9488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1248" y="20848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23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1248" y="2395728"/>
            <a:ext cx="4892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F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Fácil en español e inglés; 1–4 sílabas; memorable.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F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y neutro; extensible a nuevos servicios.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F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depender de “HR”; no suena a reclutadora ni a nómina.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F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tipo advisory, con alma tecnológica y humana.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F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Ownable: marca registrada + dominio + redes realmente disponibles.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36208" y="1874520"/>
            <a:ext cx="5394960" cy="4114800"/>
          </a:xfrm>
          <a:prstGeom prst="roundRect">
            <a:avLst>
              <a:gd name="adj" fmla="val 2222"/>
            </a:avLst>
          </a:prstGeom>
          <a:solidFill>
            <a:srgbClr val="15161B"/>
          </a:solidFill>
          <a:ln w="9525">
            <a:solidFill>
              <a:srgbClr val="D9D3C6"/>
            </a:solidFill>
            <a:prstDash val="solid"/>
          </a:ln>
          <a:effectLst>
            <a:outerShdw sx="100000" sy="100000" kx="0" ky="0" algn="bl" rotWithShape="0" blurRad="88900" dist="25400" dir="5400000">
              <a:srgbClr val="9A9488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10528" y="20848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58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EVIDENCIA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510528" y="2395728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8D5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Presionamos las palabras premium obvias. Todas están saturadas de consultoras: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510528" y="3200400"/>
            <a:ext cx="4892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Verto 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B9B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Verto Consulting / Partners / Advisory + fintech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10528" y="3803904"/>
            <a:ext cx="4892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Praxis 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B9B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Praxis Global Alliance, Praxis Strategic Advisory…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10528" y="4407408"/>
            <a:ext cx="4892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Axia 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B9B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Huron compró AXIA Consulting; Axia Advisory/Partners; roce con AXA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10528" y="5010912"/>
            <a:ext cx="4892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Cadence 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B9B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 Design Systems (marca dominante)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10528" y="553212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E58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firma que quiere poseer una categoría global no construye sobre terreno disputado.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PRAXIA</a:t>
            </a:r>
            <a:pPr algn="l" indent="0" marL="0">
              <a:buNone/>
            </a:pPr>
            <a:r>
              <a:rPr lang="en-US" sz="80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Estrategia y Plataforma de Marca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423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LONGLIST — 30+ CANDIDATOS POR TERRITORIO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151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campo explorado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66928" y="1691640"/>
            <a:ext cx="52578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9D3C6"/>
            </a:solidFill>
            <a:prstDash val="solid"/>
          </a:ln>
          <a:effectLst>
            <a:outerShdw sx="100000" sy="100000" kx="0" ky="0" algn="bl" rotWithShape="0" blurRad="88900" dist="25400" dir="5400000">
              <a:srgbClr val="9A9488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95528" y="180136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23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Acuñados / propietarios (recomendado)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95528" y="21488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Praxia, Praxa, Adova, Verentia, Novora, Kaeda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55080" y="1691640"/>
            <a:ext cx="52578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9D3C6"/>
            </a:solidFill>
            <a:prstDash val="solid"/>
          </a:ln>
          <a:effectLst>
            <a:outerShdw sx="100000" sy="100000" kx="0" ky="0" algn="bl" rotWithShape="0" blurRad="88900" dist="25400" dir="5400000">
              <a:srgbClr val="9A9488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180136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1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Conceptuales (significado)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83680" y="21488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Praxis, Verto, Kinetic, Cadence, Impetus, Fathom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6928" y="2788920"/>
            <a:ext cx="52578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9D3C6"/>
            </a:solidFill>
            <a:prstDash val="solid"/>
          </a:ln>
          <a:effectLst>
            <a:outerShdw sx="100000" sy="100000" kx="0" ky="0" algn="bl" rotWithShape="0" blurRad="88900" dist="25400" dir="5400000">
              <a:srgbClr val="9A9488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95528" y="289864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1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Evolución / transformación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95528" y="32461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Evolv, Emergent, Volta, Verta, Metanoia, Ascent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355080" y="2788920"/>
            <a:ext cx="52578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9D3C6"/>
            </a:solidFill>
            <a:prstDash val="solid"/>
          </a:ln>
          <a:effectLst>
            <a:outerShdw sx="100000" sy="100000" kx="0" ky="0" algn="bl" rotWithShape="0" blurRad="88900" dist="25400" dir="5400000">
              <a:srgbClr val="9A9488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83680" y="289864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1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 y organizaciones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83680" y="32461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Cadre, Cohere, Ensemble, Nucleo, Kinship, Cortex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66928" y="3886200"/>
            <a:ext cx="52578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9D3C6"/>
            </a:solidFill>
            <a:prstDash val="solid"/>
          </a:ln>
          <a:effectLst>
            <a:outerShdw sx="100000" sy="100000" kx="0" ky="0" algn="bl" rotWithShape="0" blurRad="88900" dist="25400" dir="5400000">
              <a:srgbClr val="9A9488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95528" y="399592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1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Movimiento / futuro / cambio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95528" y="43434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Momenta, Tempo, Avanti, Onward, Vantage, Pivot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355080" y="3886200"/>
            <a:ext cx="52578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9D3C6"/>
            </a:solidFill>
            <a:prstDash val="solid"/>
          </a:ln>
          <a:effectLst>
            <a:outerShdw sx="100000" sy="100000" kx="0" ky="0" algn="bl" rotWithShape="0" blurRad="88900" dist="25400" dir="5400000">
              <a:srgbClr val="9A9488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583680" y="399592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1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Internacionales / neutros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83680" y="43434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Axia, Kairos, Meridian, Altus, Aperta, Volent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66928" y="4983480"/>
            <a:ext cx="52578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9D3C6"/>
            </a:solidFill>
            <a:prstDash val="solid"/>
          </a:ln>
          <a:effectLst>
            <a:outerShdw sx="100000" sy="100000" kx="0" ky="0" algn="bl" rotWithShape="0" blurRad="88900" dist="25400" dir="5400000">
              <a:srgbClr val="9A9488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95528" y="509320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1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tipo advisory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95528" y="54406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Praxia, Meridian, Sable, Lodestar, Keystone, Ardent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355080" y="4983480"/>
            <a:ext cx="52578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9D3C6"/>
            </a:solidFill>
            <a:prstDash val="solid"/>
          </a:ln>
          <a:effectLst>
            <a:outerShdw sx="100000" sy="100000" kx="0" ky="0" algn="bl" rotWithShape="0" blurRad="88900" dist="25400" dir="5400000">
              <a:srgbClr val="9A9488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583680" y="509320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1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Cortos con potencial tech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583680" y="54406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Praxa, Vireo, Kova, Nexa, Orbis, Cusp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66928" y="6172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candidatos en 8 territorios. Los de diccionario quedan como alternativas evaluadas; el hero sale de los acuñados por ownability.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PRAXIA</a:t>
            </a:r>
            <a:pPr algn="l" indent="0" marL="0">
              <a:buNone/>
            </a:pPr>
            <a:r>
              <a:rPr lang="en-US" sz="80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Estrategia y Plataforma de Marca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423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CORTA + MATRIZ DE DECISIÓN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151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Cinco finalistas, diez criterios</a:t>
            </a:r>
            <a:endParaRPr lang="en-US" sz="26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00200"/>
          <a:ext cx="11057839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664208"/>
                <a:gridCol w="1664208"/>
                <a:gridCol w="1664208"/>
                <a:gridCol w="1664208"/>
                <a:gridCol w="1563624"/>
              </a:tblGrid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 (1–5)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61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Praxia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61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Verto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61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Axia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61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Cadence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61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Adova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61B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Diferenciación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231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Memorabilidad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231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Credib. ejecutiva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231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Modernidad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231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Escalabilidad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231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Pronunciación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231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Relevancia estrat.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231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Potencial visual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231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Internacional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231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Bajo riesgo confusión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231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5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231D4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46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3363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5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3363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5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3363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5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3363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5D9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66928" y="5989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1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Praxia gana por diferenciación + ownability sin sacrificar credibilidad.  </a:t>
            </a:r>
            <a:pPr indent="0" marL="0">
              <a:buNone/>
            </a:pPr>
            <a:r>
              <a:rPr lang="en-US" sz="1050" i="1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Ningún nombre se declara legalmente disponible: todos requieren validación.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PRAXIA</a:t>
            </a:r>
            <a:pPr algn="l" indent="0" marL="0">
              <a:buNone/>
            </a:pPr>
            <a:r>
              <a:rPr lang="en-US" sz="80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Estrategia y Plataforma de Marca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61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9B8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RECOMENDADO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Praxia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ˈprak-sia /   ·   PRA-xia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2423160"/>
            <a:ext cx="5852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9B8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Concepto. 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8D5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praxis —el punto donde la teoría se vuelve acción y práctica: exactamente la promesa de la firma, convertir estrategia en adopción. Y contiene axia (valor): honra tu input y codifica la creación de valor. Pr-</a:t>
            </a:r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E58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axia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8D5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absorbe praxis + axia en una sola palabra.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720840" y="2331720"/>
            <a:ext cx="4892040" cy="1417320"/>
          </a:xfrm>
          <a:prstGeom prst="roundRect">
            <a:avLst>
              <a:gd name="adj" fmla="val 5161"/>
            </a:avLst>
          </a:prstGeom>
          <a:solidFill>
            <a:srgbClr val="20222C"/>
          </a:solidFill>
          <a:ln w="9525">
            <a:solidFill>
              <a:srgbClr val="D9D3C6"/>
            </a:solidFill>
            <a:prstDash val="solid"/>
          </a:ln>
          <a:effectLst>
            <a:outerShdw sx="100000" sy="100000" kx="0" ky="0" algn="bl" rotWithShape="0" blurRad="88900" dist="25400" dir="5400000">
              <a:srgbClr val="9A9488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949440" y="24871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9B8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949440" y="2761488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8D5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Ownable global · significado perfecto · premium e intelectual · neutro ES/EN · extensible (Praxia Labs, Praxia Index).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720840" y="3886200"/>
            <a:ext cx="4892040" cy="1417320"/>
          </a:xfrm>
          <a:prstGeom prst="roundRect">
            <a:avLst>
              <a:gd name="adj" fmla="val 5161"/>
            </a:avLst>
          </a:prstGeom>
          <a:solidFill>
            <a:srgbClr val="20222C"/>
          </a:solidFill>
          <a:ln w="9525">
            <a:solidFill>
              <a:srgbClr val="D9D3C6"/>
            </a:solidFill>
            <a:prstDash val="solid"/>
          </a:ln>
          <a:effectLst>
            <a:outerShdw sx="100000" sy="100000" kx="0" ky="0" algn="bl" rotWithShape="0" blurRad="88900" dist="25400" dir="5400000">
              <a:srgbClr val="9A9488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949440" y="40416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E58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949440" y="4315968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8D5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tono académico para un fundador scale-up (mitiga la voz moderna). Verificar usos menores del término.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" y="470916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9B8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Descriptor: 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&amp; AI Transformation Advisory      </a:t>
            </a:r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E58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Tagline:  </a:t>
            </a:r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“Turn strategy into adoption.”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66928" y="56692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i="1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REQUERIDA — No se afirma disponibilidad legal:  marca registrada (Clase 35), dominio (praxia.com/.co y adquisición), y handles sociales. Variante más punchy para scale-ups: “Praxa”.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PRAXIA</a:t>
            </a:r>
            <a:pPr algn="l" indent="0" marL="0">
              <a:buNone/>
            </a:pPr>
            <a:r>
              <a:rPr lang="en-US" sz="80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Sección 06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61B"/>
          </a:solidFill>
          <a:ln/>
        </p:spPr>
      </p:sp>
      <p:sp>
        <p:nvSpPr>
          <p:cNvPr id="3" name="Shape 1"/>
          <p:cNvSpPr/>
          <p:nvPr/>
        </p:nvSpPr>
        <p:spPr>
          <a:xfrm>
            <a:off x="8869680" y="1051560"/>
            <a:ext cx="4297680" cy="4297680"/>
          </a:xfrm>
          <a:prstGeom prst="donut">
            <a:avLst/>
          </a:prstGeom>
          <a:solidFill>
            <a:srgbClr val="9B8FF2">
              <a:alpha val="8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416845" y="1051560"/>
            <a:ext cx="4297680" cy="4297680"/>
          </a:xfrm>
          <a:prstGeom prst="donut">
            <a:avLst/>
          </a:prstGeom>
          <a:solidFill>
            <a:srgbClr val="E5895F">
              <a:alpha val="8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37160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2C2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2000" dirty="0"/>
          </a:p>
        </p:txBody>
      </p:sp>
      <p:sp>
        <p:nvSpPr>
          <p:cNvPr id="6" name="Text 4"/>
          <p:cNvSpPr/>
          <p:nvPr/>
        </p:nvSpPr>
        <p:spPr>
          <a:xfrm>
            <a:off x="612648" y="3063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9B8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MESSAGING SYSTEM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3310128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de mensajes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85216" y="470916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listo para desplegar: taglines, pitches, mensajes por audiencia y campañas.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PRAXIA</a:t>
            </a:r>
            <a:pPr algn="l" indent="0" marL="0">
              <a:buNone/>
            </a:pPr>
            <a:r>
              <a:rPr lang="en-US" sz="80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Sección 07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423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TAGLINE Y ALTERNATIVAS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900" b="1" dirty="0">
                <a:solidFill>
                  <a:srgbClr val="151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línea que carga la promesa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1874520"/>
            <a:ext cx="11057839" cy="1234440"/>
          </a:xfrm>
          <a:prstGeom prst="roundRect">
            <a:avLst>
              <a:gd name="adj" fmla="val 5926"/>
            </a:avLst>
          </a:prstGeom>
          <a:solidFill>
            <a:srgbClr val="15161B"/>
          </a:solidFill>
          <a:ln w="9525">
            <a:solidFill>
              <a:srgbClr val="D9D3C6"/>
            </a:solidFill>
            <a:prstDash val="solid"/>
          </a:ln>
          <a:effectLst>
            <a:outerShdw sx="100000" sy="100000" kx="0" ky="0" algn="bl" rotWithShape="0" blurRad="88900" dist="25400" dir="5400000">
              <a:srgbClr val="9A9488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86968" y="2057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9B8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TAGLINE PRINCIPAL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86968" y="23317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“Turn strategy into adoption.”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66928" y="3429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ALTERNATIVAS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66928" y="379476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231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  </a:t>
            </a:r>
            <a:pPr indent="0" marL="0">
              <a:buNone/>
            </a:pPr>
            <a:r>
              <a:rPr lang="en-US" sz="1500" i="1" dirty="0">
                <a:solidFill>
                  <a:srgbClr val="333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“The turning point.”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6928" y="443484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231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  </a:t>
            </a:r>
            <a:pPr indent="0" marL="0">
              <a:buNone/>
            </a:pPr>
            <a:r>
              <a:rPr lang="en-US" sz="1500" i="1" dirty="0">
                <a:solidFill>
                  <a:srgbClr val="333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“Strategy is bought. Adoption is engineered.”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66928" y="507492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231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  </a:t>
            </a:r>
            <a:pPr indent="0" marL="0">
              <a:buNone/>
            </a:pPr>
            <a:r>
              <a:rPr lang="en-US" sz="1500" i="1" dirty="0">
                <a:solidFill>
                  <a:srgbClr val="333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“Change your organization actually lives.”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55080" y="379476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5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  </a:t>
            </a:r>
            <a:pPr indent="0" marL="0">
              <a:buNone/>
            </a:pPr>
            <a:r>
              <a:rPr lang="en-US" sz="1500" i="1" dirty="0">
                <a:solidFill>
                  <a:srgbClr val="333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“Where transformation takes hold.”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55080" y="443484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5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  </a:t>
            </a:r>
            <a:pPr indent="0" marL="0">
              <a:buNone/>
            </a:pPr>
            <a:r>
              <a:rPr lang="en-US" sz="1500" i="1" dirty="0">
                <a:solidFill>
                  <a:srgbClr val="333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“Human + AI, finally adopted.”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55080" y="5074920"/>
            <a:ext cx="5276088" cy="777240"/>
          </a:xfrm>
          <a:prstGeom prst="roundRect">
            <a:avLst>
              <a:gd name="adj" fmla="val 9412"/>
            </a:avLst>
          </a:prstGeom>
          <a:solidFill>
            <a:srgbClr val="EAE5D9"/>
          </a:solidFill>
          <a:ln w="9525">
            <a:solidFill>
              <a:srgbClr val="D9D3C6"/>
            </a:solidFill>
            <a:prstDash val="solid"/>
          </a:ln>
          <a:effectLst>
            <a:outerShdw sx="100000" sy="100000" kx="0" ky="0" algn="bl" rotWithShape="0" blurRad="88900" dist="25400" dir="5400000">
              <a:srgbClr val="9A9488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83680" y="52120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b="1" spc="100" kern="0" dirty="0">
                <a:solidFill>
                  <a:srgbClr val="C95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FRASE DE CIERRE   </a:t>
            </a:r>
            <a:pPr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151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“Everyone else will hand you a plan. We’ll make sure it happens.”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PRAXIA</a:t>
            </a:r>
            <a:pPr algn="l" indent="0" marL="0">
              <a:buNone/>
            </a:pPr>
            <a:r>
              <a:rPr lang="en-US" sz="80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Estrategia y Plataforma de Marca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423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PITCHES Y DESCRIPCIONES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900" b="1" dirty="0">
                <a:solidFill>
                  <a:srgbClr val="151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 ascensor al one-pager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539496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9525">
            <a:solidFill>
              <a:srgbClr val="D9D3C6"/>
            </a:solidFill>
            <a:prstDash val="solid"/>
          </a:ln>
          <a:effectLst>
            <a:outerShdw sx="100000" sy="100000" kx="0" ky="0" algn="bl" rotWithShape="0" blurRad="88900" dist="25400" dir="5400000">
              <a:srgbClr val="9A9488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1248" y="20116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423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ELEVATOR — 20s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41248" y="2331720"/>
            <a:ext cx="4892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3F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transformations fail not because the strategy is wrong, but because the organization never adopts it. Praxia is a human-and-AI transformation advisory that closes that adoption gap — we turn strategy into behavior change, and change into results. We’re measured by what your organization actually adopts, not the decks we deliver.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66928" y="4023360"/>
            <a:ext cx="539496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9525">
            <a:solidFill>
              <a:srgbClr val="D9D3C6"/>
            </a:solidFill>
            <a:prstDash val="solid"/>
          </a:ln>
          <a:effectLst>
            <a:outerShdw sx="100000" sy="100000" kx="0" ky="0" algn="bl" rotWithShape="0" blurRad="88900" dist="25400" dir="5400000">
              <a:srgbClr val="9A9488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41248" y="42062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423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 CORPORATIVA — BREVE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41248" y="4526280"/>
            <a:ext cx="4892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3F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Praxia is a human &amp; AI transformation advisory. We help scale-ups and multinationals close the Adoption Gap — turning strategy, AI and change into behavior their organizations actually live.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36208" y="1828800"/>
            <a:ext cx="5394960" cy="4251960"/>
          </a:xfrm>
          <a:prstGeom prst="roundRect">
            <a:avLst>
              <a:gd name="adj" fmla="val 1720"/>
            </a:avLst>
          </a:prstGeom>
          <a:solidFill>
            <a:srgbClr val="15161B"/>
          </a:solidFill>
          <a:ln w="9525">
            <a:solidFill>
              <a:srgbClr val="D9D3C6"/>
            </a:solidFill>
            <a:prstDash val="solid"/>
          </a:ln>
          <a:effectLst>
            <a:outerShdw sx="100000" sy="100000" kx="0" ky="0" algn="bl" rotWithShape="0" blurRad="88900" dist="25400" dir="5400000">
              <a:srgbClr val="9A9488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10528" y="20116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9B8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— 60s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510528" y="2331720"/>
            <a:ext cx="48920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3000"/>
              </a:lnSpc>
              <a:buNone/>
            </a:pPr>
            <a:r>
              <a:rPr lang="en-US" sz="1100" dirty="0">
                <a:solidFill>
                  <a:srgbClr val="D2D4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serious company now knows its future depends on AI and continuous change. Yet the data is brutal: 70% of AI’s value comes from the people side, and only about 5% of organizations capture it. The bottleneck isn’t technology — it’s adoption.</a:t>
            </a:r>
            <a:endParaRPr lang="en-US" sz="1100" dirty="0"/>
          </a:p>
          <a:p>
            <a:pPr indent="0" marL="0">
              <a:lnSpc>
                <a:spcPct val="113000"/>
              </a:lnSpc>
              <a:buNone/>
            </a:pPr>
            <a:endParaRPr lang="en-US" sz="1100" dirty="0"/>
          </a:p>
          <a:p>
            <a:pPr indent="0" marL="0">
              <a:lnSpc>
                <a:spcPct val="113000"/>
              </a:lnSpc>
              <a:buNone/>
            </a:pPr>
            <a:r>
              <a:rPr lang="en-US" sz="1100" dirty="0">
                <a:solidFill>
                  <a:srgbClr val="D2D4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Praxia exists to close that gap. We combine the rigor of a strategy firm, the human depth of an organizational consultancy and native AI fluency to engineer adoption: the leadership, culture, capabilities and operating models that make change take hold.</a:t>
            </a:r>
            <a:endParaRPr lang="en-US" sz="1100" dirty="0"/>
          </a:p>
          <a:p>
            <a:pPr indent="0" marL="0">
              <a:lnSpc>
                <a:spcPct val="113000"/>
              </a:lnSpc>
              <a:buNone/>
            </a:pPr>
            <a:endParaRPr lang="en-US" sz="1100" dirty="0"/>
          </a:p>
          <a:p>
            <a:pPr indent="0" marL="0">
              <a:lnSpc>
                <a:spcPct val="113000"/>
              </a:lnSpc>
              <a:buNone/>
            </a:pPr>
            <a:r>
              <a:rPr lang="en-US" sz="1100" dirty="0">
                <a:solidFill>
                  <a:srgbClr val="D2D4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work with scale-ups outrunning their organizations and multinationals transforming at scale. We measure ourselves in one currency: the change your people actually adopt — and the results it delivers.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PRAXIA</a:t>
            </a:r>
            <a:pPr algn="l" indent="0" marL="0">
              <a:buNone/>
            </a:pPr>
            <a:r>
              <a:rPr lang="en-US" sz="80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Estrategia y Plataforma de Marca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423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MENSAJES POR AUDIENCIA (EN)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151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mismo núcleo, la lengua de cada mesa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66928" y="173736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D9D3C6"/>
            </a:solidFill>
            <a:prstDash val="solid"/>
          </a:ln>
          <a:effectLst>
            <a:outerShdw sx="100000" sy="100000" kx="0" ky="0" algn="bl" rotWithShape="0" blurRad="88900" dist="25400" dir="5400000">
              <a:srgbClr val="9A9488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984248"/>
            <a:ext cx="128016" cy="128016"/>
          </a:xfrm>
          <a:prstGeom prst="ellipse">
            <a:avLst/>
          </a:prstGeom>
          <a:solidFill>
            <a:srgbClr val="4231D4"/>
          </a:solidFill>
          <a:ln/>
        </p:spPr>
      </p:sp>
      <p:sp>
        <p:nvSpPr>
          <p:cNvPr id="7" name="Text 5"/>
          <p:cNvSpPr/>
          <p:nvPr/>
        </p:nvSpPr>
        <p:spPr>
          <a:xfrm>
            <a:off x="1024128" y="188366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423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HOMEPAGE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41248" y="2212848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i="1" dirty="0">
                <a:solidFill>
                  <a:srgbClr val="2C2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strategy is ready. Your organization isn’t. We close the gap.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310896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D9D3C6"/>
            </a:solidFill>
            <a:prstDash val="solid"/>
          </a:ln>
          <a:effectLst>
            <a:outerShdw sx="100000" sy="100000" kx="0" ky="0" algn="bl" rotWithShape="0" blurRad="88900" dist="25400" dir="5400000">
              <a:srgbClr val="9A9488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3355848"/>
            <a:ext cx="128016" cy="128016"/>
          </a:xfrm>
          <a:prstGeom prst="ellipse">
            <a:avLst/>
          </a:prstGeom>
          <a:solidFill>
            <a:srgbClr val="C9552F"/>
          </a:solidFill>
          <a:ln/>
        </p:spPr>
      </p:sp>
      <p:sp>
        <p:nvSpPr>
          <p:cNvPr id="11" name="Text 9"/>
          <p:cNvSpPr/>
          <p:nvPr/>
        </p:nvSpPr>
        <p:spPr>
          <a:xfrm>
            <a:off x="1024128" y="325526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C95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CEO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41248" y="3584448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i="1" dirty="0">
                <a:solidFill>
                  <a:srgbClr val="2C2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didn’t buy a transformation. You bought a plan. We make it happen — and hold ourselves to the results.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66928" y="448056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D9D3C6"/>
            </a:solidFill>
            <a:prstDash val="solid"/>
          </a:ln>
          <a:effectLst>
            <a:outerShdw sx="100000" sy="100000" kx="0" ky="0" algn="bl" rotWithShape="0" blurRad="88900" dist="25400" dir="5400000">
              <a:srgbClr val="9A9488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77240" y="4727448"/>
            <a:ext cx="128016" cy="128016"/>
          </a:xfrm>
          <a:prstGeom prst="ellipse">
            <a:avLst/>
          </a:prstGeom>
          <a:solidFill>
            <a:srgbClr val="7E9B86"/>
          </a:solidFill>
          <a:ln/>
        </p:spPr>
      </p:sp>
      <p:sp>
        <p:nvSpPr>
          <p:cNvPr id="15" name="Text 13"/>
          <p:cNvSpPr/>
          <p:nvPr/>
        </p:nvSpPr>
        <p:spPr>
          <a:xfrm>
            <a:off x="1024128" y="462686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7E9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CHRO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41248" y="4956048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i="1" dirty="0">
                <a:solidFill>
                  <a:srgbClr val="2C2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the boardroom see what you already know: people are the strategy. We give you the method, the metrics and the mandate.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355080" y="173736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D9D3C6"/>
            </a:solidFill>
            <a:prstDash val="solid"/>
          </a:ln>
          <a:effectLst>
            <a:outerShdw sx="100000" sy="100000" kx="0" ky="0" algn="bl" rotWithShape="0" blurRad="88900" dist="25400" dir="5400000">
              <a:srgbClr val="9A9488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65392" y="1984248"/>
            <a:ext cx="128016" cy="128016"/>
          </a:xfrm>
          <a:prstGeom prst="ellipse">
            <a:avLst/>
          </a:prstGeom>
          <a:solidFill>
            <a:srgbClr val="4231D4"/>
          </a:solidFill>
          <a:ln/>
        </p:spPr>
      </p:sp>
      <p:sp>
        <p:nvSpPr>
          <p:cNvPr id="19" name="Text 17"/>
          <p:cNvSpPr/>
          <p:nvPr/>
        </p:nvSpPr>
        <p:spPr>
          <a:xfrm>
            <a:off x="6812280" y="188366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423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 EN TRANSFORMACIÓN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629400" y="2212848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i="1" dirty="0">
                <a:solidFill>
                  <a:srgbClr val="2C2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You’ve announced it, funded it, launched it. Now let’s make your organization actually adopt it.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355080" y="310896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D9D3C6"/>
            </a:solidFill>
            <a:prstDash val="solid"/>
          </a:ln>
          <a:effectLst>
            <a:outerShdw sx="100000" sy="100000" kx="0" ky="0" algn="bl" rotWithShape="0" blurRad="88900" dist="25400" dir="5400000">
              <a:srgbClr val="9A9488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565392" y="3355848"/>
            <a:ext cx="128016" cy="128016"/>
          </a:xfrm>
          <a:prstGeom prst="ellipse">
            <a:avLst/>
          </a:prstGeom>
          <a:solidFill>
            <a:srgbClr val="C9552F"/>
          </a:solidFill>
          <a:ln/>
        </p:spPr>
      </p:sp>
      <p:sp>
        <p:nvSpPr>
          <p:cNvPr id="23" name="Text 21"/>
          <p:cNvSpPr/>
          <p:nvPr/>
        </p:nvSpPr>
        <p:spPr>
          <a:xfrm>
            <a:off x="6812280" y="325526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C95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629400" y="3584448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i="1" dirty="0">
                <a:solidFill>
                  <a:srgbClr val="2C2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We’re Praxia. We turn strategy into adoption — engineering how organizations absorb AI and change through their people. Not decks. Behavior.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PRAXIA</a:t>
            </a:r>
            <a:pPr algn="l" indent="0" marL="0">
              <a:buNone/>
            </a:pPr>
            <a:r>
              <a:rPr lang="en-US" sz="80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Estrategia y Plataforma de Marca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423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CAMPAÑAS Y THOUGHT LEADERSHIP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900" b="1" dirty="0">
                <a:solidFill>
                  <a:srgbClr val="151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Munición de mercado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1874520"/>
            <a:ext cx="5394960" cy="4114800"/>
          </a:xfrm>
          <a:prstGeom prst="roundRect">
            <a:avLst>
              <a:gd name="adj" fmla="val 1778"/>
            </a:avLst>
          </a:prstGeom>
          <a:solidFill>
            <a:srgbClr val="15161B"/>
          </a:solidFill>
          <a:ln w="9525">
            <a:solidFill>
              <a:srgbClr val="D9D3C6"/>
            </a:solidFill>
            <a:prstDash val="solid"/>
          </a:ln>
          <a:effectLst>
            <a:outerShdw sx="100000" sy="100000" kx="0" ky="0" algn="bl" rotWithShape="0" blurRad="88900" dist="25400" dir="5400000">
              <a:srgbClr val="9A9488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1248" y="20848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9B8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HEADLINES DE CAMPAÑA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41248" y="2395728"/>
            <a:ext cx="4892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i="1" dirty="0">
                <a:solidFill>
                  <a:srgbClr val="E8E6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“Your AI is ready. Your organization isn’t.”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i="1" dirty="0">
                <a:solidFill>
                  <a:srgbClr val="E8E6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“The most expensive gap in your company is between strategy and adoption.”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i="1" dirty="0">
                <a:solidFill>
                  <a:srgbClr val="E8E6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“You bought a plan. Not a transformation. There’s a difference.”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i="1" dirty="0">
                <a:solidFill>
                  <a:srgbClr val="E8E6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“Change doesn’t fail in the boardroom. It fails on Tuesday.”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i="1" dirty="0">
                <a:solidFill>
                  <a:srgbClr val="E8E6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“Meet your other AGI: your Adoption Gap Index.”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36208" y="1874520"/>
            <a:ext cx="539496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9525">
            <a:solidFill>
              <a:srgbClr val="D9D3C6"/>
            </a:solidFill>
            <a:prstDash val="solid"/>
          </a:ln>
          <a:effectLst>
            <a:outerShdw sx="100000" sy="100000" kx="0" ky="0" algn="bl" rotWithShape="0" blurRad="88900" dist="25400" dir="5400000">
              <a:srgbClr val="9A9488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10528" y="208483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C95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CONCEPTOS DE THOUGHT LEADERSHIP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510528" y="2432304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51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Adoption Gap Report  —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F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anual insignia, benchmark por industria/geografía.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510528" y="3127248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51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 Debt  —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F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cambio no adoptado como pasivo medible en el balance organizacional.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510528" y="3822192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51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70% Problem  —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F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franquicia sobre el 70% humano del valor de la IA.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510528" y="4517136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51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+ Machine Operating Models  —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F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Playbooks para diseñar trabajo híbrido humano-IA.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510528" y="5212080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51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at the Speed of AI  —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F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fin del cambio episódico; capacidad continua.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PRAXIA</a:t>
            </a:r>
            <a:pPr algn="l" indent="0" marL="0">
              <a:buNone/>
            </a:pPr>
            <a:r>
              <a:rPr lang="en-US" sz="80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Estrategia y Plataforma de Marca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61B"/>
          </a:solidFill>
          <a:ln/>
        </p:spPr>
      </p:sp>
      <p:sp>
        <p:nvSpPr>
          <p:cNvPr id="3" name="Shape 1"/>
          <p:cNvSpPr/>
          <p:nvPr/>
        </p:nvSpPr>
        <p:spPr>
          <a:xfrm>
            <a:off x="8869680" y="1051560"/>
            <a:ext cx="4297680" cy="4297680"/>
          </a:xfrm>
          <a:prstGeom prst="donut">
            <a:avLst/>
          </a:prstGeom>
          <a:solidFill>
            <a:srgbClr val="9B8FF2">
              <a:alpha val="8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416845" y="1051560"/>
            <a:ext cx="4297680" cy="4297680"/>
          </a:xfrm>
          <a:prstGeom prst="donut">
            <a:avLst/>
          </a:prstGeom>
          <a:solidFill>
            <a:srgbClr val="E5895F">
              <a:alpha val="8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37160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2C2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2000" dirty="0"/>
          </a:p>
        </p:txBody>
      </p:sp>
      <p:sp>
        <p:nvSpPr>
          <p:cNvPr id="6" name="Text 4"/>
          <p:cNvSpPr/>
          <p:nvPr/>
        </p:nvSpPr>
        <p:spPr>
          <a:xfrm>
            <a:off x="612648" y="3063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9B8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VERBAL IDENTITY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3310128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Identidad verbal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85216" y="470916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Tono, principios, vocabulario y ejemplos correctos e incorrectos.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PRAXIA</a:t>
            </a:r>
            <a:pPr algn="l" indent="0" marL="0">
              <a:buNone/>
            </a:pPr>
            <a:r>
              <a:rPr lang="en-US" sz="80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Sección 08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423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TONO DE VOZ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151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Clara, sofisticada, estratégica y humana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D9D3C6"/>
            </a:solidFill>
            <a:prstDash val="solid"/>
          </a:ln>
          <a:effectLst>
            <a:outerShdw sx="100000" sy="100000" kx="0" ky="0" algn="bl" rotWithShape="0" blurRad="88900" dist="25400" dir="5400000">
              <a:srgbClr val="9A9488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1248" y="2011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423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PRINCIPIOS DE ESCRITURA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41248" y="2331720"/>
            <a:ext cx="4892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F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Frases declarativas. Una idea por oración. Provocar sin hype. Verbo fuerte, no adjetivo. Evidencia sobre adjetivos. Formalidad ejecutiva —clara, no acartonada.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36208" y="182880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EAE5D9"/>
          </a:solidFill>
          <a:ln w="9525">
            <a:solidFill>
              <a:srgbClr val="D9D3C6"/>
            </a:solidFill>
            <a:prstDash val="solid"/>
          </a:ln>
          <a:effectLst>
            <a:outerShdw sx="100000" sy="100000" kx="0" ky="0" algn="bl" rotWithShape="0" blurRad="88900" dist="25400" dir="5400000">
              <a:srgbClr val="9A9488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10528" y="2011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C95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VOCABULARIO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510528" y="2331720"/>
            <a:ext cx="4892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7E9B86"/>
                </a:solidFill>
              </a:rPr>
              <a:t>USAR  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3F424A"/>
                </a:solidFill>
              </a:rPr>
              <a:t>adopción · comportamiento · operating model · capacidad · evidencia · velocidad · arraigar · accountable · resultado
</a:t>
            </a:r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C9552F"/>
                </a:solidFill>
              </a:rPr>
              <a:t>EVITAR  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3F424A"/>
                </a:solidFill>
              </a:rPr>
              <a:t>potencial · sinergia · journey · holístico · world-class · llevar al siguiente nivel · empoderar · las personas son lo más importante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66928" y="397764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D9D3C6"/>
            </a:solidFill>
            <a:prstDash val="solid"/>
          </a:ln>
          <a:effectLst>
            <a:outerShdw sx="100000" sy="100000" kx="0" ky="0" algn="bl" rotWithShape="0" blurRad="88900" dist="25400" dir="5400000">
              <a:srgbClr val="9A9488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41248" y="41422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5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INCORRECTO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41248" y="4434840"/>
            <a:ext cx="4892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150" i="1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“En Praxia potenciamos el talento con soluciones integrales y holísticas para llevar a tu empresa al siguiente nivel en su journey de transformación.”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36208" y="397764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15161B"/>
          </a:solidFill>
          <a:ln w="9525">
            <a:solidFill>
              <a:srgbClr val="D9D3C6"/>
            </a:solidFill>
            <a:prstDash val="solid"/>
          </a:ln>
          <a:effectLst>
            <a:outerShdw sx="100000" sy="100000" kx="0" ky="0" algn="bl" rotWithShape="0" blurRad="88900" dist="25400" dir="5400000">
              <a:srgbClr val="9A9488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10528" y="41422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B8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CORRECTO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510528" y="4434840"/>
            <a:ext cx="4892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150" i="1" dirty="0">
                <a:solidFill>
                  <a:srgbClr val="E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“El 70% del valor de tu IA depende de que tu gente cambie de comportamiento. Medimos esa brecha y la cerramos —y respondemos por el resultado.”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PRAXIA</a:t>
            </a:r>
            <a:pPr algn="l" indent="0" marL="0">
              <a:buNone/>
            </a:pPr>
            <a:r>
              <a:rPr lang="en-US" sz="80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Estrategia y Plataforma de Marca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61B"/>
          </a:solidFill>
          <a:ln/>
        </p:spPr>
      </p:sp>
      <p:sp>
        <p:nvSpPr>
          <p:cNvPr id="3" name="Shape 1"/>
          <p:cNvSpPr/>
          <p:nvPr/>
        </p:nvSpPr>
        <p:spPr>
          <a:xfrm>
            <a:off x="8869680" y="1051560"/>
            <a:ext cx="4297680" cy="4297680"/>
          </a:xfrm>
          <a:prstGeom prst="donut">
            <a:avLst/>
          </a:prstGeom>
          <a:solidFill>
            <a:srgbClr val="9B8FF2">
              <a:alpha val="8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416845" y="1051560"/>
            <a:ext cx="4297680" cy="4297680"/>
          </a:xfrm>
          <a:prstGeom prst="donut">
            <a:avLst/>
          </a:prstGeom>
          <a:solidFill>
            <a:srgbClr val="E5895F">
              <a:alpha val="8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37160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2C2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2000" dirty="0"/>
          </a:p>
        </p:txBody>
      </p:sp>
      <p:sp>
        <p:nvSpPr>
          <p:cNvPr id="6" name="Text 4"/>
          <p:cNvSpPr/>
          <p:nvPr/>
        </p:nvSpPr>
        <p:spPr>
          <a:xfrm>
            <a:off x="612648" y="3063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9B8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IDENTITY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3310128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Identidad visual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85216" y="470916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rector, paleta con códigos, tipografía y dirección por medio.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PRAXIA</a:t>
            </a:r>
            <a:pPr algn="l" indent="0" marL="0">
              <a:buNone/>
            </a:pPr>
            <a:r>
              <a:rPr lang="en-US" sz="80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Sección 09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8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61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9B8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RECTOR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Turn — el eje humano del cambio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66928" y="1783080"/>
            <a:ext cx="6675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7C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transformación como un punto de giro alrededor de un núcleo humano estable. Precisión de máquina y calor humano en un mismo sistema —los dos anillos que se cruzan.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3200400"/>
            <a:ext cx="3108960" cy="868680"/>
          </a:xfrm>
          <a:prstGeom prst="roundRect">
            <a:avLst>
              <a:gd name="adj" fmla="val 8421"/>
            </a:avLst>
          </a:prstGeom>
          <a:solidFill>
            <a:srgbClr val="20222C"/>
          </a:solidFill>
          <a:ln w="9525">
            <a:solidFill>
              <a:srgbClr val="2C2F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20040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Preciso</a:t>
            </a:r>
            <a:pPr indent="0" marL="0">
              <a:buNone/>
            </a:pPr>
            <a:r>
              <a:rPr lang="en-US" sz="1200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no clínico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858768" y="3200400"/>
            <a:ext cx="3108960" cy="868680"/>
          </a:xfrm>
          <a:prstGeom prst="roundRect">
            <a:avLst>
              <a:gd name="adj" fmla="val 8421"/>
            </a:avLst>
          </a:prstGeom>
          <a:solidFill>
            <a:srgbClr val="20222C"/>
          </a:solidFill>
          <a:ln w="9525">
            <a:solidFill>
              <a:srgbClr val="2C2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0" y="320040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Humano</a:t>
            </a:r>
            <a:pPr indent="0" marL="0">
              <a:buNone/>
            </a:pPr>
            <a:r>
              <a:rPr lang="en-US" sz="1200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no blando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66928" y="4251960"/>
            <a:ext cx="3108960" cy="868680"/>
          </a:xfrm>
          <a:prstGeom prst="roundRect">
            <a:avLst>
              <a:gd name="adj" fmla="val 8421"/>
            </a:avLst>
          </a:prstGeom>
          <a:solidFill>
            <a:srgbClr val="20222C"/>
          </a:solidFill>
          <a:ln w="9525">
            <a:solidFill>
              <a:srgbClr val="2C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25196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Editorial</a:t>
            </a:r>
            <a:pPr indent="0" marL="0">
              <a:buNone/>
            </a:pPr>
            <a:r>
              <a:rPr lang="en-US" sz="1200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no corporativo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858768" y="4251960"/>
            <a:ext cx="3108960" cy="868680"/>
          </a:xfrm>
          <a:prstGeom prst="roundRect">
            <a:avLst>
              <a:gd name="adj" fmla="val 8421"/>
            </a:avLst>
          </a:prstGeom>
          <a:solidFill>
            <a:srgbClr val="20222C"/>
          </a:solidFill>
          <a:ln w="9525">
            <a:solidFill>
              <a:srgbClr val="2C2F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0" y="425196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movimiento</a:t>
            </a:r>
            <a:pPr indent="0" marL="0">
              <a:buNone/>
            </a:pPr>
            <a:r>
              <a:rPr lang="en-US" sz="1200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no ruidoso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28432" y="2194560"/>
            <a:ext cx="3145536" cy="3145536"/>
          </a:xfrm>
          <a:prstGeom prst="donut">
            <a:avLst/>
          </a:prstGeom>
          <a:solidFill>
            <a:srgbClr val="9B8FF2"/>
          </a:solidFill>
          <a:ln/>
        </p:spPr>
      </p:sp>
      <p:sp>
        <p:nvSpPr>
          <p:cNvPr id="15" name="Shape 13"/>
          <p:cNvSpPr/>
          <p:nvPr/>
        </p:nvSpPr>
        <p:spPr>
          <a:xfrm>
            <a:off x="9160825" y="2194560"/>
            <a:ext cx="3145536" cy="3145536"/>
          </a:xfrm>
          <a:prstGeom prst="donut">
            <a:avLst/>
          </a:prstGeom>
          <a:solidFill>
            <a:srgbClr val="E5895F"/>
          </a:solidFill>
          <a:ln/>
        </p:spPr>
      </p:sp>
      <p:sp>
        <p:nvSpPr>
          <p:cNvPr id="16" name="Text 14"/>
          <p:cNvSpPr/>
          <p:nvPr/>
        </p:nvSpPr>
        <p:spPr>
          <a:xfrm>
            <a:off x="8631936" y="55778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PRAXIA</a:t>
            </a:r>
            <a:pPr algn="l" indent="0" marL="0">
              <a:buNone/>
            </a:pPr>
            <a:r>
              <a:rPr lang="en-US" sz="80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Sección 09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423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PALETA CROMÁTICA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51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Grafito y marfil, con doble acento humano-máquina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2084832" cy="1554480"/>
          </a:xfrm>
          <a:prstGeom prst="roundRect">
            <a:avLst>
              <a:gd name="adj" fmla="val 4706"/>
            </a:avLst>
          </a:prstGeom>
          <a:solidFill>
            <a:srgbClr val="15161B"/>
          </a:solidFill>
          <a:ln w="9525">
            <a:solidFill>
              <a:srgbClr val="D9D3C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Graphite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9992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#15161B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66928" y="3474720"/>
            <a:ext cx="20848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R21 G22 B27
</a:t>
            </a:r>
            <a:pPr algn="l"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C74 M67 Y58 K66
</a:t>
            </a:r>
            <a:pPr algn="l" indent="0" marL="0">
              <a:lnSpc>
                <a:spcPct val="118000"/>
              </a:lnSpc>
              <a:buNone/>
            </a:pPr>
            <a:r>
              <a:rPr lang="en-US" sz="950" b="1" dirty="0">
                <a:solidFill>
                  <a:srgbClr val="151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Autoridad, rigor, base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61488" y="1783080"/>
            <a:ext cx="2084832" cy="1554480"/>
          </a:xfrm>
          <a:prstGeom prst="roundRect">
            <a:avLst>
              <a:gd name="adj" fmla="val 4706"/>
            </a:avLst>
          </a:prstGeom>
          <a:solidFill>
            <a:srgbClr val="F4F1EA"/>
          </a:solidFill>
          <a:ln w="9525">
            <a:solidFill>
              <a:srgbClr val="D9D3C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0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Ivory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926080" y="29992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151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#F4F1EA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61488" y="3474720"/>
            <a:ext cx="20848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R244 G241 B234
</a:t>
            </a:r>
            <a:pPr algn="l"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 M4 Y8 K0
</a:t>
            </a:r>
            <a:pPr algn="l" indent="0" marL="0">
              <a:lnSpc>
                <a:spcPct val="118000"/>
              </a:lnSpc>
              <a:buNone/>
            </a:pPr>
            <a:r>
              <a:rPr lang="en-US" sz="950" b="1" dirty="0">
                <a:solidFill>
                  <a:srgbClr val="151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Calidez, espacio, humanidad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956048" y="1783080"/>
            <a:ext cx="2084832" cy="1554480"/>
          </a:xfrm>
          <a:prstGeom prst="roundRect">
            <a:avLst>
              <a:gd name="adj" fmla="val 4706"/>
            </a:avLst>
          </a:prstGeom>
          <a:solidFill>
            <a:srgbClr val="4231D4"/>
          </a:solidFill>
          <a:ln w="9525">
            <a:solidFill>
              <a:srgbClr val="D9D3C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0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Indigo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120640" y="29992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#4231D4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56048" y="3474720"/>
            <a:ext cx="20848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R66 G49 B212
</a:t>
            </a:r>
            <a:pPr algn="l"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C81 M77 Y0 K0
</a:t>
            </a:r>
            <a:pPr algn="l" indent="0" marL="0">
              <a:lnSpc>
                <a:spcPct val="118000"/>
              </a:lnSpc>
              <a:buNone/>
            </a:pPr>
            <a:r>
              <a:rPr lang="en-US" sz="950" b="1" dirty="0">
                <a:solidFill>
                  <a:srgbClr val="151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Inteligencia · máquina · IA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150608" y="1783080"/>
            <a:ext cx="2084832" cy="1554480"/>
          </a:xfrm>
          <a:prstGeom prst="roundRect">
            <a:avLst>
              <a:gd name="adj" fmla="val 4706"/>
            </a:avLst>
          </a:prstGeom>
          <a:solidFill>
            <a:srgbClr val="C9552F"/>
          </a:solidFill>
          <a:ln w="9525">
            <a:solidFill>
              <a:srgbClr val="D9D3C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0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15200" y="29992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#C9552F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150608" y="3474720"/>
            <a:ext cx="20848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R201 G85 B47
</a:t>
            </a:r>
            <a:pPr algn="l"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C15 M78 Y90 K3
</a:t>
            </a:r>
            <a:pPr algn="l" indent="0" marL="0">
              <a:lnSpc>
                <a:spcPct val="118000"/>
              </a:lnSpc>
              <a:buNone/>
            </a:pPr>
            <a:r>
              <a:rPr lang="en-US" sz="950" b="1" dirty="0">
                <a:solidFill>
                  <a:srgbClr val="151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Humanidad · energía · acción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345168" y="1783080"/>
            <a:ext cx="2084832" cy="1554480"/>
          </a:xfrm>
          <a:prstGeom prst="roundRect">
            <a:avLst>
              <a:gd name="adj" fmla="val 4706"/>
            </a:avLst>
          </a:prstGeom>
          <a:solidFill>
            <a:srgbClr val="7E9B86"/>
          </a:solidFill>
          <a:ln w="9525">
            <a:solidFill>
              <a:srgbClr val="D9D3C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09760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Sage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509760" y="29992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#7E9B86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345168" y="3474720"/>
            <a:ext cx="20848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R126 G155 B134
</a:t>
            </a:r>
            <a:pPr algn="l"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C25 M8 Y23 K4
</a:t>
            </a:r>
            <a:pPr algn="l" indent="0" marL="0">
              <a:lnSpc>
                <a:spcPct val="118000"/>
              </a:lnSpc>
              <a:buNone/>
            </a:pPr>
            <a:r>
              <a:rPr lang="en-US" sz="950" b="1" dirty="0">
                <a:solidFill>
                  <a:srgbClr val="151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Crecimiento · equilibrio (apoyo)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66928" y="5257800"/>
            <a:ext cx="11057839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9D3C6"/>
            </a:solidFill>
            <a:prstDash val="solid"/>
          </a:ln>
          <a:effectLst>
            <a:outerShdw sx="100000" sy="100000" kx="0" ky="0" algn="bl" rotWithShape="0" blurRad="88900" dist="25400" dir="5400000">
              <a:srgbClr val="9A9488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41248" y="5394960"/>
            <a:ext cx="1050919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151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Dominancia y accesibilidad. 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F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Grafito ~70% del peso visual, marfil como lienzo; índigo y clay solo como acento (≥AA en texto grande / UI, no para cuerpo sobre blanco). Grafito↔marfil supera AAA. Nunca el azul corporativo por defecto.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PRAXIA</a:t>
            </a:r>
            <a:pPr algn="l" indent="0" marL="0">
              <a:buNone/>
            </a:pPr>
            <a:r>
              <a:rPr lang="en-US" sz="80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Estrategia y Plataforma de Marca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8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423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TIPOGRAFÍA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800" b="1" dirty="0">
                <a:solidFill>
                  <a:srgbClr val="151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Serif editorial + sans preciso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9D3C6"/>
            </a:solidFill>
            <a:prstDash val="solid"/>
          </a:ln>
          <a:effectLst>
            <a:outerShdw sx="100000" sy="100000" kx="0" ky="0" algn="bl" rotWithShape="0" blurRad="88900" dist="25400" dir="5400000">
              <a:srgbClr val="9A9488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1248" y="2011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423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/ SERIF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41248" y="228600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51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Fraunces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41248" y="320040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F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Gravitas editorial con carácter. Titulares, wordmark, pensamiento. Alternativa: Newsreader (Google, libre).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36208" y="182880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9D3C6"/>
            </a:solidFill>
            <a:prstDash val="solid"/>
          </a:ln>
          <a:effectLst>
            <a:outerShdw sx="100000" sy="100000" kx="0" ky="0" algn="bl" rotWithShape="0" blurRad="88900" dist="25400" dir="5400000">
              <a:srgbClr val="9A9488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10528" y="2011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C95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/ SANS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510528" y="228600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51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510528" y="320040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F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Precisión, claridad, alma tecnológica. Cuerpo, UI, datos. Alternativa: IBM Plex Sans (libre).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" y="4251960"/>
            <a:ext cx="11057839" cy="1828800"/>
          </a:xfrm>
          <a:prstGeom prst="roundRect">
            <a:avLst>
              <a:gd name="adj" fmla="val 4000"/>
            </a:avLst>
          </a:prstGeom>
          <a:solidFill>
            <a:srgbClr val="15161B"/>
          </a:solidFill>
          <a:ln w="9525">
            <a:solidFill>
              <a:srgbClr val="D9D3C6"/>
            </a:solidFill>
            <a:prstDash val="solid"/>
          </a:ln>
          <a:effectLst>
            <a:outerShdw sx="100000" sy="100000" kx="0" ky="0" algn="bl" rotWithShape="0" blurRad="88900" dist="25400" dir="5400000">
              <a:srgbClr val="9A9488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1248" y="4434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9B8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JERARQUÍA + FALLBACK OFFICE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41248" y="47548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Fraunces · 40–80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38728" y="47548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/ Título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Fraunces · 30–40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36208" y="47548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Cuerpo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 · 14–16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933688" y="47548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 · 10–12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41248" y="559612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documentos y presentaciones sin las fuentes de marca: Cambria (serif) + Calibri (sans). Este deck está tipografiado así para máxima portabilidad.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PRAXIA</a:t>
            </a:r>
            <a:pPr algn="l" indent="0" marL="0">
              <a:buNone/>
            </a:pPr>
            <a:r>
              <a:rPr lang="en-US" sz="80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Estrategia y Plataforma de Marca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423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VISUAL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800" b="1" dirty="0">
                <a:solidFill>
                  <a:srgbClr val="151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Iconografía, imagen y aplicación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1874520"/>
            <a:ext cx="2624328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9D3C6"/>
            </a:solidFill>
            <a:prstDash val="solid"/>
          </a:ln>
          <a:effectLst>
            <a:outerShdw sx="100000" sy="100000" kx="0" ky="0" algn="bl" rotWithShape="0" blurRad="88900" dist="25400" dir="5400000">
              <a:srgbClr val="9A9488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86968" y="2194560"/>
            <a:ext cx="182880" cy="182880"/>
          </a:xfrm>
          <a:prstGeom prst="ellipse">
            <a:avLst/>
          </a:prstGeom>
          <a:solidFill>
            <a:srgbClr val="4231D4"/>
          </a:solidFill>
          <a:ln/>
        </p:spPr>
      </p:sp>
      <p:sp>
        <p:nvSpPr>
          <p:cNvPr id="7" name="Text 5"/>
          <p:cNvSpPr/>
          <p:nvPr/>
        </p:nvSpPr>
        <p:spPr>
          <a:xfrm>
            <a:off x="795528" y="25146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1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Iconografía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95528" y="297180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3F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fina, precisa, con un guiño de arco/rotación. Nunca clip-art.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28416" y="1874520"/>
            <a:ext cx="2624328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9D3C6"/>
            </a:solidFill>
            <a:prstDash val="solid"/>
          </a:ln>
          <a:effectLst>
            <a:outerShdw sx="100000" sy="100000" kx="0" ky="0" algn="bl" rotWithShape="0" blurRad="88900" dist="25400" dir="5400000">
              <a:srgbClr val="9A9488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48456" y="2194560"/>
            <a:ext cx="182880" cy="182880"/>
          </a:xfrm>
          <a:prstGeom prst="ellipse">
            <a:avLst/>
          </a:prstGeom>
          <a:solidFill>
            <a:srgbClr val="C9552F"/>
          </a:solidFill>
          <a:ln/>
        </p:spPr>
      </p:sp>
      <p:sp>
        <p:nvSpPr>
          <p:cNvPr id="11" name="Text 9"/>
          <p:cNvSpPr/>
          <p:nvPr/>
        </p:nvSpPr>
        <p:spPr>
          <a:xfrm>
            <a:off x="3557016" y="25146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1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Fotografía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557016" y="297180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3F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 reales en trabajo real; editorial, cálida y seria. No apretones de mano de stock.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89904" y="1874520"/>
            <a:ext cx="2624328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9D3C6"/>
            </a:solidFill>
            <a:prstDash val="solid"/>
          </a:ln>
          <a:effectLst>
            <a:outerShdw sx="100000" sy="100000" kx="0" ky="0" algn="bl" rotWithShape="0" blurRad="88900" dist="25400" dir="5400000">
              <a:srgbClr val="9A9488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9944" y="2194560"/>
            <a:ext cx="182880" cy="182880"/>
          </a:xfrm>
          <a:prstGeom prst="ellipse">
            <a:avLst/>
          </a:prstGeom>
          <a:solidFill>
            <a:srgbClr val="4231D4"/>
          </a:solidFill>
          <a:ln/>
        </p:spPr>
      </p:sp>
      <p:sp>
        <p:nvSpPr>
          <p:cNvPr id="15" name="Text 13"/>
          <p:cNvSpPr/>
          <p:nvPr/>
        </p:nvSpPr>
        <p:spPr>
          <a:xfrm>
            <a:off x="6318504" y="25146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1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Ilustración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18504" y="297180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3F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Mínima, basada en datos: arcos, ejes, líneas de movimiento, la brecha que se cierra.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851392" y="1874520"/>
            <a:ext cx="2624328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9D3C6"/>
            </a:solidFill>
            <a:prstDash val="solid"/>
          </a:ln>
          <a:effectLst>
            <a:outerShdw sx="100000" sy="100000" kx="0" ky="0" algn="bl" rotWithShape="0" blurRad="88900" dist="25400" dir="5400000">
              <a:srgbClr val="9A9488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171432" y="2194560"/>
            <a:ext cx="182880" cy="182880"/>
          </a:xfrm>
          <a:prstGeom prst="ellipse">
            <a:avLst/>
          </a:prstGeom>
          <a:solidFill>
            <a:srgbClr val="C9552F"/>
          </a:solidFill>
          <a:ln/>
        </p:spPr>
      </p:sp>
      <p:sp>
        <p:nvSpPr>
          <p:cNvPr id="19" name="Text 17"/>
          <p:cNvSpPr/>
          <p:nvPr/>
        </p:nvSpPr>
        <p:spPr>
          <a:xfrm>
            <a:off x="9079992" y="25146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1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Formas &amp; motion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079992" y="297180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3F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giro y el eje; dos anillos que se cruzan; cosas que rotan y cierran una distancia.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66928" y="4251960"/>
            <a:ext cx="11057839" cy="1828800"/>
          </a:xfrm>
          <a:prstGeom prst="roundRect">
            <a:avLst>
              <a:gd name="adj" fmla="val 4000"/>
            </a:avLst>
          </a:prstGeom>
          <a:solidFill>
            <a:srgbClr val="15161B"/>
          </a:solidFill>
          <a:ln w="9525">
            <a:solidFill>
              <a:srgbClr val="D9D3C6"/>
            </a:solidFill>
            <a:prstDash val="solid"/>
          </a:ln>
          <a:effectLst>
            <a:outerShdw sx="100000" sy="100000" kx="0" ky="0" algn="bl" rotWithShape="0" blurRad="88900" dist="25400" dir="5400000">
              <a:srgbClr val="9A9488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41248" y="44165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9B8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POR MEDIO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41248" y="4709160"/>
            <a:ext cx="212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
</a:t>
            </a:r>
            <a:pPr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C2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Grafito con marfil; mucho aire; un acento por pantalla.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999232" y="4709160"/>
            <a:ext cx="212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Presentaciones
</a:t>
            </a:r>
            <a:pPr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C2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Sandwich claro/oscuro; datos grandes; una idea por lámina.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157216" y="4709160"/>
            <a:ext cx="212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Propuestas
</a:t>
            </a:r>
            <a:pPr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C2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Editorial, serif para tesis; márgenes generosos.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315200" y="4709160"/>
            <a:ext cx="212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
</a:t>
            </a:r>
            <a:pPr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C2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Marfil + un acento; frase fuerte; sin ruido.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473184" y="4709160"/>
            <a:ext cx="212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ejecutivos
</a:t>
            </a:r>
            <a:pPr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C2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Sobrio; el dato manda; el índice AGI como héroe visual.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PRAXIA</a:t>
            </a:r>
            <a:pPr algn="l" indent="0" marL="0">
              <a:buNone/>
            </a:pPr>
            <a:r>
              <a:rPr lang="en-US" sz="80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Estrategia y Plataforma de Marca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8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61B"/>
          </a:solidFill>
          <a:ln/>
        </p:spPr>
      </p:sp>
      <p:sp>
        <p:nvSpPr>
          <p:cNvPr id="3" name="Shape 1"/>
          <p:cNvSpPr/>
          <p:nvPr/>
        </p:nvSpPr>
        <p:spPr>
          <a:xfrm>
            <a:off x="8869680" y="1051560"/>
            <a:ext cx="4297680" cy="4297680"/>
          </a:xfrm>
          <a:prstGeom prst="donut">
            <a:avLst/>
          </a:prstGeom>
          <a:solidFill>
            <a:srgbClr val="9B8FF2">
              <a:alpha val="8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416845" y="1051560"/>
            <a:ext cx="4297680" cy="4297680"/>
          </a:xfrm>
          <a:prstGeom prst="donut">
            <a:avLst/>
          </a:prstGeom>
          <a:solidFill>
            <a:srgbClr val="E5895F">
              <a:alpha val="8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37160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2C2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2000" dirty="0"/>
          </a:p>
        </p:txBody>
      </p:sp>
      <p:sp>
        <p:nvSpPr>
          <p:cNvPr id="6" name="Text 4"/>
          <p:cNvSpPr/>
          <p:nvPr/>
        </p:nvSpPr>
        <p:spPr>
          <a:xfrm>
            <a:off x="612648" y="3063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9B8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ROUTES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3310128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Conceptos creativos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85216" y="470916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direcciones diferenciadas: premium, humana y tecnológica.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PRAXIA</a:t>
            </a:r>
            <a:pPr algn="l" indent="0" marL="0">
              <a:buNone/>
            </a:pPr>
            <a:r>
              <a:rPr lang="en-US" sz="80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Sección 10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8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423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RUTAS CREATIVAS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151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mismo sistema, tres temperamentos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3566160" cy="420624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9525">
            <a:solidFill>
              <a:srgbClr val="D9D3C6"/>
            </a:solidFill>
            <a:prstDash val="solid"/>
          </a:ln>
          <a:effectLst>
            <a:outerShdw sx="100000" sy="100000" kx="0" ky="0" algn="bl" rotWithShape="0" blurRad="88900" dist="25400" dir="5400000">
              <a:srgbClr val="9A9488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057400"/>
            <a:ext cx="3017520" cy="457200"/>
          </a:xfrm>
          <a:prstGeom prst="roundRect">
            <a:avLst>
              <a:gd name="adj" fmla="val 10000"/>
            </a:avLst>
          </a:prstGeom>
          <a:solidFill>
            <a:srgbClr val="ECE9FB"/>
          </a:solidFill>
          <a:ln/>
        </p:spPr>
      </p:sp>
      <p:sp>
        <p:nvSpPr>
          <p:cNvPr id="7" name="Text 5"/>
          <p:cNvSpPr/>
          <p:nvPr/>
        </p:nvSpPr>
        <p:spPr>
          <a:xfrm>
            <a:off x="978408" y="20574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23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 1 — The Standard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41248" y="26060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Premium &amp; estratégica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41248" y="310896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3F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Grafito · marfil · índigo profundo. Serif editorial + sans. Logo wordmark.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41248" y="416052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i="1" dirty="0">
                <a:solidFill>
                  <a:srgbClr val="C95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“Turn strategy into adoption.”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41248" y="48920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b="1" spc="100" kern="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ATRAE  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F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Multinacionales, consejos.
</a:t>
            </a:r>
            <a:pPr indent="0" marL="0">
              <a:lnSpc>
                <a:spcPct val="110000"/>
              </a:lnSpc>
              <a:buNone/>
            </a:pPr>
            <a:r>
              <a:rPr lang="en-US" sz="850" b="1" spc="100" kern="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 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F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Segura, poca sorpresa.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242816" y="1828800"/>
            <a:ext cx="3566160" cy="420624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9525">
            <a:solidFill>
              <a:srgbClr val="D9D3C6"/>
            </a:solidFill>
            <a:prstDash val="solid"/>
          </a:ln>
          <a:effectLst>
            <a:outerShdw sx="100000" sy="100000" kx="0" ky="0" algn="bl" rotWithShape="0" blurRad="88900" dist="25400" dir="5400000">
              <a:srgbClr val="9A9488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17136" y="2057400"/>
            <a:ext cx="3017520" cy="457200"/>
          </a:xfrm>
          <a:prstGeom prst="roundRect">
            <a:avLst>
              <a:gd name="adj" fmla="val 10000"/>
            </a:avLst>
          </a:prstGeom>
          <a:solidFill>
            <a:srgbClr val="F6E6DE"/>
          </a:solidFill>
          <a:ln/>
        </p:spPr>
      </p:sp>
      <p:sp>
        <p:nvSpPr>
          <p:cNvPr id="14" name="Text 12"/>
          <p:cNvSpPr/>
          <p:nvPr/>
        </p:nvSpPr>
        <p:spPr>
          <a:xfrm>
            <a:off x="4654296" y="20574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5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 2 — The Human Core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17136" y="26060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Humana &amp; transformadora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17136" y="310896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3F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Marfil · grafito · clay + sage. Serif humanista, foto-céntrica, cálida.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17136" y="416052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i="1" dirty="0">
                <a:solidFill>
                  <a:srgbClr val="C95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“Change your organization actually lives.”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17136" y="48920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b="1" spc="100" kern="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ATRAE  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F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CHRO, cultura primero.
</a:t>
            </a:r>
            <a:pPr indent="0" marL="0">
              <a:lnSpc>
                <a:spcPct val="110000"/>
              </a:lnSpc>
              <a:buNone/>
            </a:pPr>
            <a:r>
              <a:rPr lang="en-US" sz="850" b="1" spc="100" kern="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 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F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leerse “soft”.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918704" y="1828800"/>
            <a:ext cx="3566160" cy="4206240"/>
          </a:xfrm>
          <a:prstGeom prst="roundRect">
            <a:avLst>
              <a:gd name="adj" fmla="val 2564"/>
            </a:avLst>
          </a:prstGeom>
          <a:solidFill>
            <a:srgbClr val="15161B"/>
          </a:solidFill>
          <a:ln w="9525">
            <a:solidFill>
              <a:srgbClr val="2C2F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93024" y="2057400"/>
            <a:ext cx="3017520" cy="457200"/>
          </a:xfrm>
          <a:prstGeom prst="roundRect">
            <a:avLst>
              <a:gd name="adj" fmla="val 10000"/>
            </a:avLst>
          </a:prstGeom>
          <a:solidFill>
            <a:srgbClr val="20222C"/>
          </a:solidFill>
          <a:ln/>
        </p:spPr>
      </p:sp>
      <p:sp>
        <p:nvSpPr>
          <p:cNvPr id="21" name="Text 19"/>
          <p:cNvSpPr/>
          <p:nvPr/>
        </p:nvSpPr>
        <p:spPr>
          <a:xfrm>
            <a:off x="8330184" y="20574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B8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 3 — The Turn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193024" y="26060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Audaz, tech &amp; futuro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193024" y="310896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C7C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Grafito/negro · índigo eléctrico. Grotesque geométrica, marca cinética.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193024" y="416052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i="1" dirty="0">
                <a:solidFill>
                  <a:srgbClr val="E589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“Human + AI, finally adopted.”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193024" y="48920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b="1" spc="100" kern="0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ATRAE  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2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Scale-ups, CEOs tech.
</a:t>
            </a:r>
            <a:pPr indent="0" marL="0">
              <a:lnSpc>
                <a:spcPct val="110000"/>
              </a:lnSpc>
              <a:buNone/>
            </a:pPr>
            <a:r>
              <a:rPr lang="en-US" sz="850" b="1" spc="100" kern="0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 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2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intimidar al conservador.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PRAXIA</a:t>
            </a:r>
            <a:pPr algn="l" indent="0" marL="0">
              <a:buNone/>
            </a:pPr>
            <a:r>
              <a:rPr lang="en-US" sz="80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Estrategia y Plataforma de Marca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8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61B"/>
          </a:solidFill>
          <a:ln/>
        </p:spPr>
      </p:sp>
      <p:sp>
        <p:nvSpPr>
          <p:cNvPr id="3" name="Shape 1"/>
          <p:cNvSpPr/>
          <p:nvPr/>
        </p:nvSpPr>
        <p:spPr>
          <a:xfrm>
            <a:off x="8869680" y="1051560"/>
            <a:ext cx="4297680" cy="4297680"/>
          </a:xfrm>
          <a:prstGeom prst="donut">
            <a:avLst/>
          </a:prstGeom>
          <a:solidFill>
            <a:srgbClr val="9B8FF2">
              <a:alpha val="8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416845" y="1051560"/>
            <a:ext cx="4297680" cy="4297680"/>
          </a:xfrm>
          <a:prstGeom prst="donut">
            <a:avLst/>
          </a:prstGeom>
          <a:solidFill>
            <a:srgbClr val="E5895F">
              <a:alpha val="8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37160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2C2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2000" dirty="0"/>
          </a:p>
        </p:txBody>
      </p:sp>
      <p:sp>
        <p:nvSpPr>
          <p:cNvPr id="6" name="Text 4"/>
          <p:cNvSpPr/>
          <p:nvPr/>
        </p:nvSpPr>
        <p:spPr>
          <a:xfrm>
            <a:off x="612648" y="3063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9B8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RECOMMENDATION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3310128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Recomendación final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85216" y="470916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ruta más sólida, los ejemplos de aplicación y el plan a 90 días.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PRAXIA</a:t>
            </a:r>
            <a:pPr algn="l" indent="0" marL="0">
              <a:buNone/>
            </a:pPr>
            <a:r>
              <a:rPr lang="en-US" sz="80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Sección 11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8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61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9B8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RUTA RECOMENDADA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Praxia × The Turn (con la gravedad de The Standard)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60020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i="1" dirty="0">
                <a:solidFill>
                  <a:srgbClr val="C7C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Síntesis Ruta 3 + Ruta 1: gravedad ejecutiva para multinacionales y credibilidad tecnológica para scale-ups —los dos clientes ancla en una sola marca.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2377440"/>
            <a:ext cx="5257800" cy="749808"/>
          </a:xfrm>
          <a:prstGeom prst="roundRect">
            <a:avLst>
              <a:gd name="adj" fmla="val 7317"/>
            </a:avLst>
          </a:prstGeom>
          <a:solidFill>
            <a:srgbClr val="20222C"/>
          </a:solidFill>
          <a:ln w="9525">
            <a:solidFill>
              <a:srgbClr val="2C2F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249631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58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487168" y="246888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55080" y="2377440"/>
            <a:ext cx="5257800" cy="749808"/>
          </a:xfrm>
          <a:prstGeom prst="roundRect">
            <a:avLst>
              <a:gd name="adj" fmla="val 7317"/>
            </a:avLst>
          </a:prstGeom>
          <a:solidFill>
            <a:srgbClr val="20222C"/>
          </a:solidFill>
          <a:ln w="9525">
            <a:solidFill>
              <a:srgbClr val="2C2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249631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58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DESCRIPTOR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75320" y="246888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&amp; AI Transformation Advisory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6928" y="3273552"/>
            <a:ext cx="5257800" cy="749808"/>
          </a:xfrm>
          <a:prstGeom prst="roundRect">
            <a:avLst>
              <a:gd name="adj" fmla="val 7317"/>
            </a:avLst>
          </a:prstGeom>
          <a:solidFill>
            <a:srgbClr val="20222C"/>
          </a:solidFill>
          <a:ln w="9525">
            <a:solidFill>
              <a:srgbClr val="2C2F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" y="339242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58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TAGLINE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487168" y="3364992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“Turn strategy into adoption.”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355080" y="3273552"/>
            <a:ext cx="5257800" cy="749808"/>
          </a:xfrm>
          <a:prstGeom prst="roundRect">
            <a:avLst>
              <a:gd name="adj" fmla="val 7317"/>
            </a:avLst>
          </a:prstGeom>
          <a:solidFill>
            <a:srgbClr val="20222C"/>
          </a:solidFill>
          <a:ln w="9525">
            <a:solidFill>
              <a:srgbClr val="2C2F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339242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58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POSICIONAMIENTO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275320" y="3364992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Cierra el Adoption Gap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66928" y="4169664"/>
            <a:ext cx="5257800" cy="749808"/>
          </a:xfrm>
          <a:prstGeom prst="roundRect">
            <a:avLst>
              <a:gd name="adj" fmla="val 7317"/>
            </a:avLst>
          </a:prstGeom>
          <a:solidFill>
            <a:srgbClr val="20222C"/>
          </a:solidFill>
          <a:ln w="9525">
            <a:solidFill>
              <a:srgbClr val="2C2F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5528" y="428853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58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487168" y="426110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Grafito · marfil · índigo · clay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355080" y="4169664"/>
            <a:ext cx="5257800" cy="749808"/>
          </a:xfrm>
          <a:prstGeom prst="roundRect">
            <a:avLst>
              <a:gd name="adj" fmla="val 7317"/>
            </a:avLst>
          </a:prstGeom>
          <a:solidFill>
            <a:srgbClr val="20222C"/>
          </a:solidFill>
          <a:ln w="9525">
            <a:solidFill>
              <a:srgbClr val="2C2F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428853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58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TIPOGRAFÍA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75320" y="426110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Fraunces + Inter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5065776"/>
            <a:ext cx="5257800" cy="749808"/>
          </a:xfrm>
          <a:prstGeom prst="roundRect">
            <a:avLst>
              <a:gd name="adj" fmla="val 7317"/>
            </a:avLst>
          </a:prstGeom>
          <a:solidFill>
            <a:srgbClr val="20222C"/>
          </a:solidFill>
          <a:ln w="9525">
            <a:solidFill>
              <a:srgbClr val="2C2F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5528" y="518464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58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487168" y="5157216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Wordmark; la “x” como eje/cruce (estrategia × ejecución)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355080" y="5065776"/>
            <a:ext cx="5257800" cy="749808"/>
          </a:xfrm>
          <a:prstGeom prst="roundRect">
            <a:avLst>
              <a:gd name="adj" fmla="val 7317"/>
            </a:avLst>
          </a:prstGeom>
          <a:solidFill>
            <a:srgbClr val="20222C"/>
          </a:solidFill>
          <a:ln w="9525">
            <a:solidFill>
              <a:srgbClr val="2C2F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0" y="518464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58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275320" y="5157216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prácticas + motor de inteligencia + Adoption System™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PRAXIA</a:t>
            </a:r>
            <a:pPr algn="l" indent="0" marL="0">
              <a:buNone/>
            </a:pPr>
            <a:r>
              <a:rPr lang="en-US" sz="80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Sección 11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8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423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DE APLICACIÓN — HOMEPAGE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800" b="1" dirty="0">
                <a:solidFill>
                  <a:srgbClr val="151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Página de inicio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1737360"/>
            <a:ext cx="11057839" cy="4343400"/>
          </a:xfrm>
          <a:prstGeom prst="roundRect">
            <a:avLst>
              <a:gd name="adj" fmla="val 1263"/>
            </a:avLst>
          </a:prstGeom>
          <a:solidFill>
            <a:srgbClr val="15161B"/>
          </a:solidFill>
          <a:ln w="9525">
            <a:solidFill>
              <a:srgbClr val="D9D3C6"/>
            </a:solidFill>
            <a:prstDash val="solid"/>
          </a:ln>
          <a:effectLst>
            <a:outerShdw sx="100000" sy="100000" kx="0" ky="0" algn="bl" rotWithShape="0" blurRad="88900" dist="25400" dir="5400000">
              <a:srgbClr val="9A9488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1965960"/>
            <a:ext cx="10509199" cy="411480"/>
          </a:xfrm>
          <a:prstGeom prst="roundRect">
            <a:avLst>
              <a:gd name="adj" fmla="val 11111"/>
            </a:avLst>
          </a:prstGeom>
          <a:solidFill>
            <a:srgbClr val="20222C"/>
          </a:solidFill>
          <a:ln/>
        </p:spPr>
      </p:sp>
      <p:sp>
        <p:nvSpPr>
          <p:cNvPr id="7" name="Shape 5"/>
          <p:cNvSpPr/>
          <p:nvPr/>
        </p:nvSpPr>
        <p:spPr>
          <a:xfrm>
            <a:off x="1024128" y="2125980"/>
            <a:ext cx="91440" cy="91440"/>
          </a:xfrm>
          <a:prstGeom prst="ellipse">
            <a:avLst/>
          </a:prstGeom>
          <a:solidFill>
            <a:srgbClr val="E5895F"/>
          </a:solidFill>
          <a:ln/>
        </p:spPr>
      </p:sp>
      <p:sp>
        <p:nvSpPr>
          <p:cNvPr id="8" name="Shape 6"/>
          <p:cNvSpPr/>
          <p:nvPr/>
        </p:nvSpPr>
        <p:spPr>
          <a:xfrm>
            <a:off x="1207008" y="2125980"/>
            <a:ext cx="91440" cy="91440"/>
          </a:xfrm>
          <a:prstGeom prst="ellipse">
            <a:avLst/>
          </a:prstGeom>
          <a:solidFill>
            <a:srgbClr val="6B6F7B"/>
          </a:solidFill>
          <a:ln/>
        </p:spPr>
      </p:sp>
      <p:sp>
        <p:nvSpPr>
          <p:cNvPr id="9" name="Shape 7"/>
          <p:cNvSpPr/>
          <p:nvPr/>
        </p:nvSpPr>
        <p:spPr>
          <a:xfrm>
            <a:off x="1389888" y="2125980"/>
            <a:ext cx="91440" cy="91440"/>
          </a:xfrm>
          <a:prstGeom prst="ellipse">
            <a:avLst/>
          </a:prstGeom>
          <a:solidFill>
            <a:srgbClr val="6B6F7B"/>
          </a:solidFill>
          <a:ln/>
        </p:spPr>
      </p:sp>
      <p:sp>
        <p:nvSpPr>
          <p:cNvPr id="10" name="Text 8"/>
          <p:cNvSpPr/>
          <p:nvPr/>
        </p:nvSpPr>
        <p:spPr>
          <a:xfrm>
            <a:off x="1755648" y="19933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praxia.com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69848" y="2697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PRAXIA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315200" y="27432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Practices    Adoption Gap    Thinking    About    Contact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69848" y="342900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strategy is ready.</a:t>
            </a:r>
            <a:endParaRPr lang="en-US" sz="34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organization isn’t.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1069848" y="475488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7C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Praxia is a human &amp; AI transformation advisory. We close the Adoption Gap — turning strategy, AI and change into behavior your organization actually lives.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69848" y="5623560"/>
            <a:ext cx="2286000" cy="384048"/>
          </a:xfrm>
          <a:prstGeom prst="roundRect">
            <a:avLst>
              <a:gd name="adj" fmla="val 11905"/>
            </a:avLst>
          </a:prstGeom>
          <a:solidFill>
            <a:srgbClr val="4231D4"/>
          </a:solidFill>
          <a:ln/>
        </p:spPr>
      </p:sp>
      <p:sp>
        <p:nvSpPr>
          <p:cNvPr id="16" name="Text 14"/>
          <p:cNvSpPr/>
          <p:nvPr/>
        </p:nvSpPr>
        <p:spPr>
          <a:xfrm>
            <a:off x="1069848" y="56235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your Adoption Gap →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354312" y="3136392"/>
            <a:ext cx="2048256" cy="2048256"/>
          </a:xfrm>
          <a:prstGeom prst="donut">
            <a:avLst/>
          </a:prstGeom>
          <a:solidFill>
            <a:srgbClr val="9B8FF2">
              <a:alpha val="86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0091684" y="3136392"/>
            <a:ext cx="2048256" cy="2048256"/>
          </a:xfrm>
          <a:prstGeom prst="donut">
            <a:avLst/>
          </a:prstGeom>
          <a:solidFill>
            <a:srgbClr val="E5895F">
              <a:alpha val="86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PRAXIA</a:t>
            </a:r>
            <a:pPr algn="l" indent="0" marL="0">
              <a:buNone/>
            </a:pPr>
            <a:r>
              <a:rPr lang="en-US" sz="80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Estrategia y Plataforma de Marca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8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423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DE APLICACIÓN — LINKEDIN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151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Perfil de empresa y perfil ejecutivo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9525">
            <a:solidFill>
              <a:srgbClr val="D9D3C6"/>
            </a:solidFill>
            <a:prstDash val="solid"/>
          </a:ln>
          <a:effectLst>
            <a:outerShdw sx="100000" sy="100000" kx="0" ky="0" algn="bl" rotWithShape="0" blurRad="88900" dist="25400" dir="5400000">
              <a:srgbClr val="9A9488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011680"/>
            <a:ext cx="4892040" cy="914400"/>
          </a:xfrm>
          <a:prstGeom prst="rect">
            <a:avLst/>
          </a:prstGeom>
          <a:solidFill>
            <a:srgbClr val="15161B"/>
          </a:solidFill>
          <a:ln/>
        </p:spPr>
      </p:sp>
      <p:sp>
        <p:nvSpPr>
          <p:cNvPr id="7" name="Text 5"/>
          <p:cNvSpPr/>
          <p:nvPr/>
        </p:nvSpPr>
        <p:spPr>
          <a:xfrm>
            <a:off x="1024128" y="2240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PRAXIA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78408" y="3063240"/>
            <a:ext cx="777240" cy="777240"/>
          </a:xfrm>
          <a:prstGeom prst="ellipse">
            <a:avLst/>
          </a:prstGeom>
          <a:solidFill>
            <a:srgbClr val="4231D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8408" y="30632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22960" y="3931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1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Praxia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42976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F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&amp; AI Transformation Advisory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22960" y="4645152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5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turn strategy into adoption — engineering how organizations absorb AI and change through their people. Not decks. Behavior.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5577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Consulting · Global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36208" y="178308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9525">
            <a:solidFill>
              <a:srgbClr val="D9D3C6"/>
            </a:solidFill>
            <a:prstDash val="solid"/>
          </a:ln>
          <a:effectLst>
            <a:outerShdw sx="100000" sy="100000" kx="0" ky="0" algn="bl" rotWithShape="0" blurRad="88900" dist="25400" dir="5400000">
              <a:srgbClr val="9A9488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92240" y="2011680"/>
            <a:ext cx="4892040" cy="914400"/>
          </a:xfrm>
          <a:prstGeom prst="rect">
            <a:avLst/>
          </a:prstGeom>
          <a:solidFill>
            <a:srgbClr val="20222C"/>
          </a:solidFill>
          <a:ln/>
        </p:spPr>
      </p:sp>
      <p:sp>
        <p:nvSpPr>
          <p:cNvPr id="16" name="Shape 14"/>
          <p:cNvSpPr/>
          <p:nvPr/>
        </p:nvSpPr>
        <p:spPr>
          <a:xfrm>
            <a:off x="6629400" y="3063240"/>
            <a:ext cx="777240" cy="777240"/>
          </a:xfrm>
          <a:prstGeom prst="ellipse">
            <a:avLst/>
          </a:prstGeom>
          <a:solidFill>
            <a:srgbClr val="C9552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29400" y="30632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FC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492240" y="391363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1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Francisco Cardona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92240" y="429768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3F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Principal, Praxia · I help CEOs and CHROs close the Adoption Gap between AI strategy and what their people actually do.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92240" y="5138928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i="1" dirty="0">
                <a:solidFill>
                  <a:srgbClr val="C95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 don’t sell decks. I make sure the change happens — and I hold myself to the result.”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492240" y="56509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&amp; AI Transformation · Change &amp; Adoption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PRAXIA</a:t>
            </a:r>
            <a:pPr algn="l" indent="0" marL="0">
              <a:buNone/>
            </a:pPr>
            <a:r>
              <a:rPr lang="en-US" sz="80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Estrategia y Plataforma de Marca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8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423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DE APLICACIÓN — PORTADA DE PRESENTACIÓN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151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Plantilla de propuesta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11057839" cy="4297680"/>
          </a:xfrm>
          <a:prstGeom prst="roundRect">
            <a:avLst>
              <a:gd name="adj" fmla="val 1277"/>
            </a:avLst>
          </a:prstGeom>
          <a:solidFill>
            <a:srgbClr val="15161B"/>
          </a:solidFill>
          <a:ln w="9525">
            <a:solidFill>
              <a:srgbClr val="D9D3C6"/>
            </a:solidFill>
            <a:prstDash val="solid"/>
          </a:ln>
          <a:effectLst>
            <a:outerShdw sx="100000" sy="100000" kx="0" ky="0" algn="bl" rotWithShape="0" blurRad="88900" dist="25400" dir="5400000">
              <a:srgbClr val="9A9488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0" y="2377440"/>
            <a:ext cx="3108960" cy="3108960"/>
          </a:xfrm>
          <a:prstGeom prst="donut">
            <a:avLst/>
          </a:prstGeom>
          <a:solidFill>
            <a:srgbClr val="9B8FF2">
              <a:alpha val="9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348826" y="2377440"/>
            <a:ext cx="3108960" cy="3108960"/>
          </a:xfrm>
          <a:prstGeom prst="donut">
            <a:avLst/>
          </a:prstGeom>
          <a:solidFill>
            <a:srgbClr val="E5895F">
              <a:alpha val="92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115568" y="22860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PRAXIA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133856" y="28803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B8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 ·  [CLIENT]  ·  CONFIDENTIAL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15568" y="35661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Closing the Adoption Gap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1133856" y="45720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C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human &amp; AI transformation proposal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33856" y="5532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Adoption System™   ·   Sense · Align · Adopt · Sustain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PRAXIA</a:t>
            </a:r>
            <a:pPr algn="l" indent="0" marL="0">
              <a:buNone/>
            </a:pPr>
            <a:r>
              <a:rPr lang="en-US" sz="80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Estrategia y Plataforma de Marca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8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423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IMPLEMENTACIÓN DE MARCA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900" b="1" dirty="0">
                <a:solidFill>
                  <a:srgbClr val="151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primeros 90 días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1874520"/>
            <a:ext cx="3566160" cy="416052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9525">
            <a:solidFill>
              <a:srgbClr val="D9D3C6"/>
            </a:solidFill>
            <a:prstDash val="solid"/>
          </a:ln>
          <a:effectLst>
            <a:outerShdw sx="100000" sy="100000" kx="0" ky="0" algn="bl" rotWithShape="0" blurRad="88900" dist="25400" dir="5400000">
              <a:srgbClr val="9A9488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0574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231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801368" y="212140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1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Días 0–30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801368" y="243230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423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FUNDACIÓN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41248" y="2971800"/>
            <a:ext cx="3108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65100" indent="-1651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F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Praxia: marca (Clase 35), dominio, redes</a:t>
            </a:r>
            <a:endParaRPr lang="en-US" sz="1100" dirty="0"/>
          </a:p>
          <a:p>
            <a:pPr marL="165100" indent="-1651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F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de posicionamiento, mensajes y arquitectura</a:t>
            </a:r>
            <a:endParaRPr lang="en-US" sz="1100" dirty="0"/>
          </a:p>
          <a:p>
            <a:pPr marL="165100" indent="-1651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F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logo + sistema de identidad v1</a:t>
            </a:r>
            <a:endParaRPr lang="en-US" sz="1100" dirty="0"/>
          </a:p>
          <a:p>
            <a:pPr marL="165100" indent="-1651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F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guidelines v1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42816" y="1874520"/>
            <a:ext cx="3566160" cy="416052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9525">
            <a:solidFill>
              <a:srgbClr val="D9D3C6"/>
            </a:solidFill>
            <a:prstDash val="solid"/>
          </a:ln>
          <a:effectLst>
            <a:outerShdw sx="100000" sy="100000" kx="0" ky="0" algn="bl" rotWithShape="0" blurRad="88900" dist="25400" dir="5400000">
              <a:srgbClr val="9A9488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498848" y="20574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5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477256" y="212140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1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Días 31–60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77256" y="243230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C95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17136" y="2971800"/>
            <a:ext cx="3108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65100" indent="-1651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F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Sitio web (one-pager → completo)</a:t>
            </a:r>
            <a:endParaRPr lang="en-US" sz="1100" dirty="0"/>
          </a:p>
          <a:p>
            <a:pPr marL="165100" indent="-1651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F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de empresa + perfil ejecutivo de Francisco</a:t>
            </a:r>
            <a:endParaRPr lang="en-US" sz="1100" dirty="0"/>
          </a:p>
          <a:p>
            <a:pPr marL="165100" indent="-1651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F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deck + plantillas (propuestas, docs)</a:t>
            </a:r>
            <a:endParaRPr lang="en-US" sz="1100" dirty="0"/>
          </a:p>
          <a:p>
            <a:pPr marL="165100" indent="-1651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F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Lanzar el POV “The Adoption Gap” + teaser del AGI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918704" y="1874520"/>
            <a:ext cx="3566160" cy="416052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9525">
            <a:solidFill>
              <a:srgbClr val="D9D3C6"/>
            </a:solidFill>
            <a:prstDash val="solid"/>
          </a:ln>
          <a:effectLst>
            <a:outerShdw sx="100000" sy="100000" kx="0" ky="0" algn="bl" rotWithShape="0" blurRad="88900" dist="25400" dir="5400000">
              <a:srgbClr val="9A9488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174736" y="20574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E9B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9153144" y="212140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1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Días 61–90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53144" y="243230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7E9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193024" y="2971800"/>
            <a:ext cx="3108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65100" indent="-1651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F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 el reporte insignia + cadencia de contenidos</a:t>
            </a:r>
            <a:endParaRPr lang="en-US" sz="1100" dirty="0"/>
          </a:p>
          <a:p>
            <a:pPr marL="165100" indent="-1651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F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a 20–30 cuentas (scale-ups + MNC)</a:t>
            </a:r>
            <a:endParaRPr lang="en-US" sz="1100" dirty="0"/>
          </a:p>
          <a:p>
            <a:pPr marL="165100" indent="-1651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F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 como producto de entrada (wedge)</a:t>
            </a:r>
            <a:endParaRPr lang="en-US" sz="1100" dirty="0"/>
          </a:p>
          <a:p>
            <a:pPr marL="165100" indent="-1651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F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+ medición + primeras reuniones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PRAXIA</a:t>
            </a:r>
            <a:pPr algn="l" indent="0" marL="0">
              <a:buNone/>
            </a:pPr>
            <a:r>
              <a:rPr lang="en-US" sz="80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Estrategia y Plataforma de Marca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8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61B"/>
          </a:solidFill>
          <a:ln/>
        </p:spPr>
      </p:sp>
      <p:sp>
        <p:nvSpPr>
          <p:cNvPr id="3" name="Shape 1"/>
          <p:cNvSpPr/>
          <p:nvPr/>
        </p:nvSpPr>
        <p:spPr>
          <a:xfrm>
            <a:off x="9025128" y="2944368"/>
            <a:ext cx="2340864" cy="2340864"/>
          </a:xfrm>
          <a:prstGeom prst="donut">
            <a:avLst/>
          </a:prstGeom>
          <a:solidFill>
            <a:srgbClr val="9B8FF2">
              <a:alpha val="9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867839" y="2944368"/>
            <a:ext cx="2340864" cy="2340864"/>
          </a:xfrm>
          <a:prstGeom prst="donut">
            <a:avLst/>
          </a:prstGeom>
          <a:solidFill>
            <a:srgbClr val="E5895F">
              <a:alpha val="9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6400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9B8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 REQUERIDA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66928" y="100584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decisión desbloquea todo lo demás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66928" y="26974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589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252728" y="27432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8D5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Aprobar Praxia como hero y disparar la validación legal/dominio (o elegir la variante Praxa).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66928" y="365760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589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252728" y="370332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8D5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la síntesis visual (Ruta 3 × 1) para arrancar el diseño de identidad.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66928" y="461772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589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252728" y="46634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8D5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 luz verde al plan de 90 días y a “The Adoption Gap” como primer activo de autoridad.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5715000"/>
            <a:ext cx="7772400" cy="0"/>
          </a:xfrm>
          <a:prstGeom prst="line">
            <a:avLst/>
          </a:prstGeom>
          <a:noFill/>
          <a:ln w="12700">
            <a:solidFill>
              <a:srgbClr val="2C2F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5897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Praxia.  </a:t>
            </a:r>
            <a:pPr indent="0" marL="0">
              <a:buNone/>
            </a:pPr>
            <a:r>
              <a:rPr lang="en-US" sz="1500" i="1" dirty="0">
                <a:solidFill>
                  <a:srgbClr val="9B8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 strategy into adoption.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PRAXIA</a:t>
            </a:r>
            <a:pPr algn="l" indent="0" marL="0">
              <a:buNone/>
            </a:pPr>
            <a:r>
              <a:rPr lang="en-US" sz="80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Recomendación final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8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423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 Y NOTAS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151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Evidencia y validación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5394960" cy="41148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9525">
            <a:solidFill>
              <a:srgbClr val="D9D3C6"/>
            </a:solidFill>
            <a:prstDash val="solid"/>
          </a:ln>
          <a:effectLst>
            <a:outerShdw sx="100000" sy="100000" kx="0" ky="0" algn="bl" rotWithShape="0" blurRad="88900" dist="25400" dir="5400000">
              <a:srgbClr val="9A9488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1248" y="2011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423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SEÑAL DE MERCADO 2026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41248" y="2331720"/>
            <a:ext cx="4892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65100" indent="-1651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F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BCG (2026) — AI Transformation Is a Workforce Transformation: 70% del valor en las personas; ~5% captura ganancias.</a:t>
            </a:r>
            <a:endParaRPr lang="en-US" sz="1050" dirty="0"/>
          </a:p>
          <a:p>
            <a:pPr marL="165100" indent="-1651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F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Deloitte (2026) — Global Human Capital Trends: enfoque tech-first 1.6× más probable de no obtener retorno.</a:t>
            </a:r>
            <a:endParaRPr lang="en-US" sz="1050" dirty="0"/>
          </a:p>
          <a:p>
            <a:pPr marL="165100" indent="-1651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F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Gartner / Evanta (2026) — CHRO Priorities: liderazgo, IA/HR tech y change management (top-3).</a:t>
            </a:r>
            <a:endParaRPr lang="en-US" sz="1050" dirty="0"/>
          </a:p>
          <a:p>
            <a:pPr marL="165100" indent="-1651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F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PwC (2026) — “Your technology is ready. Your organization isn’t.”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36208" y="1828800"/>
            <a:ext cx="5394960" cy="4114800"/>
          </a:xfrm>
          <a:prstGeom prst="roundRect">
            <a:avLst>
              <a:gd name="adj" fmla="val 1333"/>
            </a:avLst>
          </a:prstGeom>
          <a:solidFill>
            <a:srgbClr val="EAE5D9"/>
          </a:solidFill>
          <a:ln w="9525">
            <a:solidFill>
              <a:srgbClr val="D9D3C6"/>
            </a:solidFill>
            <a:prstDash val="solid"/>
          </a:ln>
          <a:effectLst>
            <a:outerShdw sx="100000" sy="100000" kx="0" ky="0" algn="bl" rotWithShape="0" blurRad="88900" dist="25400" dir="5400000">
              <a:srgbClr val="9A9488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10528" y="20116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C95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 DE VALIDACIÓN DE NAMING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510528" y="2331720"/>
            <a:ext cx="4892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65100" indent="-1651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F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afirma disponibilidad legal de ningún nombre.</a:t>
            </a:r>
            <a:endParaRPr lang="en-US" sz="1050" dirty="0"/>
          </a:p>
          <a:p>
            <a:pPr marL="165100" indent="-1651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F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Praxia (hero): validar marca Clase 35, dominio (praxia.com/.co) y handles; verificar usos menores.</a:t>
            </a:r>
            <a:endParaRPr lang="en-US" sz="1050" dirty="0"/>
          </a:p>
          <a:p>
            <a:pPr marL="165100" indent="-1651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F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Verto / Praxis / Axia / Cadence: saturados en consultoría —alto riesgo de confusión y marca.</a:t>
            </a:r>
            <a:endParaRPr lang="en-US" sz="1050" dirty="0"/>
          </a:p>
          <a:p>
            <a:pPr marL="165100" indent="-1651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F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 paso: búsqueda de marcas y disponibilidad de dominio antes de cualquier inversión de diseño.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PRAXIA</a:t>
            </a:r>
            <a:pPr algn="l" indent="0" marL="0">
              <a:buNone/>
            </a:pPr>
            <a:r>
              <a:rPr lang="en-US" sz="80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Estrategia y Plataforma de Marca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57</Slides>
  <Notes>57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2026-07-29T15:39:12Z</dcterms:created>
  <dcterms:modified xsi:type="dcterms:W3CDTF">2026-07-29T15:39:12Z</dcterms:modified>
</cp:coreProperties>
</file>